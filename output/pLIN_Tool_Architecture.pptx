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47A1"/>
        </a:solidFill>
        <a:effectLst/>
      </p:bgPr>
    </p:bg>
    <p:spTree>
      <p:nvGrpSpPr>
        <p:cNvPr id="1" name=""/>
        <p:cNvGrpSpPr/>
        <p:nvPr/>
      </p:nvGrpSpPr>
      <p:grpSpPr/>
      <p:sp>
        <p:nvSpPr>
          <p:cNvPr id="2" name="TextBox 1"/>
          <p:cNvSpPr txBox="1"/>
          <p:nvPr/>
        </p:nvSpPr>
        <p:spPr>
          <a:xfrm>
            <a:off x="731520" y="1371600"/>
            <a:ext cx="10515600" cy="914400"/>
          </a:xfrm>
          <a:prstGeom prst="rect">
            <a:avLst/>
          </a:prstGeom>
          <a:noFill/>
        </p:spPr>
        <p:txBody>
          <a:bodyPr wrap="square">
            <a:spAutoFit/>
          </a:bodyPr>
          <a:lstStyle/>
          <a:p>
            <a:pPr algn="l">
              <a:defRPr sz="4000" b="1">
                <a:solidFill>
                  <a:srgbClr val="FFFFFF"/>
                </a:solidFill>
                <a:latin typeface="Calibri"/>
              </a:defRPr>
            </a:pPr>
            <a:r>
              <a:t>pLIN — Plasmid Life Identification Number</a:t>
            </a:r>
          </a:p>
        </p:txBody>
      </p:sp>
      <p:sp>
        <p:nvSpPr>
          <p:cNvPr id="3" name="TextBox 2"/>
          <p:cNvSpPr txBox="1"/>
          <p:nvPr/>
        </p:nvSpPr>
        <p:spPr>
          <a:xfrm>
            <a:off x="731520" y="2377440"/>
            <a:ext cx="10515600" cy="731520"/>
          </a:xfrm>
          <a:prstGeom prst="rect">
            <a:avLst/>
          </a:prstGeom>
          <a:noFill/>
        </p:spPr>
        <p:txBody>
          <a:bodyPr wrap="square">
            <a:spAutoFit/>
          </a:bodyPr>
          <a:lstStyle/>
          <a:p>
            <a:pPr algn="l">
              <a:defRPr sz="2200" b="0">
                <a:solidFill>
                  <a:srgbClr val="BBDEFB"/>
                </a:solidFill>
                <a:latin typeface="Calibri"/>
              </a:defRPr>
            </a:pPr>
            <a:r>
              <a:t>A Hierarchical, Reference-Free Classification System</a:t>
            </a:r>
            <a:br/>
            <a:r>
              <a:t>for Bacterial Plasmid Genomes with AMR Surveillance</a:t>
            </a:r>
          </a:p>
        </p:txBody>
      </p:sp>
      <p:sp>
        <p:nvSpPr>
          <p:cNvPr id="4" name="Rounded Rectangle 3"/>
          <p:cNvSpPr/>
          <p:nvPr/>
        </p:nvSpPr>
        <p:spPr>
          <a:xfrm>
            <a:off x="731520" y="3657600"/>
            <a:ext cx="2011680" cy="1645920"/>
          </a:xfrm>
          <a:prstGeom prst="roundRect">
            <a:avLst/>
          </a:prstGeom>
          <a:solidFill>
            <a:srgbClr val="0A2F6E"/>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0"/>
            <a:ext cx="2011680" cy="640080"/>
          </a:xfrm>
          <a:prstGeom prst="rect">
            <a:avLst/>
          </a:prstGeom>
          <a:noFill/>
        </p:spPr>
        <p:txBody>
          <a:bodyPr wrap="square">
            <a:spAutoFit/>
          </a:bodyPr>
          <a:lstStyle/>
          <a:p>
            <a:pPr algn="ctr">
              <a:defRPr sz="3600" b="1">
                <a:solidFill>
                  <a:srgbClr val="FFFFFF"/>
                </a:solidFill>
                <a:latin typeface="Calibri"/>
              </a:defRPr>
            </a:pPr>
            <a:r>
              <a:t>6,998</a:t>
            </a:r>
          </a:p>
        </p:txBody>
      </p:sp>
      <p:sp>
        <p:nvSpPr>
          <p:cNvPr id="6" name="TextBox 5"/>
          <p:cNvSpPr txBox="1"/>
          <p:nvPr/>
        </p:nvSpPr>
        <p:spPr>
          <a:xfrm>
            <a:off x="731520" y="4480560"/>
            <a:ext cx="2011680" cy="640080"/>
          </a:xfrm>
          <a:prstGeom prst="rect">
            <a:avLst/>
          </a:prstGeom>
          <a:noFill/>
        </p:spPr>
        <p:txBody>
          <a:bodyPr wrap="square">
            <a:spAutoFit/>
          </a:bodyPr>
          <a:lstStyle/>
          <a:p>
            <a:pPr algn="ctr">
              <a:defRPr sz="1400" b="0">
                <a:solidFill>
                  <a:srgbClr val="BBDEFB"/>
                </a:solidFill>
                <a:latin typeface="Calibri"/>
              </a:defRPr>
            </a:pPr>
            <a:r>
              <a:t>Training</a:t>
            </a:r>
            <a:br/>
            <a:r>
              <a:t>Plasmids</a:t>
            </a:r>
          </a:p>
        </p:txBody>
      </p:sp>
      <p:sp>
        <p:nvSpPr>
          <p:cNvPr id="7" name="Rounded Rectangle 6"/>
          <p:cNvSpPr/>
          <p:nvPr/>
        </p:nvSpPr>
        <p:spPr>
          <a:xfrm>
            <a:off x="3017520" y="3657600"/>
            <a:ext cx="2011680" cy="1645920"/>
          </a:xfrm>
          <a:prstGeom prst="roundRect">
            <a:avLst/>
          </a:prstGeom>
          <a:solidFill>
            <a:srgbClr val="0A2F6E"/>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3840480"/>
            <a:ext cx="2011680" cy="640080"/>
          </a:xfrm>
          <a:prstGeom prst="rect">
            <a:avLst/>
          </a:prstGeom>
          <a:noFill/>
        </p:spPr>
        <p:txBody>
          <a:bodyPr wrap="square">
            <a:spAutoFit/>
          </a:bodyPr>
          <a:lstStyle/>
          <a:p>
            <a:pPr algn="ctr">
              <a:defRPr sz="3600" b="1">
                <a:solidFill>
                  <a:srgbClr val="FFFFFF"/>
                </a:solidFill>
                <a:latin typeface="Calibri"/>
              </a:defRPr>
            </a:pPr>
            <a:r>
              <a:t>20</a:t>
            </a:r>
          </a:p>
        </p:txBody>
      </p:sp>
      <p:sp>
        <p:nvSpPr>
          <p:cNvPr id="9" name="TextBox 8"/>
          <p:cNvSpPr txBox="1"/>
          <p:nvPr/>
        </p:nvSpPr>
        <p:spPr>
          <a:xfrm>
            <a:off x="3017520" y="4480560"/>
            <a:ext cx="2011680" cy="640080"/>
          </a:xfrm>
          <a:prstGeom prst="rect">
            <a:avLst/>
          </a:prstGeom>
          <a:noFill/>
        </p:spPr>
        <p:txBody>
          <a:bodyPr wrap="square">
            <a:spAutoFit/>
          </a:bodyPr>
          <a:lstStyle/>
          <a:p>
            <a:pPr algn="ctr">
              <a:defRPr sz="1400" b="0">
                <a:solidFill>
                  <a:srgbClr val="BBDEFB"/>
                </a:solidFill>
                <a:latin typeface="Calibri"/>
              </a:defRPr>
            </a:pPr>
            <a:r>
              <a:t>Inc Groups</a:t>
            </a:r>
            <a:br/>
            <a:r>
              <a:t>(20 families)</a:t>
            </a:r>
          </a:p>
        </p:txBody>
      </p:sp>
      <p:sp>
        <p:nvSpPr>
          <p:cNvPr id="10" name="Rounded Rectangle 9"/>
          <p:cNvSpPr/>
          <p:nvPr/>
        </p:nvSpPr>
        <p:spPr>
          <a:xfrm>
            <a:off x="5303520" y="3657600"/>
            <a:ext cx="2011680" cy="1645920"/>
          </a:xfrm>
          <a:prstGeom prst="roundRect">
            <a:avLst/>
          </a:prstGeom>
          <a:solidFill>
            <a:srgbClr val="0A2F6E"/>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3840480"/>
            <a:ext cx="2011680" cy="640080"/>
          </a:xfrm>
          <a:prstGeom prst="rect">
            <a:avLst/>
          </a:prstGeom>
          <a:noFill/>
        </p:spPr>
        <p:txBody>
          <a:bodyPr wrap="square">
            <a:spAutoFit/>
          </a:bodyPr>
          <a:lstStyle/>
          <a:p>
            <a:pPr algn="ctr">
              <a:defRPr sz="3600" b="1">
                <a:solidFill>
                  <a:srgbClr val="FFFFFF"/>
                </a:solidFill>
                <a:latin typeface="Calibri"/>
              </a:defRPr>
            </a:pPr>
            <a:r>
              <a:t>2,232</a:t>
            </a:r>
          </a:p>
        </p:txBody>
      </p:sp>
      <p:sp>
        <p:nvSpPr>
          <p:cNvPr id="12" name="TextBox 11"/>
          <p:cNvSpPr txBox="1"/>
          <p:nvPr/>
        </p:nvSpPr>
        <p:spPr>
          <a:xfrm>
            <a:off x="5303520" y="4480560"/>
            <a:ext cx="2011680" cy="640080"/>
          </a:xfrm>
          <a:prstGeom prst="rect">
            <a:avLst/>
          </a:prstGeom>
          <a:noFill/>
        </p:spPr>
        <p:txBody>
          <a:bodyPr wrap="square">
            <a:spAutoFit/>
          </a:bodyPr>
          <a:lstStyle/>
          <a:p>
            <a:pPr algn="ctr">
              <a:defRPr sz="1400" b="0">
                <a:solidFill>
                  <a:srgbClr val="BBDEFB"/>
                </a:solidFill>
                <a:latin typeface="Calibri"/>
              </a:defRPr>
            </a:pPr>
            <a:r>
              <a:t>Unique pLIN</a:t>
            </a:r>
            <a:br/>
            <a:r>
              <a:t>Codes</a:t>
            </a:r>
          </a:p>
        </p:txBody>
      </p:sp>
      <p:sp>
        <p:nvSpPr>
          <p:cNvPr id="13" name="Rounded Rectangle 12"/>
          <p:cNvSpPr/>
          <p:nvPr/>
        </p:nvSpPr>
        <p:spPr>
          <a:xfrm>
            <a:off x="7589520" y="3657600"/>
            <a:ext cx="2011680" cy="1645920"/>
          </a:xfrm>
          <a:prstGeom prst="roundRect">
            <a:avLst/>
          </a:prstGeom>
          <a:solidFill>
            <a:srgbClr val="0A2F6E"/>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840480"/>
            <a:ext cx="2011680" cy="640080"/>
          </a:xfrm>
          <a:prstGeom prst="rect">
            <a:avLst/>
          </a:prstGeom>
          <a:noFill/>
        </p:spPr>
        <p:txBody>
          <a:bodyPr wrap="square">
            <a:spAutoFit/>
          </a:bodyPr>
          <a:lstStyle/>
          <a:p>
            <a:pPr algn="ctr">
              <a:defRPr sz="3600" b="1">
                <a:solidFill>
                  <a:srgbClr val="FFFFFF"/>
                </a:solidFill>
                <a:latin typeface="Calibri"/>
              </a:defRPr>
            </a:pPr>
            <a:r>
              <a:t>92.2%</a:t>
            </a:r>
          </a:p>
        </p:txBody>
      </p:sp>
      <p:sp>
        <p:nvSpPr>
          <p:cNvPr id="15" name="TextBox 14"/>
          <p:cNvSpPr txBox="1"/>
          <p:nvPr/>
        </p:nvSpPr>
        <p:spPr>
          <a:xfrm>
            <a:off x="7589520" y="4480560"/>
            <a:ext cx="2011680" cy="640080"/>
          </a:xfrm>
          <a:prstGeom prst="rect">
            <a:avLst/>
          </a:prstGeom>
          <a:noFill/>
        </p:spPr>
        <p:txBody>
          <a:bodyPr wrap="square">
            <a:spAutoFit/>
          </a:bodyPr>
          <a:lstStyle/>
          <a:p>
            <a:pPr algn="ctr">
              <a:defRPr sz="1400" b="0">
                <a:solidFill>
                  <a:srgbClr val="BBDEFB"/>
                </a:solidFill>
                <a:latin typeface="Calibri"/>
              </a:defRPr>
            </a:pPr>
            <a:r>
              <a:t>Inc Detection</a:t>
            </a:r>
            <a:br/>
            <a:r>
              <a:t>Accuracy</a:t>
            </a:r>
          </a:p>
        </p:txBody>
      </p:sp>
      <p:sp>
        <p:nvSpPr>
          <p:cNvPr id="16" name="Rounded Rectangle 15"/>
          <p:cNvSpPr/>
          <p:nvPr/>
        </p:nvSpPr>
        <p:spPr>
          <a:xfrm>
            <a:off x="9875520" y="3657600"/>
            <a:ext cx="2011680" cy="1645920"/>
          </a:xfrm>
          <a:prstGeom prst="roundRect">
            <a:avLst/>
          </a:prstGeom>
          <a:solidFill>
            <a:srgbClr val="0A2F6E"/>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0" y="3840480"/>
            <a:ext cx="2011680" cy="640080"/>
          </a:xfrm>
          <a:prstGeom prst="rect">
            <a:avLst/>
          </a:prstGeom>
          <a:noFill/>
        </p:spPr>
        <p:txBody>
          <a:bodyPr wrap="square">
            <a:spAutoFit/>
          </a:bodyPr>
          <a:lstStyle/>
          <a:p>
            <a:pPr algn="ctr">
              <a:defRPr sz="3600" b="1">
                <a:solidFill>
                  <a:srgbClr val="FFFFFF"/>
                </a:solidFill>
                <a:latin typeface="Calibri"/>
              </a:defRPr>
            </a:pPr>
            <a:r>
              <a:t>27,465</a:t>
            </a:r>
          </a:p>
        </p:txBody>
      </p:sp>
      <p:sp>
        <p:nvSpPr>
          <p:cNvPr id="18" name="TextBox 17"/>
          <p:cNvSpPr txBox="1"/>
          <p:nvPr/>
        </p:nvSpPr>
        <p:spPr>
          <a:xfrm>
            <a:off x="9875520" y="4480560"/>
            <a:ext cx="2011680" cy="640080"/>
          </a:xfrm>
          <a:prstGeom prst="rect">
            <a:avLst/>
          </a:prstGeom>
          <a:noFill/>
        </p:spPr>
        <p:txBody>
          <a:bodyPr wrap="square">
            <a:spAutoFit/>
          </a:bodyPr>
          <a:lstStyle/>
          <a:p>
            <a:pPr algn="ctr">
              <a:defRPr sz="1400" b="0">
                <a:solidFill>
                  <a:srgbClr val="BBDEFB"/>
                </a:solidFill>
                <a:latin typeface="Calibri"/>
              </a:defRPr>
            </a:pPr>
            <a:r>
              <a:t>AMR Gene</a:t>
            </a:r>
            <a:br/>
            <a:r>
              <a:t>Detections</a:t>
            </a:r>
          </a:p>
        </p:txBody>
      </p:sp>
      <p:sp>
        <p:nvSpPr>
          <p:cNvPr id="19" name="TextBox 18"/>
          <p:cNvSpPr txBox="1"/>
          <p:nvPr/>
        </p:nvSpPr>
        <p:spPr>
          <a:xfrm>
            <a:off x="731520" y="5943600"/>
            <a:ext cx="10515600" cy="457200"/>
          </a:xfrm>
          <a:prstGeom prst="rect">
            <a:avLst/>
          </a:prstGeom>
          <a:noFill/>
        </p:spPr>
        <p:txBody>
          <a:bodyPr wrap="square">
            <a:spAutoFit/>
          </a:bodyPr>
          <a:lstStyle/>
          <a:p>
            <a:pPr algn="l">
              <a:defRPr sz="1400" b="0">
                <a:solidFill>
                  <a:srgbClr val="757575"/>
                </a:solidFill>
                <a:latin typeface="Calibri"/>
              </a:defRPr>
            </a:pPr>
            <a:r>
              <a:t>Tool Architecture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System Architecture</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End-to-end pipeline from FASTA input to classified plasmids + AMR profile</a:t>
            </a:r>
          </a:p>
        </p:txBody>
      </p:sp>
      <p:sp>
        <p:nvSpPr>
          <p:cNvPr id="5" name="Rounded Rectangle 4"/>
          <p:cNvSpPr/>
          <p:nvPr/>
        </p:nvSpPr>
        <p:spPr>
          <a:xfrm>
            <a:off x="365760" y="1463040"/>
            <a:ext cx="2194560" cy="1280160"/>
          </a:xfrm>
          <a:prstGeom prst="roundRect">
            <a:avLst/>
          </a:prstGeom>
          <a:solidFill>
            <a:srgbClr val="BBDEFB"/>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2011680" cy="365760"/>
          </a:xfrm>
          <a:prstGeom prst="rect">
            <a:avLst/>
          </a:prstGeom>
          <a:noFill/>
        </p:spPr>
        <p:txBody>
          <a:bodyPr wrap="square">
            <a:spAutoFit/>
          </a:bodyPr>
          <a:lstStyle/>
          <a:p>
            <a:pPr algn="ctr">
              <a:defRPr sz="1400" b="1">
                <a:solidFill>
                  <a:srgbClr val="0D47A1"/>
                </a:solidFill>
                <a:latin typeface="Calibri"/>
              </a:defRPr>
            </a:pPr>
            <a:r>
              <a:t>INPUT</a:t>
            </a:r>
          </a:p>
        </p:txBody>
      </p:sp>
      <p:sp>
        <p:nvSpPr>
          <p:cNvPr id="7" name="TextBox 6"/>
          <p:cNvSpPr txBox="1"/>
          <p:nvPr/>
        </p:nvSpPr>
        <p:spPr>
          <a:xfrm>
            <a:off x="457200" y="1920240"/>
            <a:ext cx="2011680" cy="731520"/>
          </a:xfrm>
          <a:prstGeom prst="rect">
            <a:avLst/>
          </a:prstGeom>
          <a:noFill/>
        </p:spPr>
        <p:txBody>
          <a:bodyPr wrap="square">
            <a:spAutoFit/>
          </a:bodyPr>
          <a:lstStyle/>
          <a:p>
            <a:pPr>
              <a:spcAft>
                <a:spcPts val="200"/>
              </a:spcAft>
              <a:defRPr sz="1200">
                <a:solidFill>
                  <a:srgbClr val="333333"/>
                </a:solidFill>
                <a:latin typeface="Calibri"/>
              </a:defRPr>
            </a:pPr>
            <a:r>
              <a:t>Plasmid FASTA files</a:t>
            </a:r>
          </a:p>
          <a:p>
            <a:pPr>
              <a:spcAft>
                <a:spcPts val="200"/>
              </a:spcAft>
              <a:defRPr sz="1200">
                <a:solidFill>
                  <a:srgbClr val="333333"/>
                </a:solidFill>
                <a:latin typeface="Calibri"/>
              </a:defRPr>
            </a:pPr>
            <a:r>
              <a:t>(.fasta, .fa, .fna)</a:t>
            </a:r>
          </a:p>
        </p:txBody>
      </p:sp>
      <p:sp>
        <p:nvSpPr>
          <p:cNvPr id="8" name="Right Arrow 7"/>
          <p:cNvSpPr/>
          <p:nvPr/>
        </p:nvSpPr>
        <p:spPr>
          <a:xfrm>
            <a:off x="2697480" y="182880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1463040"/>
            <a:ext cx="2377440" cy="1280160"/>
          </a:xfrm>
          <a:prstGeom prst="roundRect">
            <a:avLst/>
          </a:prstGeom>
          <a:solidFill>
            <a:srgbClr val="FFF3E0"/>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554480"/>
            <a:ext cx="2194560" cy="365760"/>
          </a:xfrm>
          <a:prstGeom prst="rect">
            <a:avLst/>
          </a:prstGeom>
          <a:noFill/>
        </p:spPr>
        <p:txBody>
          <a:bodyPr wrap="square">
            <a:spAutoFit/>
          </a:bodyPr>
          <a:lstStyle/>
          <a:p>
            <a:pPr algn="ctr">
              <a:defRPr sz="1200" b="1">
                <a:solidFill>
                  <a:srgbClr val="FB8C00"/>
                </a:solidFill>
                <a:latin typeface="Calibri"/>
              </a:defRPr>
            </a:pPr>
            <a:r>
              <a:t>INC GROUP DETECTION</a:t>
            </a:r>
          </a:p>
        </p:txBody>
      </p:sp>
      <p:sp>
        <p:nvSpPr>
          <p:cNvPr id="11" name="TextBox 10"/>
          <p:cNvSpPr txBox="1"/>
          <p:nvPr/>
        </p:nvSpPr>
        <p:spPr>
          <a:xfrm>
            <a:off x="3474720" y="1920240"/>
            <a:ext cx="2194560" cy="731520"/>
          </a:xfrm>
          <a:prstGeom prst="rect">
            <a:avLst/>
          </a:prstGeom>
          <a:noFill/>
        </p:spPr>
        <p:txBody>
          <a:bodyPr wrap="square">
            <a:spAutoFit/>
          </a:bodyPr>
          <a:lstStyle/>
          <a:p>
            <a:pPr>
              <a:spcAft>
                <a:spcPts val="200"/>
              </a:spcAft>
              <a:defRPr sz="1100">
                <a:solidFill>
                  <a:srgbClr val="333333"/>
                </a:solidFill>
                <a:latin typeface="Calibri"/>
              </a:defRPr>
            </a:pPr>
            <a:r>
              <a:t>KNN Classifier (k=5)</a:t>
            </a:r>
          </a:p>
          <a:p>
            <a:pPr>
              <a:spcAft>
                <a:spcPts val="200"/>
              </a:spcAft>
              <a:defRPr sz="1100">
                <a:solidFill>
                  <a:srgbClr val="333333"/>
                </a:solidFill>
                <a:latin typeface="Calibri"/>
              </a:defRPr>
            </a:pPr>
            <a:r>
              <a:t>Cosine distance on 4-mers</a:t>
            </a:r>
          </a:p>
          <a:p>
            <a:pPr>
              <a:spcAft>
                <a:spcPts val="200"/>
              </a:spcAft>
              <a:defRPr sz="1100">
                <a:solidFill>
                  <a:srgbClr val="333333"/>
                </a:solidFill>
                <a:latin typeface="Calibri"/>
              </a:defRPr>
            </a:pPr>
            <a:r>
              <a:t>Trained on 6,998 plasmids</a:t>
            </a:r>
          </a:p>
        </p:txBody>
      </p:sp>
      <p:sp>
        <p:nvSpPr>
          <p:cNvPr id="12" name="Right Arrow 11"/>
          <p:cNvSpPr/>
          <p:nvPr/>
        </p:nvSpPr>
        <p:spPr>
          <a:xfrm>
            <a:off x="5897880" y="182880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1463040"/>
            <a:ext cx="2560320" cy="1280160"/>
          </a:xfrm>
          <a:prstGeom prst="roundRect">
            <a:avLst/>
          </a:prstGeom>
          <a:solidFill>
            <a:srgbClr val="E8F5E9"/>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554480"/>
            <a:ext cx="2377440" cy="365760"/>
          </a:xfrm>
          <a:prstGeom prst="rect">
            <a:avLst/>
          </a:prstGeom>
          <a:noFill/>
        </p:spPr>
        <p:txBody>
          <a:bodyPr wrap="square">
            <a:spAutoFit/>
          </a:bodyPr>
          <a:lstStyle/>
          <a:p>
            <a:pPr algn="ctr">
              <a:defRPr sz="1200" b="1">
                <a:solidFill>
                  <a:srgbClr val="43A047"/>
                </a:solidFill>
                <a:latin typeface="Calibri"/>
              </a:defRPr>
            </a:pPr>
            <a:r>
              <a:t>pLIN ASSIGNMENT</a:t>
            </a:r>
          </a:p>
        </p:txBody>
      </p:sp>
      <p:sp>
        <p:nvSpPr>
          <p:cNvPr id="15" name="TextBox 14"/>
          <p:cNvSpPr txBox="1"/>
          <p:nvPr/>
        </p:nvSpPr>
        <p:spPr>
          <a:xfrm>
            <a:off x="6675120" y="1920240"/>
            <a:ext cx="2377440" cy="731520"/>
          </a:xfrm>
          <a:prstGeom prst="rect">
            <a:avLst/>
          </a:prstGeom>
          <a:noFill/>
        </p:spPr>
        <p:txBody>
          <a:bodyPr wrap="square">
            <a:spAutoFit/>
          </a:bodyPr>
          <a:lstStyle/>
          <a:p>
            <a:pPr>
              <a:spcAft>
                <a:spcPts val="200"/>
              </a:spcAft>
              <a:defRPr sz="1100">
                <a:solidFill>
                  <a:srgbClr val="333333"/>
                </a:solidFill>
                <a:latin typeface="Calibri"/>
              </a:defRPr>
            </a:pPr>
            <a:r>
              <a:t>4-mer frequency vectors (256D)</a:t>
            </a:r>
          </a:p>
          <a:p>
            <a:pPr>
              <a:spcAft>
                <a:spcPts val="200"/>
              </a:spcAft>
              <a:defRPr sz="1100">
                <a:solidFill>
                  <a:srgbClr val="333333"/>
                </a:solidFill>
                <a:latin typeface="Calibri"/>
              </a:defRPr>
            </a:pPr>
            <a:r>
              <a:t>Cosine distance matrix</a:t>
            </a:r>
          </a:p>
          <a:p>
            <a:pPr>
              <a:spcAft>
                <a:spcPts val="200"/>
              </a:spcAft>
              <a:defRPr sz="1100">
                <a:solidFill>
                  <a:srgbClr val="333333"/>
                </a:solidFill>
                <a:latin typeface="Calibri"/>
              </a:defRPr>
            </a:pPr>
            <a:r>
              <a:t>Single-linkage clustering</a:t>
            </a:r>
          </a:p>
          <a:p>
            <a:pPr>
              <a:spcAft>
                <a:spcPts val="200"/>
              </a:spcAft>
              <a:defRPr sz="1100">
                <a:solidFill>
                  <a:srgbClr val="333333"/>
                </a:solidFill>
                <a:latin typeface="Calibri"/>
              </a:defRPr>
            </a:pPr>
            <a:r>
              <a:t>6 threshold cuts → A.B.C.D.E.F</a:t>
            </a:r>
          </a:p>
        </p:txBody>
      </p:sp>
      <p:sp>
        <p:nvSpPr>
          <p:cNvPr id="16" name="Right Arrow 15"/>
          <p:cNvSpPr/>
          <p:nvPr/>
        </p:nvSpPr>
        <p:spPr>
          <a:xfrm>
            <a:off x="9281160" y="182880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66960" y="1463040"/>
            <a:ext cx="1920240" cy="1280160"/>
          </a:xfrm>
          <a:prstGeom prst="roundRect">
            <a:avLst/>
          </a:prstGeom>
          <a:solidFill>
            <a:srgbClr val="E3F2FD"/>
          </a:solidFill>
          <a:ln w="254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1554480"/>
            <a:ext cx="1737360" cy="365760"/>
          </a:xfrm>
          <a:prstGeom prst="rect">
            <a:avLst/>
          </a:prstGeom>
          <a:noFill/>
        </p:spPr>
        <p:txBody>
          <a:bodyPr wrap="square">
            <a:spAutoFit/>
          </a:bodyPr>
          <a:lstStyle/>
          <a:p>
            <a:pPr algn="ctr">
              <a:defRPr sz="1200" b="1">
                <a:solidFill>
                  <a:srgbClr val="0D47A1"/>
                </a:solidFill>
                <a:latin typeface="Calibri"/>
              </a:defRPr>
            </a:pPr>
            <a:r>
              <a:t>pLIN CODES</a:t>
            </a:r>
          </a:p>
        </p:txBody>
      </p:sp>
      <p:sp>
        <p:nvSpPr>
          <p:cNvPr id="19" name="TextBox 18"/>
          <p:cNvSpPr txBox="1"/>
          <p:nvPr/>
        </p:nvSpPr>
        <p:spPr>
          <a:xfrm>
            <a:off x="10058400" y="1920240"/>
            <a:ext cx="1737360" cy="731520"/>
          </a:xfrm>
          <a:prstGeom prst="rect">
            <a:avLst/>
          </a:prstGeom>
          <a:noFill/>
        </p:spPr>
        <p:txBody>
          <a:bodyPr wrap="square">
            <a:spAutoFit/>
          </a:bodyPr>
          <a:lstStyle/>
          <a:p>
            <a:pPr>
              <a:spcAft>
                <a:spcPts val="200"/>
              </a:spcAft>
              <a:defRPr sz="1100">
                <a:solidFill>
                  <a:srgbClr val="333333"/>
                </a:solidFill>
                <a:latin typeface="Calibri"/>
              </a:defRPr>
            </a:pPr>
            <a:r>
              <a:t>Hierarchical codes</a:t>
            </a:r>
          </a:p>
          <a:p>
            <a:pPr>
              <a:spcAft>
                <a:spcPts val="200"/>
              </a:spcAft>
              <a:defRPr sz="1100">
                <a:solidFill>
                  <a:srgbClr val="333333"/>
                </a:solidFill>
                <a:latin typeface="Calibri"/>
              </a:defRPr>
            </a:pPr>
            <a:r>
              <a:t>e.g. 1.1.1.1.2.5</a:t>
            </a:r>
          </a:p>
          <a:p>
            <a:pPr>
              <a:spcAft>
                <a:spcPts val="200"/>
              </a:spcAft>
              <a:defRPr sz="1100">
                <a:solidFill>
                  <a:srgbClr val="333333"/>
                </a:solidFill>
                <a:latin typeface="Calibri"/>
              </a:defRPr>
            </a:pPr>
            <a:r>
              <a:t>Permanent &amp; stable</a:t>
            </a:r>
          </a:p>
        </p:txBody>
      </p:sp>
      <p:sp>
        <p:nvSpPr>
          <p:cNvPr id="20" name="Rounded Rectangle 19"/>
          <p:cNvSpPr/>
          <p:nvPr/>
        </p:nvSpPr>
        <p:spPr>
          <a:xfrm>
            <a:off x="365760" y="3200400"/>
            <a:ext cx="2194560" cy="1280160"/>
          </a:xfrm>
          <a:prstGeom prst="roundRect">
            <a:avLst/>
          </a:prstGeom>
          <a:solidFill>
            <a:srgbClr val="FCE4EC"/>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91840"/>
            <a:ext cx="2011680" cy="365760"/>
          </a:xfrm>
          <a:prstGeom prst="rect">
            <a:avLst/>
          </a:prstGeom>
          <a:noFill/>
        </p:spPr>
        <p:txBody>
          <a:bodyPr wrap="square">
            <a:spAutoFit/>
          </a:bodyPr>
          <a:lstStyle/>
          <a:p>
            <a:pPr algn="ctr">
              <a:defRPr sz="1400" b="1">
                <a:solidFill>
                  <a:srgbClr val="E53935"/>
                </a:solidFill>
                <a:latin typeface="Calibri"/>
              </a:defRPr>
            </a:pPr>
            <a:r>
              <a:t>AMRFinderPlus</a:t>
            </a:r>
          </a:p>
        </p:txBody>
      </p:sp>
      <p:sp>
        <p:nvSpPr>
          <p:cNvPr id="22" name="TextBox 21"/>
          <p:cNvSpPr txBox="1"/>
          <p:nvPr/>
        </p:nvSpPr>
        <p:spPr>
          <a:xfrm>
            <a:off x="457200" y="3657600"/>
            <a:ext cx="2011680" cy="731520"/>
          </a:xfrm>
          <a:prstGeom prst="rect">
            <a:avLst/>
          </a:prstGeom>
          <a:noFill/>
        </p:spPr>
        <p:txBody>
          <a:bodyPr wrap="square">
            <a:spAutoFit/>
          </a:bodyPr>
          <a:lstStyle/>
          <a:p>
            <a:pPr>
              <a:spcAft>
                <a:spcPts val="200"/>
              </a:spcAft>
              <a:defRPr sz="1100">
                <a:solidFill>
                  <a:srgbClr val="333333"/>
                </a:solidFill>
                <a:latin typeface="Calibri"/>
              </a:defRPr>
            </a:pPr>
            <a:r>
              <a:t>NCBI AMR detection</a:t>
            </a:r>
          </a:p>
          <a:p>
            <a:pPr>
              <a:spcAft>
                <a:spcPts val="200"/>
              </a:spcAft>
              <a:defRPr sz="1100">
                <a:solidFill>
                  <a:srgbClr val="333333"/>
                </a:solidFill>
                <a:latin typeface="Calibri"/>
              </a:defRPr>
            </a:pPr>
            <a:r>
              <a:t>AMR + Stress + Virulence</a:t>
            </a:r>
          </a:p>
          <a:p>
            <a:pPr>
              <a:spcAft>
                <a:spcPts val="200"/>
              </a:spcAft>
              <a:defRPr sz="1100">
                <a:solidFill>
                  <a:srgbClr val="333333"/>
                </a:solidFill>
                <a:latin typeface="Calibri"/>
              </a:defRPr>
            </a:pPr>
            <a:r>
              <a:t>Per-contig gene calls</a:t>
            </a:r>
          </a:p>
        </p:txBody>
      </p:sp>
      <p:sp>
        <p:nvSpPr>
          <p:cNvPr id="23" name="Right Arrow 22"/>
          <p:cNvSpPr/>
          <p:nvPr/>
        </p:nvSpPr>
        <p:spPr>
          <a:xfrm>
            <a:off x="2697480" y="356616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83280" y="3200400"/>
            <a:ext cx="2377440" cy="1280160"/>
          </a:xfrm>
          <a:prstGeom prst="roundRect">
            <a:avLst/>
          </a:prstGeom>
          <a:solidFill>
            <a:srgbClr val="F3E5F5"/>
          </a:solidFill>
          <a:ln w="254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3291840"/>
            <a:ext cx="2194560" cy="365760"/>
          </a:xfrm>
          <a:prstGeom prst="rect">
            <a:avLst/>
          </a:prstGeom>
          <a:noFill/>
        </p:spPr>
        <p:txBody>
          <a:bodyPr wrap="square">
            <a:spAutoFit/>
          </a:bodyPr>
          <a:lstStyle/>
          <a:p>
            <a:pPr algn="ctr">
              <a:defRPr sz="1200" b="1">
                <a:solidFill>
                  <a:srgbClr val="8E24AA"/>
                </a:solidFill>
                <a:latin typeface="Calibri"/>
              </a:defRPr>
            </a:pPr>
            <a:r>
              <a:t>INTEGRATION</a:t>
            </a:r>
          </a:p>
        </p:txBody>
      </p:sp>
      <p:sp>
        <p:nvSpPr>
          <p:cNvPr id="26" name="TextBox 25"/>
          <p:cNvSpPr txBox="1"/>
          <p:nvPr/>
        </p:nvSpPr>
        <p:spPr>
          <a:xfrm>
            <a:off x="3474720" y="3657600"/>
            <a:ext cx="2194560" cy="731520"/>
          </a:xfrm>
          <a:prstGeom prst="rect">
            <a:avLst/>
          </a:prstGeom>
          <a:noFill/>
        </p:spPr>
        <p:txBody>
          <a:bodyPr wrap="square">
            <a:spAutoFit/>
          </a:bodyPr>
          <a:lstStyle/>
          <a:p>
            <a:pPr>
              <a:spcAft>
                <a:spcPts val="200"/>
              </a:spcAft>
              <a:defRPr sz="1100">
                <a:solidFill>
                  <a:srgbClr val="333333"/>
                </a:solidFill>
                <a:latin typeface="Calibri"/>
              </a:defRPr>
            </a:pPr>
            <a:r>
              <a:t>pLIN codes + AMR genes</a:t>
            </a:r>
          </a:p>
          <a:p>
            <a:pPr>
              <a:spcAft>
                <a:spcPts val="200"/>
              </a:spcAft>
              <a:defRPr sz="1100">
                <a:solidFill>
                  <a:srgbClr val="333333"/>
                </a:solidFill>
                <a:latin typeface="Calibri"/>
              </a:defRPr>
            </a:pPr>
            <a:r>
              <a:t>Per-plasmid AMR profile</a:t>
            </a:r>
          </a:p>
          <a:p>
            <a:pPr>
              <a:spcAft>
                <a:spcPts val="200"/>
              </a:spcAft>
              <a:defRPr sz="1100">
                <a:solidFill>
                  <a:srgbClr val="333333"/>
                </a:solidFill>
                <a:latin typeface="Calibri"/>
              </a:defRPr>
            </a:pPr>
            <a:r>
              <a:t>Lineage AMR summary</a:t>
            </a:r>
          </a:p>
        </p:txBody>
      </p:sp>
      <p:sp>
        <p:nvSpPr>
          <p:cNvPr id="27" name="Right Arrow 26"/>
          <p:cNvSpPr/>
          <p:nvPr/>
        </p:nvSpPr>
        <p:spPr>
          <a:xfrm>
            <a:off x="5897880" y="356616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83680" y="3200400"/>
            <a:ext cx="2560320" cy="1280160"/>
          </a:xfrm>
          <a:prstGeom prst="roundRect">
            <a:avLst/>
          </a:prstGeom>
          <a:solidFill>
            <a:srgbClr val="E0F7FA"/>
          </a:solidFill>
          <a:ln w="254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291840"/>
            <a:ext cx="2377440" cy="365760"/>
          </a:xfrm>
          <a:prstGeom prst="rect">
            <a:avLst/>
          </a:prstGeom>
          <a:noFill/>
        </p:spPr>
        <p:txBody>
          <a:bodyPr wrap="square">
            <a:spAutoFit/>
          </a:bodyPr>
          <a:lstStyle/>
          <a:p>
            <a:pPr algn="ctr">
              <a:defRPr sz="1200" b="1">
                <a:solidFill>
                  <a:srgbClr val="009688"/>
                </a:solidFill>
                <a:latin typeface="Calibri"/>
              </a:defRPr>
            </a:pPr>
            <a:r>
              <a:t>VISUALIZATION</a:t>
            </a:r>
          </a:p>
        </p:txBody>
      </p:sp>
      <p:sp>
        <p:nvSpPr>
          <p:cNvPr id="30" name="TextBox 29"/>
          <p:cNvSpPr txBox="1"/>
          <p:nvPr/>
        </p:nvSpPr>
        <p:spPr>
          <a:xfrm>
            <a:off x="6675120" y="3657600"/>
            <a:ext cx="2377440" cy="731520"/>
          </a:xfrm>
          <a:prstGeom prst="rect">
            <a:avLst/>
          </a:prstGeom>
          <a:noFill/>
        </p:spPr>
        <p:txBody>
          <a:bodyPr wrap="square">
            <a:spAutoFit/>
          </a:bodyPr>
          <a:lstStyle/>
          <a:p>
            <a:pPr>
              <a:spcAft>
                <a:spcPts val="200"/>
              </a:spcAft>
              <a:defRPr sz="1100">
                <a:solidFill>
                  <a:srgbClr val="333333"/>
                </a:solidFill>
                <a:latin typeface="Calibri"/>
              </a:defRPr>
            </a:pPr>
            <a:r>
              <a:t>Cladograms (4 types)</a:t>
            </a:r>
          </a:p>
          <a:p>
            <a:pPr>
              <a:spcAft>
                <a:spcPts val="200"/>
              </a:spcAft>
              <a:defRPr sz="1100">
                <a:solidFill>
                  <a:srgbClr val="333333"/>
                </a:solidFill>
                <a:latin typeface="Calibri"/>
              </a:defRPr>
            </a:pPr>
            <a:r>
              <a:t>AMR heatmaps (Plotly)</a:t>
            </a:r>
          </a:p>
          <a:p>
            <a:pPr>
              <a:spcAft>
                <a:spcPts val="200"/>
              </a:spcAft>
              <a:defRPr sz="1100">
                <a:solidFill>
                  <a:srgbClr val="333333"/>
                </a:solidFill>
                <a:latin typeface="Calibri"/>
              </a:defRPr>
            </a:pPr>
            <a:r>
              <a:t>Drug class pie charts</a:t>
            </a:r>
          </a:p>
          <a:p>
            <a:pPr>
              <a:spcAft>
                <a:spcPts val="200"/>
              </a:spcAft>
              <a:defRPr sz="1100">
                <a:solidFill>
                  <a:srgbClr val="333333"/>
                </a:solidFill>
                <a:latin typeface="Calibri"/>
              </a:defRPr>
            </a:pPr>
            <a:r>
              <a:t>Critical gene alerts</a:t>
            </a:r>
          </a:p>
        </p:txBody>
      </p:sp>
      <p:sp>
        <p:nvSpPr>
          <p:cNvPr id="31" name="Right Arrow 30"/>
          <p:cNvSpPr/>
          <p:nvPr/>
        </p:nvSpPr>
        <p:spPr>
          <a:xfrm>
            <a:off x="9281160" y="3566160"/>
            <a:ext cx="54864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966960" y="3200400"/>
            <a:ext cx="1920240" cy="1280160"/>
          </a:xfrm>
          <a:prstGeom prst="roundRect">
            <a:avLst/>
          </a:prstGeom>
          <a:solidFill>
            <a:srgbClr val="ECEFF1"/>
          </a:solidFill>
          <a:ln w="254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0" y="3291840"/>
            <a:ext cx="1737360" cy="365760"/>
          </a:xfrm>
          <a:prstGeom prst="rect">
            <a:avLst/>
          </a:prstGeom>
          <a:noFill/>
        </p:spPr>
        <p:txBody>
          <a:bodyPr wrap="square">
            <a:spAutoFit/>
          </a:bodyPr>
          <a:lstStyle/>
          <a:p>
            <a:pPr algn="ctr">
              <a:defRPr sz="1200" b="1">
                <a:solidFill>
                  <a:srgbClr val="333333"/>
                </a:solidFill>
                <a:latin typeface="Calibri"/>
              </a:defRPr>
            </a:pPr>
            <a:r>
              <a:t>EXPORT</a:t>
            </a:r>
          </a:p>
        </p:txBody>
      </p:sp>
      <p:sp>
        <p:nvSpPr>
          <p:cNvPr id="34" name="TextBox 33"/>
          <p:cNvSpPr txBox="1"/>
          <p:nvPr/>
        </p:nvSpPr>
        <p:spPr>
          <a:xfrm>
            <a:off x="10058400" y="3657600"/>
            <a:ext cx="1737360" cy="731520"/>
          </a:xfrm>
          <a:prstGeom prst="rect">
            <a:avLst/>
          </a:prstGeom>
          <a:noFill/>
        </p:spPr>
        <p:txBody>
          <a:bodyPr wrap="square">
            <a:spAutoFit/>
          </a:bodyPr>
          <a:lstStyle/>
          <a:p>
            <a:pPr>
              <a:spcAft>
                <a:spcPts val="200"/>
              </a:spcAft>
              <a:defRPr sz="1100">
                <a:solidFill>
                  <a:srgbClr val="333333"/>
                </a:solidFill>
                <a:latin typeface="Calibri"/>
              </a:defRPr>
            </a:pPr>
            <a:r>
              <a:t>TSV tables</a:t>
            </a:r>
          </a:p>
          <a:p>
            <a:pPr>
              <a:spcAft>
                <a:spcPts val="200"/>
              </a:spcAft>
              <a:defRPr sz="1100">
                <a:solidFill>
                  <a:srgbClr val="333333"/>
                </a:solidFill>
                <a:latin typeface="Calibri"/>
              </a:defRPr>
            </a:pPr>
            <a:r>
              <a:t>PNG / PDF figures</a:t>
            </a:r>
          </a:p>
          <a:p>
            <a:pPr>
              <a:spcAft>
                <a:spcPts val="200"/>
              </a:spcAft>
              <a:defRPr sz="1100">
                <a:solidFill>
                  <a:srgbClr val="333333"/>
                </a:solidFill>
                <a:latin typeface="Calibri"/>
              </a:defRPr>
            </a:pPr>
            <a:r>
              <a:t>ZIP bundle</a:t>
            </a:r>
          </a:p>
        </p:txBody>
      </p:sp>
      <p:sp>
        <p:nvSpPr>
          <p:cNvPr id="35" name="Rounded Rectangle 34"/>
          <p:cNvSpPr/>
          <p:nvPr/>
        </p:nvSpPr>
        <p:spPr>
          <a:xfrm>
            <a:off x="365760" y="5029200"/>
            <a:ext cx="11521440" cy="1371600"/>
          </a:xfrm>
          <a:prstGeom prst="roundRect">
            <a:avLst/>
          </a:prstGeom>
          <a:solidFill>
            <a:srgbClr val="E8EAF6"/>
          </a:solidFill>
          <a:ln w="254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20640"/>
            <a:ext cx="2743200" cy="365760"/>
          </a:xfrm>
          <a:prstGeom prst="rect">
            <a:avLst/>
          </a:prstGeom>
          <a:noFill/>
        </p:spPr>
        <p:txBody>
          <a:bodyPr wrap="square">
            <a:spAutoFit/>
          </a:bodyPr>
          <a:lstStyle/>
          <a:p>
            <a:pPr algn="l">
              <a:defRPr sz="1400" b="1">
                <a:solidFill>
                  <a:srgbClr val="534BAE"/>
                </a:solidFill>
                <a:latin typeface="Calibri"/>
              </a:defRPr>
            </a:pPr>
            <a:r>
              <a:t>Streamlit Web GUI (plin_app.py)</a:t>
            </a:r>
          </a:p>
        </p:txBody>
      </p:sp>
      <p:sp>
        <p:nvSpPr>
          <p:cNvPr id="37" name="Rounded Rectangle 36"/>
          <p:cNvSpPr/>
          <p:nvPr/>
        </p:nvSpPr>
        <p:spPr>
          <a:xfrm>
            <a:off x="548640"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623560"/>
            <a:ext cx="1737360" cy="457200"/>
          </a:xfrm>
          <a:prstGeom prst="rect">
            <a:avLst/>
          </a:prstGeom>
          <a:noFill/>
        </p:spPr>
        <p:txBody>
          <a:bodyPr wrap="square">
            <a:spAutoFit/>
          </a:bodyPr>
          <a:lstStyle/>
          <a:p>
            <a:pPr algn="ctr">
              <a:defRPr sz="1100" b="1">
                <a:solidFill>
                  <a:srgbClr val="534BAE"/>
                </a:solidFill>
                <a:latin typeface="Calibri"/>
              </a:defRPr>
            </a:pPr>
            <a:r>
              <a:t>Upload &amp; Config</a:t>
            </a:r>
          </a:p>
        </p:txBody>
      </p:sp>
      <p:sp>
        <p:nvSpPr>
          <p:cNvPr id="39" name="Rounded Rectangle 38"/>
          <p:cNvSpPr/>
          <p:nvPr/>
        </p:nvSpPr>
        <p:spPr>
          <a:xfrm>
            <a:off x="2423160"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423160" y="5623560"/>
            <a:ext cx="1737360" cy="457200"/>
          </a:xfrm>
          <a:prstGeom prst="rect">
            <a:avLst/>
          </a:prstGeom>
          <a:noFill/>
        </p:spPr>
        <p:txBody>
          <a:bodyPr wrap="square">
            <a:spAutoFit/>
          </a:bodyPr>
          <a:lstStyle/>
          <a:p>
            <a:pPr algn="ctr">
              <a:defRPr sz="1100" b="1">
                <a:solidFill>
                  <a:srgbClr val="534BAE"/>
                </a:solidFill>
                <a:latin typeface="Calibri"/>
              </a:defRPr>
            </a:pPr>
            <a:r>
              <a:t>Overview Tab</a:t>
            </a:r>
          </a:p>
        </p:txBody>
      </p:sp>
      <p:sp>
        <p:nvSpPr>
          <p:cNvPr id="41" name="Rounded Rectangle 40"/>
          <p:cNvSpPr/>
          <p:nvPr/>
        </p:nvSpPr>
        <p:spPr>
          <a:xfrm>
            <a:off x="4297679"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97679" y="5623560"/>
            <a:ext cx="1737360" cy="457200"/>
          </a:xfrm>
          <a:prstGeom prst="rect">
            <a:avLst/>
          </a:prstGeom>
          <a:noFill/>
        </p:spPr>
        <p:txBody>
          <a:bodyPr wrap="square">
            <a:spAutoFit/>
          </a:bodyPr>
          <a:lstStyle/>
          <a:p>
            <a:pPr algn="ctr">
              <a:defRPr sz="1100" b="1">
                <a:solidFill>
                  <a:srgbClr val="534BAE"/>
                </a:solidFill>
                <a:latin typeface="Calibri"/>
              </a:defRPr>
            </a:pPr>
            <a:r>
              <a:t>Results Tab</a:t>
            </a:r>
          </a:p>
        </p:txBody>
      </p:sp>
      <p:sp>
        <p:nvSpPr>
          <p:cNvPr id="43" name="Rounded Rectangle 42"/>
          <p:cNvSpPr/>
          <p:nvPr/>
        </p:nvSpPr>
        <p:spPr>
          <a:xfrm>
            <a:off x="6172199"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72199" y="5623560"/>
            <a:ext cx="1737360" cy="457200"/>
          </a:xfrm>
          <a:prstGeom prst="rect">
            <a:avLst/>
          </a:prstGeom>
          <a:noFill/>
        </p:spPr>
        <p:txBody>
          <a:bodyPr wrap="square">
            <a:spAutoFit/>
          </a:bodyPr>
          <a:lstStyle/>
          <a:p>
            <a:pPr algn="ctr">
              <a:defRPr sz="1100" b="1">
                <a:solidFill>
                  <a:srgbClr val="534BAE"/>
                </a:solidFill>
                <a:latin typeface="Calibri"/>
              </a:defRPr>
            </a:pPr>
            <a:r>
              <a:t>Cladogram Tab</a:t>
            </a:r>
          </a:p>
        </p:txBody>
      </p:sp>
      <p:sp>
        <p:nvSpPr>
          <p:cNvPr id="45" name="Rounded Rectangle 44"/>
          <p:cNvSpPr/>
          <p:nvPr/>
        </p:nvSpPr>
        <p:spPr>
          <a:xfrm>
            <a:off x="8046719"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19" y="5623560"/>
            <a:ext cx="1737360" cy="457200"/>
          </a:xfrm>
          <a:prstGeom prst="rect">
            <a:avLst/>
          </a:prstGeom>
          <a:noFill/>
        </p:spPr>
        <p:txBody>
          <a:bodyPr wrap="square">
            <a:spAutoFit/>
          </a:bodyPr>
          <a:lstStyle/>
          <a:p>
            <a:pPr algn="ctr">
              <a:defRPr sz="1100" b="1">
                <a:solidFill>
                  <a:srgbClr val="534BAE"/>
                </a:solidFill>
                <a:latin typeface="Calibri"/>
              </a:defRPr>
            </a:pPr>
            <a:r>
              <a:t>AMR Analysis Tab</a:t>
            </a:r>
          </a:p>
        </p:txBody>
      </p:sp>
      <p:sp>
        <p:nvSpPr>
          <p:cNvPr id="47" name="Rounded Rectangle 46"/>
          <p:cNvSpPr/>
          <p:nvPr/>
        </p:nvSpPr>
        <p:spPr>
          <a:xfrm>
            <a:off x="9921240" y="5577840"/>
            <a:ext cx="1737360" cy="548640"/>
          </a:xfrm>
          <a:prstGeom prst="roundRect">
            <a:avLst/>
          </a:prstGeom>
          <a:solidFill>
            <a:srgbClr val="FFFFFF"/>
          </a:solidFill>
          <a:ln w="12700">
            <a:solidFill>
              <a:srgbClr val="534B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21240" y="5623560"/>
            <a:ext cx="1737360" cy="457200"/>
          </a:xfrm>
          <a:prstGeom prst="rect">
            <a:avLst/>
          </a:prstGeom>
          <a:noFill/>
        </p:spPr>
        <p:txBody>
          <a:bodyPr wrap="square">
            <a:spAutoFit/>
          </a:bodyPr>
          <a:lstStyle/>
          <a:p>
            <a:pPr algn="ctr">
              <a:defRPr sz="1100" b="1">
                <a:solidFill>
                  <a:srgbClr val="534BAE"/>
                </a:solidFill>
                <a:latin typeface="Calibri"/>
              </a:defRPr>
            </a:pPr>
            <a:r>
              <a:t>Export Tab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pLIN Classification System</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Six-level hierarchical coding from tetranucleotide composition</a:t>
            </a:r>
          </a:p>
        </p:txBody>
      </p:sp>
      <p:sp>
        <p:nvSpPr>
          <p:cNvPr id="5" name="Rounded Rectangle 4"/>
          <p:cNvSpPr/>
          <p:nvPr/>
        </p:nvSpPr>
        <p:spPr>
          <a:xfrm>
            <a:off x="457200" y="1463040"/>
            <a:ext cx="5029200" cy="4572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90472"/>
            <a:ext cx="1188720" cy="365760"/>
          </a:xfrm>
          <a:prstGeom prst="rect">
            <a:avLst/>
          </a:prstGeom>
          <a:noFill/>
        </p:spPr>
        <p:txBody>
          <a:bodyPr wrap="square">
            <a:spAutoFit/>
          </a:bodyPr>
          <a:lstStyle/>
          <a:p>
            <a:pPr algn="ctr">
              <a:defRPr sz="1200" b="1">
                <a:solidFill>
                  <a:srgbClr val="FFFFFF"/>
                </a:solidFill>
                <a:latin typeface="Calibri"/>
              </a:defRPr>
            </a:pPr>
            <a:r>
              <a:t>Position</a:t>
            </a:r>
          </a:p>
        </p:txBody>
      </p:sp>
      <p:sp>
        <p:nvSpPr>
          <p:cNvPr id="7" name="TextBox 6"/>
          <p:cNvSpPr txBox="1"/>
          <p:nvPr/>
        </p:nvSpPr>
        <p:spPr>
          <a:xfrm>
            <a:off x="1783080" y="1490472"/>
            <a:ext cx="1188720" cy="365760"/>
          </a:xfrm>
          <a:prstGeom prst="rect">
            <a:avLst/>
          </a:prstGeom>
          <a:noFill/>
        </p:spPr>
        <p:txBody>
          <a:bodyPr wrap="square">
            <a:spAutoFit/>
          </a:bodyPr>
          <a:lstStyle/>
          <a:p>
            <a:pPr algn="ctr">
              <a:defRPr sz="1200" b="1">
                <a:solidFill>
                  <a:srgbClr val="FFFFFF"/>
                </a:solidFill>
                <a:latin typeface="Calibri"/>
              </a:defRPr>
            </a:pPr>
            <a:r>
              <a:t>Level</a:t>
            </a:r>
          </a:p>
        </p:txBody>
      </p:sp>
      <p:sp>
        <p:nvSpPr>
          <p:cNvPr id="8" name="TextBox 7"/>
          <p:cNvSpPr txBox="1"/>
          <p:nvPr/>
        </p:nvSpPr>
        <p:spPr>
          <a:xfrm>
            <a:off x="3017520" y="1490472"/>
            <a:ext cx="1188720" cy="365760"/>
          </a:xfrm>
          <a:prstGeom prst="rect">
            <a:avLst/>
          </a:prstGeom>
          <a:noFill/>
        </p:spPr>
        <p:txBody>
          <a:bodyPr wrap="square">
            <a:spAutoFit/>
          </a:bodyPr>
          <a:lstStyle/>
          <a:p>
            <a:pPr algn="ctr">
              <a:defRPr sz="1200" b="1">
                <a:solidFill>
                  <a:srgbClr val="FFFFFF"/>
                </a:solidFill>
                <a:latin typeface="Calibri"/>
              </a:defRPr>
            </a:pPr>
            <a:r>
              <a:t>Threshold (d≤)</a:t>
            </a:r>
          </a:p>
        </p:txBody>
      </p:sp>
      <p:sp>
        <p:nvSpPr>
          <p:cNvPr id="9" name="TextBox 8"/>
          <p:cNvSpPr txBox="1"/>
          <p:nvPr/>
        </p:nvSpPr>
        <p:spPr>
          <a:xfrm>
            <a:off x="4251960" y="1490472"/>
            <a:ext cx="1188720" cy="365760"/>
          </a:xfrm>
          <a:prstGeom prst="rect">
            <a:avLst/>
          </a:prstGeom>
          <a:noFill/>
        </p:spPr>
        <p:txBody>
          <a:bodyPr wrap="square">
            <a:spAutoFit/>
          </a:bodyPr>
          <a:lstStyle/>
          <a:p>
            <a:pPr algn="ctr">
              <a:defRPr sz="1200" b="1">
                <a:solidFill>
                  <a:srgbClr val="FFFFFF"/>
                </a:solidFill>
                <a:latin typeface="Calibri"/>
              </a:defRPr>
            </a:pPr>
            <a:r>
              <a:t>ANI Equiv.</a:t>
            </a:r>
          </a:p>
        </p:txBody>
      </p:sp>
      <p:sp>
        <p:nvSpPr>
          <p:cNvPr id="10" name="Rounded Rectangle 9"/>
          <p:cNvSpPr/>
          <p:nvPr/>
        </p:nvSpPr>
        <p:spPr>
          <a:xfrm>
            <a:off x="457200" y="1920240"/>
            <a:ext cx="5029200" cy="411480"/>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2011680"/>
            <a:ext cx="228600" cy="22860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65960"/>
            <a:ext cx="822960" cy="320040"/>
          </a:xfrm>
          <a:prstGeom prst="rect">
            <a:avLst/>
          </a:prstGeom>
          <a:noFill/>
        </p:spPr>
        <p:txBody>
          <a:bodyPr wrap="square">
            <a:spAutoFit/>
          </a:bodyPr>
          <a:lstStyle/>
          <a:p>
            <a:pPr algn="ctr">
              <a:defRPr sz="1300" b="1">
                <a:solidFill>
                  <a:srgbClr val="E53935"/>
                </a:solidFill>
                <a:latin typeface="Calibri"/>
              </a:defRPr>
            </a:pPr>
            <a:r>
              <a:t>A</a:t>
            </a:r>
          </a:p>
        </p:txBody>
      </p:sp>
      <p:sp>
        <p:nvSpPr>
          <p:cNvPr id="13" name="TextBox 12"/>
          <p:cNvSpPr txBox="1"/>
          <p:nvPr/>
        </p:nvSpPr>
        <p:spPr>
          <a:xfrm>
            <a:off x="1783080" y="1965960"/>
            <a:ext cx="1188720" cy="320040"/>
          </a:xfrm>
          <a:prstGeom prst="rect">
            <a:avLst/>
          </a:prstGeom>
          <a:noFill/>
        </p:spPr>
        <p:txBody>
          <a:bodyPr wrap="square">
            <a:spAutoFit/>
          </a:bodyPr>
          <a:lstStyle/>
          <a:p>
            <a:pPr algn="ctr">
              <a:defRPr sz="1200" b="0">
                <a:solidFill>
                  <a:srgbClr val="333333"/>
                </a:solidFill>
                <a:latin typeface="Calibri"/>
              </a:defRPr>
            </a:pPr>
            <a:r>
              <a:t>L1 (Family)</a:t>
            </a:r>
          </a:p>
        </p:txBody>
      </p:sp>
      <p:sp>
        <p:nvSpPr>
          <p:cNvPr id="14" name="TextBox 13"/>
          <p:cNvSpPr txBox="1"/>
          <p:nvPr/>
        </p:nvSpPr>
        <p:spPr>
          <a:xfrm>
            <a:off x="3017520" y="1965960"/>
            <a:ext cx="1188720" cy="320040"/>
          </a:xfrm>
          <a:prstGeom prst="rect">
            <a:avLst/>
          </a:prstGeom>
          <a:noFill/>
        </p:spPr>
        <p:txBody>
          <a:bodyPr wrap="square">
            <a:spAutoFit/>
          </a:bodyPr>
          <a:lstStyle/>
          <a:p>
            <a:pPr algn="ctr">
              <a:defRPr sz="1200" b="0">
                <a:solidFill>
                  <a:srgbClr val="333333"/>
                </a:solidFill>
                <a:latin typeface="Consolas"/>
              </a:defRPr>
            </a:pPr>
            <a:r>
              <a:t>d ≤ 0.150</a:t>
            </a:r>
          </a:p>
        </p:txBody>
      </p:sp>
      <p:sp>
        <p:nvSpPr>
          <p:cNvPr id="15" name="TextBox 14"/>
          <p:cNvSpPr txBox="1"/>
          <p:nvPr/>
        </p:nvSpPr>
        <p:spPr>
          <a:xfrm>
            <a:off x="4251960" y="1965960"/>
            <a:ext cx="1188720" cy="320040"/>
          </a:xfrm>
          <a:prstGeom prst="rect">
            <a:avLst/>
          </a:prstGeom>
          <a:noFill/>
        </p:spPr>
        <p:txBody>
          <a:bodyPr wrap="square">
            <a:spAutoFit/>
          </a:bodyPr>
          <a:lstStyle/>
          <a:p>
            <a:pPr algn="ctr">
              <a:defRPr sz="1200" b="0">
                <a:solidFill>
                  <a:srgbClr val="333333"/>
                </a:solidFill>
                <a:latin typeface="Calibri"/>
              </a:defRPr>
            </a:pPr>
            <a:r>
              <a:t>~85%</a:t>
            </a:r>
          </a:p>
        </p:txBody>
      </p:sp>
      <p:sp>
        <p:nvSpPr>
          <p:cNvPr id="16" name="Rounded Rectangle 15"/>
          <p:cNvSpPr/>
          <p:nvPr/>
        </p:nvSpPr>
        <p:spPr>
          <a:xfrm>
            <a:off x="457200" y="2331720"/>
            <a:ext cx="5029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2423160"/>
            <a:ext cx="228600" cy="22860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377440"/>
            <a:ext cx="822960" cy="320040"/>
          </a:xfrm>
          <a:prstGeom prst="rect">
            <a:avLst/>
          </a:prstGeom>
          <a:noFill/>
        </p:spPr>
        <p:txBody>
          <a:bodyPr wrap="square">
            <a:spAutoFit/>
          </a:bodyPr>
          <a:lstStyle/>
          <a:p>
            <a:pPr algn="ctr">
              <a:defRPr sz="1300" b="1">
                <a:solidFill>
                  <a:srgbClr val="FB8C00"/>
                </a:solidFill>
                <a:latin typeface="Calibri"/>
              </a:defRPr>
            </a:pPr>
            <a:r>
              <a:t>B</a:t>
            </a:r>
          </a:p>
        </p:txBody>
      </p:sp>
      <p:sp>
        <p:nvSpPr>
          <p:cNvPr id="19" name="TextBox 18"/>
          <p:cNvSpPr txBox="1"/>
          <p:nvPr/>
        </p:nvSpPr>
        <p:spPr>
          <a:xfrm>
            <a:off x="1783080" y="2377440"/>
            <a:ext cx="1188720" cy="320040"/>
          </a:xfrm>
          <a:prstGeom prst="rect">
            <a:avLst/>
          </a:prstGeom>
          <a:noFill/>
        </p:spPr>
        <p:txBody>
          <a:bodyPr wrap="square">
            <a:spAutoFit/>
          </a:bodyPr>
          <a:lstStyle/>
          <a:p>
            <a:pPr algn="ctr">
              <a:defRPr sz="1200" b="0">
                <a:solidFill>
                  <a:srgbClr val="333333"/>
                </a:solidFill>
                <a:latin typeface="Calibri"/>
              </a:defRPr>
            </a:pPr>
            <a:r>
              <a:t>L2 (Subfamily)</a:t>
            </a:r>
          </a:p>
        </p:txBody>
      </p:sp>
      <p:sp>
        <p:nvSpPr>
          <p:cNvPr id="20" name="TextBox 19"/>
          <p:cNvSpPr txBox="1"/>
          <p:nvPr/>
        </p:nvSpPr>
        <p:spPr>
          <a:xfrm>
            <a:off x="3017520" y="2377440"/>
            <a:ext cx="1188720" cy="320040"/>
          </a:xfrm>
          <a:prstGeom prst="rect">
            <a:avLst/>
          </a:prstGeom>
          <a:noFill/>
        </p:spPr>
        <p:txBody>
          <a:bodyPr wrap="square">
            <a:spAutoFit/>
          </a:bodyPr>
          <a:lstStyle/>
          <a:p>
            <a:pPr algn="ctr">
              <a:defRPr sz="1200" b="0">
                <a:solidFill>
                  <a:srgbClr val="333333"/>
                </a:solidFill>
                <a:latin typeface="Consolas"/>
              </a:defRPr>
            </a:pPr>
            <a:r>
              <a:t>d ≤ 0.100</a:t>
            </a:r>
          </a:p>
        </p:txBody>
      </p:sp>
      <p:sp>
        <p:nvSpPr>
          <p:cNvPr id="21" name="TextBox 20"/>
          <p:cNvSpPr txBox="1"/>
          <p:nvPr/>
        </p:nvSpPr>
        <p:spPr>
          <a:xfrm>
            <a:off x="4251960" y="2377440"/>
            <a:ext cx="1188720" cy="320040"/>
          </a:xfrm>
          <a:prstGeom prst="rect">
            <a:avLst/>
          </a:prstGeom>
          <a:noFill/>
        </p:spPr>
        <p:txBody>
          <a:bodyPr wrap="square">
            <a:spAutoFit/>
          </a:bodyPr>
          <a:lstStyle/>
          <a:p>
            <a:pPr algn="ctr">
              <a:defRPr sz="1200" b="0">
                <a:solidFill>
                  <a:srgbClr val="333333"/>
                </a:solidFill>
                <a:latin typeface="Calibri"/>
              </a:defRPr>
            </a:pPr>
            <a:r>
              <a:t>~90%</a:t>
            </a:r>
          </a:p>
        </p:txBody>
      </p:sp>
      <p:sp>
        <p:nvSpPr>
          <p:cNvPr id="22" name="Rounded Rectangle 21"/>
          <p:cNvSpPr/>
          <p:nvPr/>
        </p:nvSpPr>
        <p:spPr>
          <a:xfrm>
            <a:off x="457200" y="2743200"/>
            <a:ext cx="5029200" cy="411480"/>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2834640"/>
            <a:ext cx="228600" cy="22860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788920"/>
            <a:ext cx="822960" cy="320040"/>
          </a:xfrm>
          <a:prstGeom prst="rect">
            <a:avLst/>
          </a:prstGeom>
          <a:noFill/>
        </p:spPr>
        <p:txBody>
          <a:bodyPr wrap="square">
            <a:spAutoFit/>
          </a:bodyPr>
          <a:lstStyle/>
          <a:p>
            <a:pPr algn="ctr">
              <a:defRPr sz="1300" b="1">
                <a:solidFill>
                  <a:srgbClr val="FDD835"/>
                </a:solidFill>
                <a:latin typeface="Calibri"/>
              </a:defRPr>
            </a:pPr>
            <a:r>
              <a:t>C</a:t>
            </a:r>
          </a:p>
        </p:txBody>
      </p:sp>
      <p:sp>
        <p:nvSpPr>
          <p:cNvPr id="25" name="TextBox 24"/>
          <p:cNvSpPr txBox="1"/>
          <p:nvPr/>
        </p:nvSpPr>
        <p:spPr>
          <a:xfrm>
            <a:off x="1783080" y="2788920"/>
            <a:ext cx="1188720" cy="320040"/>
          </a:xfrm>
          <a:prstGeom prst="rect">
            <a:avLst/>
          </a:prstGeom>
          <a:noFill/>
        </p:spPr>
        <p:txBody>
          <a:bodyPr wrap="square">
            <a:spAutoFit/>
          </a:bodyPr>
          <a:lstStyle/>
          <a:p>
            <a:pPr algn="ctr">
              <a:defRPr sz="1200" b="0">
                <a:solidFill>
                  <a:srgbClr val="333333"/>
                </a:solidFill>
                <a:latin typeface="Calibri"/>
              </a:defRPr>
            </a:pPr>
            <a:r>
              <a:t>L3 (Cluster)</a:t>
            </a:r>
          </a:p>
        </p:txBody>
      </p:sp>
      <p:sp>
        <p:nvSpPr>
          <p:cNvPr id="26" name="TextBox 25"/>
          <p:cNvSpPr txBox="1"/>
          <p:nvPr/>
        </p:nvSpPr>
        <p:spPr>
          <a:xfrm>
            <a:off x="3017520" y="2788920"/>
            <a:ext cx="1188720" cy="320040"/>
          </a:xfrm>
          <a:prstGeom prst="rect">
            <a:avLst/>
          </a:prstGeom>
          <a:noFill/>
        </p:spPr>
        <p:txBody>
          <a:bodyPr wrap="square">
            <a:spAutoFit/>
          </a:bodyPr>
          <a:lstStyle/>
          <a:p>
            <a:pPr algn="ctr">
              <a:defRPr sz="1200" b="0">
                <a:solidFill>
                  <a:srgbClr val="333333"/>
                </a:solidFill>
                <a:latin typeface="Consolas"/>
              </a:defRPr>
            </a:pPr>
            <a:r>
              <a:t>d ≤ 0.050</a:t>
            </a:r>
          </a:p>
        </p:txBody>
      </p:sp>
      <p:sp>
        <p:nvSpPr>
          <p:cNvPr id="27" name="TextBox 26"/>
          <p:cNvSpPr txBox="1"/>
          <p:nvPr/>
        </p:nvSpPr>
        <p:spPr>
          <a:xfrm>
            <a:off x="4251960" y="2788920"/>
            <a:ext cx="1188720" cy="320040"/>
          </a:xfrm>
          <a:prstGeom prst="rect">
            <a:avLst/>
          </a:prstGeom>
          <a:noFill/>
        </p:spPr>
        <p:txBody>
          <a:bodyPr wrap="square">
            <a:spAutoFit/>
          </a:bodyPr>
          <a:lstStyle/>
          <a:p>
            <a:pPr algn="ctr">
              <a:defRPr sz="1200" b="0">
                <a:solidFill>
                  <a:srgbClr val="333333"/>
                </a:solidFill>
                <a:latin typeface="Calibri"/>
              </a:defRPr>
            </a:pPr>
            <a:r>
              <a:t>~95%</a:t>
            </a:r>
          </a:p>
        </p:txBody>
      </p:sp>
      <p:sp>
        <p:nvSpPr>
          <p:cNvPr id="28" name="Rounded Rectangle 27"/>
          <p:cNvSpPr/>
          <p:nvPr/>
        </p:nvSpPr>
        <p:spPr>
          <a:xfrm>
            <a:off x="457200" y="3154680"/>
            <a:ext cx="5029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0080" y="3246120"/>
            <a:ext cx="228600" cy="22860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200400"/>
            <a:ext cx="822960" cy="320040"/>
          </a:xfrm>
          <a:prstGeom prst="rect">
            <a:avLst/>
          </a:prstGeom>
          <a:noFill/>
        </p:spPr>
        <p:txBody>
          <a:bodyPr wrap="square">
            <a:spAutoFit/>
          </a:bodyPr>
          <a:lstStyle/>
          <a:p>
            <a:pPr algn="ctr">
              <a:defRPr sz="1300" b="1">
                <a:solidFill>
                  <a:srgbClr val="43A047"/>
                </a:solidFill>
                <a:latin typeface="Calibri"/>
              </a:defRPr>
            </a:pPr>
            <a:r>
              <a:t>D</a:t>
            </a:r>
          </a:p>
        </p:txBody>
      </p:sp>
      <p:sp>
        <p:nvSpPr>
          <p:cNvPr id="31" name="TextBox 30"/>
          <p:cNvSpPr txBox="1"/>
          <p:nvPr/>
        </p:nvSpPr>
        <p:spPr>
          <a:xfrm>
            <a:off x="1783080" y="3200400"/>
            <a:ext cx="1188720" cy="320040"/>
          </a:xfrm>
          <a:prstGeom prst="rect">
            <a:avLst/>
          </a:prstGeom>
          <a:noFill/>
        </p:spPr>
        <p:txBody>
          <a:bodyPr wrap="square">
            <a:spAutoFit/>
          </a:bodyPr>
          <a:lstStyle/>
          <a:p>
            <a:pPr algn="ctr">
              <a:defRPr sz="1200" b="0">
                <a:solidFill>
                  <a:srgbClr val="333333"/>
                </a:solidFill>
                <a:latin typeface="Calibri"/>
              </a:defRPr>
            </a:pPr>
            <a:r>
              <a:t>L4 (Subcluster)</a:t>
            </a:r>
          </a:p>
        </p:txBody>
      </p:sp>
      <p:sp>
        <p:nvSpPr>
          <p:cNvPr id="32" name="TextBox 31"/>
          <p:cNvSpPr txBox="1"/>
          <p:nvPr/>
        </p:nvSpPr>
        <p:spPr>
          <a:xfrm>
            <a:off x="3017520" y="3200400"/>
            <a:ext cx="1188720" cy="320040"/>
          </a:xfrm>
          <a:prstGeom prst="rect">
            <a:avLst/>
          </a:prstGeom>
          <a:noFill/>
        </p:spPr>
        <p:txBody>
          <a:bodyPr wrap="square">
            <a:spAutoFit/>
          </a:bodyPr>
          <a:lstStyle/>
          <a:p>
            <a:pPr algn="ctr">
              <a:defRPr sz="1200" b="0">
                <a:solidFill>
                  <a:srgbClr val="333333"/>
                </a:solidFill>
                <a:latin typeface="Consolas"/>
              </a:defRPr>
            </a:pPr>
            <a:r>
              <a:t>d ≤ 0.020</a:t>
            </a:r>
          </a:p>
        </p:txBody>
      </p:sp>
      <p:sp>
        <p:nvSpPr>
          <p:cNvPr id="33" name="TextBox 32"/>
          <p:cNvSpPr txBox="1"/>
          <p:nvPr/>
        </p:nvSpPr>
        <p:spPr>
          <a:xfrm>
            <a:off x="4251960" y="3200400"/>
            <a:ext cx="1188720" cy="320040"/>
          </a:xfrm>
          <a:prstGeom prst="rect">
            <a:avLst/>
          </a:prstGeom>
          <a:noFill/>
        </p:spPr>
        <p:txBody>
          <a:bodyPr wrap="square">
            <a:spAutoFit/>
          </a:bodyPr>
          <a:lstStyle/>
          <a:p>
            <a:pPr algn="ctr">
              <a:defRPr sz="1200" b="0">
                <a:solidFill>
                  <a:srgbClr val="333333"/>
                </a:solidFill>
                <a:latin typeface="Calibri"/>
              </a:defRPr>
            </a:pPr>
            <a:r>
              <a:t>~98%</a:t>
            </a:r>
          </a:p>
        </p:txBody>
      </p:sp>
      <p:sp>
        <p:nvSpPr>
          <p:cNvPr id="34" name="Rounded Rectangle 33"/>
          <p:cNvSpPr/>
          <p:nvPr/>
        </p:nvSpPr>
        <p:spPr>
          <a:xfrm>
            <a:off x="457200" y="3566160"/>
            <a:ext cx="5029200" cy="411480"/>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0080" y="3657600"/>
            <a:ext cx="228600" cy="22860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3611880"/>
            <a:ext cx="822960" cy="320040"/>
          </a:xfrm>
          <a:prstGeom prst="rect">
            <a:avLst/>
          </a:prstGeom>
          <a:noFill/>
        </p:spPr>
        <p:txBody>
          <a:bodyPr wrap="square">
            <a:spAutoFit/>
          </a:bodyPr>
          <a:lstStyle/>
          <a:p>
            <a:pPr algn="ctr">
              <a:defRPr sz="1300" b="1">
                <a:solidFill>
                  <a:srgbClr val="1E88E5"/>
                </a:solidFill>
                <a:latin typeface="Calibri"/>
              </a:defRPr>
            </a:pPr>
            <a:r>
              <a:t>E</a:t>
            </a:r>
          </a:p>
        </p:txBody>
      </p:sp>
      <p:sp>
        <p:nvSpPr>
          <p:cNvPr id="37" name="TextBox 36"/>
          <p:cNvSpPr txBox="1"/>
          <p:nvPr/>
        </p:nvSpPr>
        <p:spPr>
          <a:xfrm>
            <a:off x="1783080" y="3611880"/>
            <a:ext cx="1188720" cy="320040"/>
          </a:xfrm>
          <a:prstGeom prst="rect">
            <a:avLst/>
          </a:prstGeom>
          <a:noFill/>
        </p:spPr>
        <p:txBody>
          <a:bodyPr wrap="square">
            <a:spAutoFit/>
          </a:bodyPr>
          <a:lstStyle/>
          <a:p>
            <a:pPr algn="ctr">
              <a:defRPr sz="1200" b="0">
                <a:solidFill>
                  <a:srgbClr val="333333"/>
                </a:solidFill>
                <a:latin typeface="Calibri"/>
              </a:defRPr>
            </a:pPr>
            <a:r>
              <a:t>L5 (Clone)</a:t>
            </a:r>
          </a:p>
        </p:txBody>
      </p:sp>
      <p:sp>
        <p:nvSpPr>
          <p:cNvPr id="38" name="TextBox 37"/>
          <p:cNvSpPr txBox="1"/>
          <p:nvPr/>
        </p:nvSpPr>
        <p:spPr>
          <a:xfrm>
            <a:off x="3017520" y="3611880"/>
            <a:ext cx="1188720" cy="320040"/>
          </a:xfrm>
          <a:prstGeom prst="rect">
            <a:avLst/>
          </a:prstGeom>
          <a:noFill/>
        </p:spPr>
        <p:txBody>
          <a:bodyPr wrap="square">
            <a:spAutoFit/>
          </a:bodyPr>
          <a:lstStyle/>
          <a:p>
            <a:pPr algn="ctr">
              <a:defRPr sz="1200" b="0">
                <a:solidFill>
                  <a:srgbClr val="333333"/>
                </a:solidFill>
                <a:latin typeface="Consolas"/>
              </a:defRPr>
            </a:pPr>
            <a:r>
              <a:t>d ≤ 0.010</a:t>
            </a:r>
          </a:p>
        </p:txBody>
      </p:sp>
      <p:sp>
        <p:nvSpPr>
          <p:cNvPr id="39" name="TextBox 38"/>
          <p:cNvSpPr txBox="1"/>
          <p:nvPr/>
        </p:nvSpPr>
        <p:spPr>
          <a:xfrm>
            <a:off x="4251960" y="3611880"/>
            <a:ext cx="1188720" cy="320040"/>
          </a:xfrm>
          <a:prstGeom prst="rect">
            <a:avLst/>
          </a:prstGeom>
          <a:noFill/>
        </p:spPr>
        <p:txBody>
          <a:bodyPr wrap="square">
            <a:spAutoFit/>
          </a:bodyPr>
          <a:lstStyle/>
          <a:p>
            <a:pPr algn="ctr">
              <a:defRPr sz="1200" b="0">
                <a:solidFill>
                  <a:srgbClr val="333333"/>
                </a:solidFill>
                <a:latin typeface="Calibri"/>
              </a:defRPr>
            </a:pPr>
            <a:r>
              <a:t>~99%</a:t>
            </a:r>
          </a:p>
        </p:txBody>
      </p:sp>
      <p:sp>
        <p:nvSpPr>
          <p:cNvPr id="40" name="Rounded Rectangle 39"/>
          <p:cNvSpPr/>
          <p:nvPr/>
        </p:nvSpPr>
        <p:spPr>
          <a:xfrm>
            <a:off x="457200" y="3977639"/>
            <a:ext cx="50292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40080" y="4069079"/>
            <a:ext cx="228600" cy="22860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023359"/>
            <a:ext cx="822960" cy="320040"/>
          </a:xfrm>
          <a:prstGeom prst="rect">
            <a:avLst/>
          </a:prstGeom>
          <a:noFill/>
        </p:spPr>
        <p:txBody>
          <a:bodyPr wrap="square">
            <a:spAutoFit/>
          </a:bodyPr>
          <a:lstStyle/>
          <a:p>
            <a:pPr algn="ctr">
              <a:defRPr sz="1300" b="1">
                <a:solidFill>
                  <a:srgbClr val="8E24AA"/>
                </a:solidFill>
                <a:latin typeface="Calibri"/>
              </a:defRPr>
            </a:pPr>
            <a:r>
              <a:t>F</a:t>
            </a:r>
          </a:p>
        </p:txBody>
      </p:sp>
      <p:sp>
        <p:nvSpPr>
          <p:cNvPr id="43" name="TextBox 42"/>
          <p:cNvSpPr txBox="1"/>
          <p:nvPr/>
        </p:nvSpPr>
        <p:spPr>
          <a:xfrm>
            <a:off x="1783080" y="4023359"/>
            <a:ext cx="1188720" cy="320040"/>
          </a:xfrm>
          <a:prstGeom prst="rect">
            <a:avLst/>
          </a:prstGeom>
          <a:noFill/>
        </p:spPr>
        <p:txBody>
          <a:bodyPr wrap="square">
            <a:spAutoFit/>
          </a:bodyPr>
          <a:lstStyle/>
          <a:p>
            <a:pPr algn="ctr">
              <a:defRPr sz="1200" b="0">
                <a:solidFill>
                  <a:srgbClr val="333333"/>
                </a:solidFill>
                <a:latin typeface="Calibri"/>
              </a:defRPr>
            </a:pPr>
            <a:r>
              <a:t>L6 (Strain)</a:t>
            </a:r>
          </a:p>
        </p:txBody>
      </p:sp>
      <p:sp>
        <p:nvSpPr>
          <p:cNvPr id="44" name="TextBox 43"/>
          <p:cNvSpPr txBox="1"/>
          <p:nvPr/>
        </p:nvSpPr>
        <p:spPr>
          <a:xfrm>
            <a:off x="3017520" y="4023359"/>
            <a:ext cx="1188720" cy="320040"/>
          </a:xfrm>
          <a:prstGeom prst="rect">
            <a:avLst/>
          </a:prstGeom>
          <a:noFill/>
        </p:spPr>
        <p:txBody>
          <a:bodyPr wrap="square">
            <a:spAutoFit/>
          </a:bodyPr>
          <a:lstStyle/>
          <a:p>
            <a:pPr algn="ctr">
              <a:defRPr sz="1200" b="0">
                <a:solidFill>
                  <a:srgbClr val="333333"/>
                </a:solidFill>
                <a:latin typeface="Consolas"/>
              </a:defRPr>
            </a:pPr>
            <a:r>
              <a:t>d ≤ 0.001</a:t>
            </a:r>
          </a:p>
        </p:txBody>
      </p:sp>
      <p:sp>
        <p:nvSpPr>
          <p:cNvPr id="45" name="TextBox 44"/>
          <p:cNvSpPr txBox="1"/>
          <p:nvPr/>
        </p:nvSpPr>
        <p:spPr>
          <a:xfrm>
            <a:off x="4251960" y="4023359"/>
            <a:ext cx="1188720" cy="320040"/>
          </a:xfrm>
          <a:prstGeom prst="rect">
            <a:avLst/>
          </a:prstGeom>
          <a:noFill/>
        </p:spPr>
        <p:txBody>
          <a:bodyPr wrap="square">
            <a:spAutoFit/>
          </a:bodyPr>
          <a:lstStyle/>
          <a:p>
            <a:pPr algn="ctr">
              <a:defRPr sz="1200" b="0">
                <a:solidFill>
                  <a:srgbClr val="333333"/>
                </a:solidFill>
                <a:latin typeface="Calibri"/>
              </a:defRPr>
            </a:pPr>
            <a:r>
              <a:t>~99.9%</a:t>
            </a:r>
          </a:p>
        </p:txBody>
      </p:sp>
      <p:sp>
        <p:nvSpPr>
          <p:cNvPr id="46" name="Rounded Rectangle 45"/>
          <p:cNvSpPr/>
          <p:nvPr/>
        </p:nvSpPr>
        <p:spPr>
          <a:xfrm>
            <a:off x="457200" y="4572000"/>
            <a:ext cx="5029200" cy="914400"/>
          </a:xfrm>
          <a:prstGeom prst="roundRect">
            <a:avLst/>
          </a:prstGeom>
          <a:solidFill>
            <a:srgbClr val="E3F2FD"/>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4663440"/>
            <a:ext cx="4572000" cy="365760"/>
          </a:xfrm>
          <a:prstGeom prst="rect">
            <a:avLst/>
          </a:prstGeom>
          <a:noFill/>
        </p:spPr>
        <p:txBody>
          <a:bodyPr wrap="square">
            <a:spAutoFit/>
          </a:bodyPr>
          <a:lstStyle/>
          <a:p>
            <a:pPr algn="l">
              <a:defRPr sz="1300" b="1">
                <a:solidFill>
                  <a:srgbClr val="0D47A1"/>
                </a:solidFill>
                <a:latin typeface="Calibri"/>
              </a:defRPr>
            </a:pPr>
            <a:r>
              <a:t>Example pLIN Code:</a:t>
            </a:r>
          </a:p>
        </p:txBody>
      </p:sp>
      <p:sp>
        <p:nvSpPr>
          <p:cNvPr id="48" name="TextBox 47"/>
          <p:cNvSpPr txBox="1"/>
          <p:nvPr/>
        </p:nvSpPr>
        <p:spPr>
          <a:xfrm>
            <a:off x="640080" y="5029200"/>
            <a:ext cx="4572000" cy="365760"/>
          </a:xfrm>
          <a:prstGeom prst="rect">
            <a:avLst/>
          </a:prstGeom>
          <a:noFill/>
        </p:spPr>
        <p:txBody>
          <a:bodyPr wrap="square">
            <a:spAutoFit/>
          </a:bodyPr>
          <a:lstStyle/>
          <a:p>
            <a:pPr algn="ctr">
              <a:defRPr sz="2400" b="1">
                <a:solidFill>
                  <a:srgbClr val="0D47A1"/>
                </a:solidFill>
                <a:latin typeface="Consolas"/>
              </a:defRPr>
            </a:pPr>
            <a:r>
              <a:t>1 . 1 . 1 . 1 . 2 . 5</a:t>
            </a:r>
          </a:p>
        </p:txBody>
      </p:sp>
      <p:sp>
        <p:nvSpPr>
          <p:cNvPr id="49" name="TextBox 48"/>
          <p:cNvSpPr txBox="1"/>
          <p:nvPr/>
        </p:nvSpPr>
        <p:spPr>
          <a:xfrm>
            <a:off x="6217920" y="1463040"/>
            <a:ext cx="5486400" cy="457200"/>
          </a:xfrm>
          <a:prstGeom prst="rect">
            <a:avLst/>
          </a:prstGeom>
          <a:noFill/>
        </p:spPr>
        <p:txBody>
          <a:bodyPr wrap="square">
            <a:spAutoFit/>
          </a:bodyPr>
          <a:lstStyle/>
          <a:p>
            <a:pPr algn="l">
              <a:defRPr sz="2000" b="1">
                <a:solidFill>
                  <a:srgbClr val="0D47A1"/>
                </a:solidFill>
                <a:latin typeface="Calibri"/>
              </a:defRPr>
            </a:pPr>
            <a:r>
              <a:t>Classification Algorithm</a:t>
            </a:r>
          </a:p>
        </p:txBody>
      </p:sp>
      <p:sp>
        <p:nvSpPr>
          <p:cNvPr id="50" name="Oval 49"/>
          <p:cNvSpPr/>
          <p:nvPr/>
        </p:nvSpPr>
        <p:spPr>
          <a:xfrm>
            <a:off x="6217920" y="2011680"/>
            <a:ext cx="365760" cy="36576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1" name="TextBox 50"/>
          <p:cNvSpPr txBox="1"/>
          <p:nvPr/>
        </p:nvSpPr>
        <p:spPr>
          <a:xfrm>
            <a:off x="6766560" y="1993392"/>
            <a:ext cx="5029200" cy="274320"/>
          </a:xfrm>
          <a:prstGeom prst="rect">
            <a:avLst/>
          </a:prstGeom>
          <a:noFill/>
        </p:spPr>
        <p:txBody>
          <a:bodyPr wrap="square">
            <a:spAutoFit/>
          </a:bodyPr>
          <a:lstStyle/>
          <a:p>
            <a:pPr algn="l">
              <a:defRPr sz="1400" b="1">
                <a:solidFill>
                  <a:srgbClr val="43A047"/>
                </a:solidFill>
                <a:latin typeface="Calibri"/>
              </a:defRPr>
            </a:pPr>
            <a:r>
              <a:t>Parse FASTA</a:t>
            </a:r>
          </a:p>
        </p:txBody>
      </p:sp>
      <p:sp>
        <p:nvSpPr>
          <p:cNvPr id="52" name="TextBox 51"/>
          <p:cNvSpPr txBox="1"/>
          <p:nvPr/>
        </p:nvSpPr>
        <p:spPr>
          <a:xfrm>
            <a:off x="6766560" y="2267712"/>
            <a:ext cx="5029200" cy="274320"/>
          </a:xfrm>
          <a:prstGeom prst="rect">
            <a:avLst/>
          </a:prstGeom>
          <a:noFill/>
        </p:spPr>
        <p:txBody>
          <a:bodyPr wrap="square">
            <a:spAutoFit/>
          </a:bodyPr>
          <a:lstStyle/>
          <a:p>
            <a:pPr algn="l">
              <a:defRPr sz="1100" b="0">
                <a:solidFill>
                  <a:srgbClr val="757575"/>
                </a:solidFill>
                <a:latin typeface="Calibri"/>
              </a:defRPr>
            </a:pPr>
            <a:r>
              <a:t>Read plasmid sequences using BioPython</a:t>
            </a:r>
          </a:p>
        </p:txBody>
      </p:sp>
      <p:cxnSp>
        <p:nvCxnSpPr>
          <p:cNvPr id="53" name="Connector 52"/>
          <p:cNvCxnSpPr/>
          <p:nvPr/>
        </p:nvCxnSpPr>
        <p:spPr>
          <a:xfrm>
            <a:off x="6400800" y="2377440"/>
            <a:ext cx="0" cy="292608"/>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6217920" y="2670048"/>
            <a:ext cx="365760" cy="36576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55" name="TextBox 54"/>
          <p:cNvSpPr txBox="1"/>
          <p:nvPr/>
        </p:nvSpPr>
        <p:spPr>
          <a:xfrm>
            <a:off x="6766560" y="2651760"/>
            <a:ext cx="5029200" cy="274320"/>
          </a:xfrm>
          <a:prstGeom prst="rect">
            <a:avLst/>
          </a:prstGeom>
          <a:noFill/>
        </p:spPr>
        <p:txBody>
          <a:bodyPr wrap="square">
            <a:spAutoFit/>
          </a:bodyPr>
          <a:lstStyle/>
          <a:p>
            <a:pPr algn="l">
              <a:defRPr sz="1400" b="1">
                <a:solidFill>
                  <a:srgbClr val="FB8C00"/>
                </a:solidFill>
                <a:latin typeface="Calibri"/>
              </a:defRPr>
            </a:pPr>
            <a:r>
              <a:t>Compute 4-mer Vectors</a:t>
            </a:r>
          </a:p>
        </p:txBody>
      </p:sp>
      <p:sp>
        <p:nvSpPr>
          <p:cNvPr id="56" name="TextBox 55"/>
          <p:cNvSpPr txBox="1"/>
          <p:nvPr/>
        </p:nvSpPr>
        <p:spPr>
          <a:xfrm>
            <a:off x="6766560" y="2926080"/>
            <a:ext cx="5029200" cy="274320"/>
          </a:xfrm>
          <a:prstGeom prst="rect">
            <a:avLst/>
          </a:prstGeom>
          <a:noFill/>
        </p:spPr>
        <p:txBody>
          <a:bodyPr wrap="square">
            <a:spAutoFit/>
          </a:bodyPr>
          <a:lstStyle/>
          <a:p>
            <a:pPr algn="l">
              <a:defRPr sz="1100" b="0">
                <a:solidFill>
                  <a:srgbClr val="757575"/>
                </a:solidFill>
                <a:latin typeface="Calibri"/>
              </a:defRPr>
            </a:pPr>
            <a:r>
              <a:t>256-dimensional normalised frequency vectors</a:t>
            </a:r>
          </a:p>
        </p:txBody>
      </p:sp>
      <p:cxnSp>
        <p:nvCxnSpPr>
          <p:cNvPr id="57" name="Connector 56"/>
          <p:cNvCxnSpPr/>
          <p:nvPr/>
        </p:nvCxnSpPr>
        <p:spPr>
          <a:xfrm>
            <a:off x="6400800" y="3035808"/>
            <a:ext cx="0" cy="292608"/>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217920" y="3328416"/>
            <a:ext cx="365760" cy="36576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59" name="TextBox 58"/>
          <p:cNvSpPr txBox="1"/>
          <p:nvPr/>
        </p:nvSpPr>
        <p:spPr>
          <a:xfrm>
            <a:off x="6766560" y="3310128"/>
            <a:ext cx="5029200" cy="274320"/>
          </a:xfrm>
          <a:prstGeom prst="rect">
            <a:avLst/>
          </a:prstGeom>
          <a:noFill/>
        </p:spPr>
        <p:txBody>
          <a:bodyPr wrap="square">
            <a:spAutoFit/>
          </a:bodyPr>
          <a:lstStyle/>
          <a:p>
            <a:pPr algn="l">
              <a:defRPr sz="1400" b="1">
                <a:solidFill>
                  <a:srgbClr val="1E88E5"/>
                </a:solidFill>
                <a:latin typeface="Calibri"/>
              </a:defRPr>
            </a:pPr>
            <a:r>
              <a:t>Cosine Distance Matrix</a:t>
            </a:r>
          </a:p>
        </p:txBody>
      </p:sp>
      <p:sp>
        <p:nvSpPr>
          <p:cNvPr id="60" name="TextBox 59"/>
          <p:cNvSpPr txBox="1"/>
          <p:nvPr/>
        </p:nvSpPr>
        <p:spPr>
          <a:xfrm>
            <a:off x="6766560" y="3584448"/>
            <a:ext cx="5029200" cy="274320"/>
          </a:xfrm>
          <a:prstGeom prst="rect">
            <a:avLst/>
          </a:prstGeom>
          <a:noFill/>
        </p:spPr>
        <p:txBody>
          <a:bodyPr wrap="square">
            <a:spAutoFit/>
          </a:bodyPr>
          <a:lstStyle/>
          <a:p>
            <a:pPr algn="l">
              <a:defRPr sz="1100" b="0">
                <a:solidFill>
                  <a:srgbClr val="757575"/>
                </a:solidFill>
                <a:latin typeface="Calibri"/>
              </a:defRPr>
            </a:pPr>
            <a:r>
              <a:t>Pairwise distance between all sequences</a:t>
            </a:r>
          </a:p>
        </p:txBody>
      </p:sp>
      <p:cxnSp>
        <p:nvCxnSpPr>
          <p:cNvPr id="61" name="Connector 60"/>
          <p:cNvCxnSpPr/>
          <p:nvPr/>
        </p:nvCxnSpPr>
        <p:spPr>
          <a:xfrm>
            <a:off x="6400800" y="3694176"/>
            <a:ext cx="0" cy="292608"/>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217920" y="3986784"/>
            <a:ext cx="365760" cy="36576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63" name="TextBox 62"/>
          <p:cNvSpPr txBox="1"/>
          <p:nvPr/>
        </p:nvSpPr>
        <p:spPr>
          <a:xfrm>
            <a:off x="6766560" y="3968496"/>
            <a:ext cx="5029200" cy="274320"/>
          </a:xfrm>
          <a:prstGeom prst="rect">
            <a:avLst/>
          </a:prstGeom>
          <a:noFill/>
        </p:spPr>
        <p:txBody>
          <a:bodyPr wrap="square">
            <a:spAutoFit/>
          </a:bodyPr>
          <a:lstStyle/>
          <a:p>
            <a:pPr algn="l">
              <a:defRPr sz="1400" b="1">
                <a:solidFill>
                  <a:srgbClr val="8E24AA"/>
                </a:solidFill>
                <a:latin typeface="Calibri"/>
              </a:defRPr>
            </a:pPr>
            <a:r>
              <a:t>Single-Linkage Clustering</a:t>
            </a:r>
          </a:p>
        </p:txBody>
      </p:sp>
      <p:sp>
        <p:nvSpPr>
          <p:cNvPr id="64" name="TextBox 63"/>
          <p:cNvSpPr txBox="1"/>
          <p:nvPr/>
        </p:nvSpPr>
        <p:spPr>
          <a:xfrm>
            <a:off x="6766560" y="4242816"/>
            <a:ext cx="5029200" cy="274320"/>
          </a:xfrm>
          <a:prstGeom prst="rect">
            <a:avLst/>
          </a:prstGeom>
          <a:noFill/>
        </p:spPr>
        <p:txBody>
          <a:bodyPr wrap="square">
            <a:spAutoFit/>
          </a:bodyPr>
          <a:lstStyle/>
          <a:p>
            <a:pPr algn="l">
              <a:defRPr sz="1100" b="0">
                <a:solidFill>
                  <a:srgbClr val="757575"/>
                </a:solidFill>
                <a:latin typeface="Calibri"/>
              </a:defRPr>
            </a:pPr>
            <a:r>
              <a:t>Hierarchical agglomerative clustering (scipy)</a:t>
            </a:r>
          </a:p>
        </p:txBody>
      </p:sp>
      <p:cxnSp>
        <p:nvCxnSpPr>
          <p:cNvPr id="65" name="Connector 64"/>
          <p:cNvCxnSpPr/>
          <p:nvPr/>
        </p:nvCxnSpPr>
        <p:spPr>
          <a:xfrm>
            <a:off x="6400800" y="4352544"/>
            <a:ext cx="0" cy="292608"/>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6217920" y="4645152"/>
            <a:ext cx="365760" cy="36576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67" name="TextBox 66"/>
          <p:cNvSpPr txBox="1"/>
          <p:nvPr/>
        </p:nvSpPr>
        <p:spPr>
          <a:xfrm>
            <a:off x="6766560" y="4626864"/>
            <a:ext cx="5029200" cy="274320"/>
          </a:xfrm>
          <a:prstGeom prst="rect">
            <a:avLst/>
          </a:prstGeom>
          <a:noFill/>
        </p:spPr>
        <p:txBody>
          <a:bodyPr wrap="square">
            <a:spAutoFit/>
          </a:bodyPr>
          <a:lstStyle/>
          <a:p>
            <a:pPr algn="l">
              <a:defRPr sz="1400" b="1">
                <a:solidFill>
                  <a:srgbClr val="E53935"/>
                </a:solidFill>
                <a:latin typeface="Calibri"/>
              </a:defRPr>
            </a:pPr>
            <a:r>
              <a:t>Threshold Cutting</a:t>
            </a:r>
          </a:p>
        </p:txBody>
      </p:sp>
      <p:sp>
        <p:nvSpPr>
          <p:cNvPr id="68" name="TextBox 67"/>
          <p:cNvSpPr txBox="1"/>
          <p:nvPr/>
        </p:nvSpPr>
        <p:spPr>
          <a:xfrm>
            <a:off x="6766560" y="4901184"/>
            <a:ext cx="5029200" cy="274320"/>
          </a:xfrm>
          <a:prstGeom prst="rect">
            <a:avLst/>
          </a:prstGeom>
          <a:noFill/>
        </p:spPr>
        <p:txBody>
          <a:bodyPr wrap="square">
            <a:spAutoFit/>
          </a:bodyPr>
          <a:lstStyle/>
          <a:p>
            <a:pPr algn="l">
              <a:defRPr sz="1100" b="0">
                <a:solidFill>
                  <a:srgbClr val="757575"/>
                </a:solidFill>
                <a:latin typeface="Calibri"/>
              </a:defRPr>
            </a:pPr>
            <a:r>
              <a:t>Cut dendrogram at 6 thresholds → 6 cluster IDs</a:t>
            </a:r>
          </a:p>
        </p:txBody>
      </p:sp>
      <p:cxnSp>
        <p:nvCxnSpPr>
          <p:cNvPr id="69" name="Connector 68"/>
          <p:cNvCxnSpPr/>
          <p:nvPr/>
        </p:nvCxnSpPr>
        <p:spPr>
          <a:xfrm>
            <a:off x="6400800" y="5010912"/>
            <a:ext cx="0" cy="292608"/>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6217920" y="5303520"/>
            <a:ext cx="365760" cy="36576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6</a:t>
            </a:r>
          </a:p>
        </p:txBody>
      </p:sp>
      <p:sp>
        <p:nvSpPr>
          <p:cNvPr id="71" name="TextBox 70"/>
          <p:cNvSpPr txBox="1"/>
          <p:nvPr/>
        </p:nvSpPr>
        <p:spPr>
          <a:xfrm>
            <a:off x="6766560" y="5285232"/>
            <a:ext cx="5029200" cy="274320"/>
          </a:xfrm>
          <a:prstGeom prst="rect">
            <a:avLst/>
          </a:prstGeom>
          <a:noFill/>
        </p:spPr>
        <p:txBody>
          <a:bodyPr wrap="square">
            <a:spAutoFit/>
          </a:bodyPr>
          <a:lstStyle/>
          <a:p>
            <a:pPr algn="l">
              <a:defRPr sz="1400" b="1">
                <a:solidFill>
                  <a:srgbClr val="0D47A1"/>
                </a:solidFill>
                <a:latin typeface="Calibri"/>
              </a:defRPr>
            </a:pPr>
            <a:r>
              <a:t>Assign pLIN Codes</a:t>
            </a:r>
          </a:p>
        </p:txBody>
      </p:sp>
      <p:sp>
        <p:nvSpPr>
          <p:cNvPr id="72" name="TextBox 71"/>
          <p:cNvSpPr txBox="1"/>
          <p:nvPr/>
        </p:nvSpPr>
        <p:spPr>
          <a:xfrm>
            <a:off x="6766560" y="5559552"/>
            <a:ext cx="5029200" cy="274320"/>
          </a:xfrm>
          <a:prstGeom prst="rect">
            <a:avLst/>
          </a:prstGeom>
          <a:noFill/>
        </p:spPr>
        <p:txBody>
          <a:bodyPr wrap="square">
            <a:spAutoFit/>
          </a:bodyPr>
          <a:lstStyle/>
          <a:p>
            <a:pPr algn="l">
              <a:defRPr sz="1100" b="0">
                <a:solidFill>
                  <a:srgbClr val="757575"/>
                </a:solidFill>
                <a:latin typeface="Calibri"/>
              </a:defRPr>
            </a:pPr>
            <a:r>
              <a:t>Concatenate cluster IDs: A.B.C.D.E.F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Inc Group Auto-Detection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KNN classifier trained on 6,998 RefSeq plasmids across 20 Inc groups</a:t>
            </a:r>
          </a:p>
        </p:txBody>
      </p:sp>
      <p:sp>
        <p:nvSpPr>
          <p:cNvPr id="5" name="TextBox 4"/>
          <p:cNvSpPr txBox="1"/>
          <p:nvPr/>
        </p:nvSpPr>
        <p:spPr>
          <a:xfrm>
            <a:off x="457200" y="1463040"/>
            <a:ext cx="5486400" cy="457200"/>
          </a:xfrm>
          <a:prstGeom prst="rect">
            <a:avLst/>
          </a:prstGeom>
          <a:noFill/>
        </p:spPr>
        <p:txBody>
          <a:bodyPr wrap="square">
            <a:spAutoFit/>
          </a:bodyPr>
          <a:lstStyle/>
          <a:p>
            <a:pPr algn="l">
              <a:defRPr sz="1800" b="1">
                <a:solidFill>
                  <a:srgbClr val="0D47A1"/>
                </a:solidFill>
                <a:latin typeface="Calibri"/>
              </a:defRPr>
            </a:pPr>
            <a:r>
              <a:t>Training Dataset (Top 6 of 20 Inc Groups)</a:t>
            </a:r>
          </a:p>
        </p:txBody>
      </p:sp>
      <p:sp>
        <p:nvSpPr>
          <p:cNvPr id="6" name="Rounded Rectangle 5"/>
          <p:cNvSpPr/>
          <p:nvPr/>
        </p:nvSpPr>
        <p:spPr>
          <a:xfrm>
            <a:off x="457200" y="1920240"/>
            <a:ext cx="3324301" cy="45720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84248"/>
            <a:ext cx="3657600" cy="320040"/>
          </a:xfrm>
          <a:prstGeom prst="rect">
            <a:avLst/>
          </a:prstGeom>
          <a:noFill/>
        </p:spPr>
        <p:txBody>
          <a:bodyPr wrap="square">
            <a:spAutoFit/>
          </a:bodyPr>
          <a:lstStyle/>
          <a:p>
            <a:pPr algn="l">
              <a:defRPr sz="1200" b="1">
                <a:solidFill>
                  <a:srgbClr val="FFFFFF"/>
                </a:solidFill>
                <a:latin typeface="Calibri"/>
              </a:defRPr>
            </a:pPr>
            <a:r>
              <a:t>IncFII  —  4,629 (66.1%)</a:t>
            </a:r>
          </a:p>
        </p:txBody>
      </p:sp>
      <p:sp>
        <p:nvSpPr>
          <p:cNvPr id="8" name="Rounded Rectangle 7"/>
          <p:cNvSpPr/>
          <p:nvPr/>
        </p:nvSpPr>
        <p:spPr>
          <a:xfrm>
            <a:off x="457200" y="2560320"/>
            <a:ext cx="764438" cy="45720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624328"/>
            <a:ext cx="3657600" cy="320040"/>
          </a:xfrm>
          <a:prstGeom prst="rect">
            <a:avLst/>
          </a:prstGeom>
          <a:noFill/>
        </p:spPr>
        <p:txBody>
          <a:bodyPr wrap="square">
            <a:spAutoFit/>
          </a:bodyPr>
          <a:lstStyle/>
          <a:p>
            <a:pPr algn="l">
              <a:defRPr sz="1200" b="1">
                <a:solidFill>
                  <a:srgbClr val="FFFFFF"/>
                </a:solidFill>
                <a:latin typeface="Calibri"/>
              </a:defRPr>
            </a:pPr>
            <a:r>
              <a:t>IncN  —  1,064 (15.2%)</a:t>
            </a:r>
          </a:p>
        </p:txBody>
      </p:sp>
      <p:sp>
        <p:nvSpPr>
          <p:cNvPr id="10" name="Rounded Rectangle 9"/>
          <p:cNvSpPr/>
          <p:nvPr/>
        </p:nvSpPr>
        <p:spPr>
          <a:xfrm>
            <a:off x="457200" y="3200400"/>
            <a:ext cx="50292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64408"/>
            <a:ext cx="3657600" cy="320040"/>
          </a:xfrm>
          <a:prstGeom prst="rect">
            <a:avLst/>
          </a:prstGeom>
          <a:noFill/>
        </p:spPr>
        <p:txBody>
          <a:bodyPr wrap="square">
            <a:spAutoFit/>
          </a:bodyPr>
          <a:lstStyle/>
          <a:p>
            <a:pPr algn="l">
              <a:defRPr sz="1200" b="1">
                <a:solidFill>
                  <a:srgbClr val="FFFFFF"/>
                </a:solidFill>
                <a:latin typeface="Calibri"/>
              </a:defRPr>
            </a:pPr>
            <a:r>
              <a:t>IncX1  —  701 (10.0%)</a:t>
            </a:r>
          </a:p>
        </p:txBody>
      </p:sp>
      <p:sp>
        <p:nvSpPr>
          <p:cNvPr id="12" name="Rounded Rectangle 11"/>
          <p:cNvSpPr/>
          <p:nvPr/>
        </p:nvSpPr>
        <p:spPr>
          <a:xfrm>
            <a:off x="457200" y="3840479"/>
            <a:ext cx="457200" cy="45720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904487"/>
            <a:ext cx="3657600" cy="320040"/>
          </a:xfrm>
          <a:prstGeom prst="rect">
            <a:avLst/>
          </a:prstGeom>
          <a:noFill/>
        </p:spPr>
        <p:txBody>
          <a:bodyPr wrap="square">
            <a:spAutoFit/>
          </a:bodyPr>
          <a:lstStyle/>
          <a:p>
            <a:pPr algn="l">
              <a:defRPr sz="1200" b="1">
                <a:solidFill>
                  <a:srgbClr val="FFFFFF"/>
                </a:solidFill>
                <a:latin typeface="Calibri"/>
              </a:defRPr>
            </a:pPr>
            <a:r>
              <a:t>IncF  —  148 (2.1%)</a:t>
            </a:r>
          </a:p>
        </p:txBody>
      </p:sp>
      <p:sp>
        <p:nvSpPr>
          <p:cNvPr id="14" name="Rounded Rectangle 13"/>
          <p:cNvSpPr/>
          <p:nvPr/>
        </p:nvSpPr>
        <p:spPr>
          <a:xfrm>
            <a:off x="457200" y="4480560"/>
            <a:ext cx="457200" cy="45720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44568"/>
            <a:ext cx="3657600" cy="320040"/>
          </a:xfrm>
          <a:prstGeom prst="rect">
            <a:avLst/>
          </a:prstGeom>
          <a:noFill/>
        </p:spPr>
        <p:txBody>
          <a:bodyPr wrap="square">
            <a:spAutoFit/>
          </a:bodyPr>
          <a:lstStyle/>
          <a:p>
            <a:pPr algn="l">
              <a:defRPr sz="1200" b="1">
                <a:solidFill>
                  <a:srgbClr val="FFFFFF"/>
                </a:solidFill>
                <a:latin typeface="Calibri"/>
              </a:defRPr>
            </a:pPr>
            <a:r>
              <a:t>IncI1  —  72 (1.0%)</a:t>
            </a:r>
          </a:p>
        </p:txBody>
      </p:sp>
      <p:sp>
        <p:nvSpPr>
          <p:cNvPr id="16" name="Rounded Rectangle 15"/>
          <p:cNvSpPr/>
          <p:nvPr/>
        </p:nvSpPr>
        <p:spPr>
          <a:xfrm>
            <a:off x="457200" y="5120640"/>
            <a:ext cx="457200" cy="45720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184648"/>
            <a:ext cx="3657600" cy="320040"/>
          </a:xfrm>
          <a:prstGeom prst="rect">
            <a:avLst/>
          </a:prstGeom>
          <a:noFill/>
        </p:spPr>
        <p:txBody>
          <a:bodyPr wrap="square">
            <a:spAutoFit/>
          </a:bodyPr>
          <a:lstStyle/>
          <a:p>
            <a:pPr algn="l">
              <a:defRPr sz="1200" b="1">
                <a:solidFill>
                  <a:srgbClr val="FFFFFF"/>
                </a:solidFill>
                <a:latin typeface="Calibri"/>
              </a:defRPr>
            </a:pPr>
            <a:r>
              <a:t>Others (14)  —  384 (5.5%)</a:t>
            </a:r>
          </a:p>
        </p:txBody>
      </p:sp>
      <p:sp>
        <p:nvSpPr>
          <p:cNvPr id="18" name="TextBox 17"/>
          <p:cNvSpPr txBox="1"/>
          <p:nvPr/>
        </p:nvSpPr>
        <p:spPr>
          <a:xfrm>
            <a:off x="457200" y="5852160"/>
            <a:ext cx="5486400" cy="457200"/>
          </a:xfrm>
          <a:prstGeom prst="rect">
            <a:avLst/>
          </a:prstGeom>
          <a:noFill/>
        </p:spPr>
        <p:txBody>
          <a:bodyPr wrap="square">
            <a:spAutoFit/>
          </a:bodyPr>
          <a:lstStyle/>
          <a:p>
            <a:pPr algn="l">
              <a:defRPr sz="1600" b="1">
                <a:solidFill>
                  <a:srgbClr val="0D47A1"/>
                </a:solidFill>
                <a:latin typeface="Calibri"/>
              </a:defRPr>
            </a:pPr>
            <a:r>
              <a:t>Classifier Details</a:t>
            </a:r>
          </a:p>
        </p:txBody>
      </p:sp>
      <p:sp>
        <p:nvSpPr>
          <p:cNvPr id="19" name="TextBox 18"/>
          <p:cNvSpPr txBox="1"/>
          <p:nvPr/>
        </p:nvSpPr>
        <p:spPr>
          <a:xfrm>
            <a:off x="457200" y="6217920"/>
            <a:ext cx="5486400" cy="731520"/>
          </a:xfrm>
          <a:prstGeom prst="rect">
            <a:avLst/>
          </a:prstGeom>
          <a:noFill/>
        </p:spPr>
        <p:txBody>
          <a:bodyPr wrap="square">
            <a:spAutoFit/>
          </a:bodyPr>
          <a:lstStyle/>
          <a:p>
            <a:pPr>
              <a:spcAft>
                <a:spcPts val="200"/>
              </a:spcAft>
              <a:defRPr sz="1100">
                <a:solidFill>
                  <a:srgbClr val="333333"/>
                </a:solidFill>
                <a:latin typeface="Calibri"/>
              </a:defRPr>
            </a:pPr>
            <a:r>
              <a:t>Algorithm: K-Nearest Neighbors (k=5, cosine, distance-weighted)</a:t>
            </a:r>
          </a:p>
          <a:p>
            <a:pPr>
              <a:spcAft>
                <a:spcPts val="200"/>
              </a:spcAft>
              <a:defRPr sz="1100">
                <a:solidFill>
                  <a:srgbClr val="333333"/>
                </a:solidFill>
                <a:latin typeface="Calibri"/>
              </a:defRPr>
            </a:pPr>
            <a:r>
              <a:t>5-fold stratified cross-validation accuracy: 92.2%</a:t>
            </a:r>
          </a:p>
          <a:p>
            <a:pPr>
              <a:spcAft>
                <a:spcPts val="200"/>
              </a:spcAft>
              <a:defRPr sz="1100">
                <a:solidFill>
                  <a:srgbClr val="333333"/>
                </a:solidFill>
                <a:latin typeface="Calibri"/>
              </a:defRPr>
            </a:pPr>
            <a:r>
              <a:t>Dynamic k: adapts to smallest class size</a:t>
            </a:r>
          </a:p>
          <a:p>
            <a:pPr>
              <a:spcAft>
                <a:spcPts val="200"/>
              </a:spcAft>
              <a:defRPr sz="1100">
                <a:solidFill>
                  <a:srgbClr val="333333"/>
                </a:solidFill>
                <a:latin typeface="Calibri"/>
              </a:defRPr>
            </a:pPr>
            <a:r>
              <a:t>Model file: data/inc_classifier.npz</a:t>
            </a:r>
          </a:p>
        </p:txBody>
      </p:sp>
      <p:sp>
        <p:nvSpPr>
          <p:cNvPr id="20" name="TextBox 19"/>
          <p:cNvSpPr txBox="1"/>
          <p:nvPr/>
        </p:nvSpPr>
        <p:spPr>
          <a:xfrm>
            <a:off x="6400800" y="1463040"/>
            <a:ext cx="5486400" cy="457200"/>
          </a:xfrm>
          <a:prstGeom prst="rect">
            <a:avLst/>
          </a:prstGeom>
          <a:noFill/>
        </p:spPr>
        <p:txBody>
          <a:bodyPr wrap="square">
            <a:spAutoFit/>
          </a:bodyPr>
          <a:lstStyle/>
          <a:p>
            <a:pPr algn="l">
              <a:defRPr sz="2000" b="1">
                <a:solidFill>
                  <a:srgbClr val="0D47A1"/>
                </a:solidFill>
                <a:latin typeface="Calibri"/>
              </a:defRPr>
            </a:pPr>
            <a:r>
              <a:t>How Auto-Detection Works</a:t>
            </a:r>
          </a:p>
        </p:txBody>
      </p:sp>
      <p:sp>
        <p:nvSpPr>
          <p:cNvPr id="21" name="Oval 20"/>
          <p:cNvSpPr/>
          <p:nvPr/>
        </p:nvSpPr>
        <p:spPr>
          <a:xfrm>
            <a:off x="6400800" y="2103120"/>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22" name="TextBox 21"/>
          <p:cNvSpPr txBox="1"/>
          <p:nvPr/>
        </p:nvSpPr>
        <p:spPr>
          <a:xfrm>
            <a:off x="6858000" y="2103120"/>
            <a:ext cx="5029200" cy="320040"/>
          </a:xfrm>
          <a:prstGeom prst="rect">
            <a:avLst/>
          </a:prstGeom>
          <a:noFill/>
        </p:spPr>
        <p:txBody>
          <a:bodyPr wrap="square">
            <a:spAutoFit/>
          </a:bodyPr>
          <a:lstStyle/>
          <a:p>
            <a:pPr algn="l">
              <a:defRPr sz="1300" b="0">
                <a:solidFill>
                  <a:srgbClr val="333333"/>
                </a:solidFill>
                <a:latin typeface="Calibri"/>
              </a:defRPr>
            </a:pPr>
            <a:r>
              <a:t>Upload new plasmid FASTA</a:t>
            </a:r>
          </a:p>
        </p:txBody>
      </p:sp>
      <p:sp>
        <p:nvSpPr>
          <p:cNvPr id="23" name="Oval 22"/>
          <p:cNvSpPr/>
          <p:nvPr/>
        </p:nvSpPr>
        <p:spPr>
          <a:xfrm>
            <a:off x="6400800" y="2697479"/>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24" name="TextBox 23"/>
          <p:cNvSpPr txBox="1"/>
          <p:nvPr/>
        </p:nvSpPr>
        <p:spPr>
          <a:xfrm>
            <a:off x="6858000" y="2697479"/>
            <a:ext cx="5029200" cy="320040"/>
          </a:xfrm>
          <a:prstGeom prst="rect">
            <a:avLst/>
          </a:prstGeom>
          <a:noFill/>
        </p:spPr>
        <p:txBody>
          <a:bodyPr wrap="square">
            <a:spAutoFit/>
          </a:bodyPr>
          <a:lstStyle/>
          <a:p>
            <a:pPr algn="l">
              <a:defRPr sz="1300" b="0">
                <a:solidFill>
                  <a:srgbClr val="333333"/>
                </a:solidFill>
                <a:latin typeface="Calibri"/>
              </a:defRPr>
            </a:pPr>
            <a:r>
              <a:t>Compute 4-mer frequency vector (256 features)</a:t>
            </a:r>
          </a:p>
        </p:txBody>
      </p:sp>
      <p:sp>
        <p:nvSpPr>
          <p:cNvPr id="25" name="Oval 24"/>
          <p:cNvSpPr/>
          <p:nvPr/>
        </p:nvSpPr>
        <p:spPr>
          <a:xfrm>
            <a:off x="6400800" y="3291839"/>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26" name="TextBox 25"/>
          <p:cNvSpPr txBox="1"/>
          <p:nvPr/>
        </p:nvSpPr>
        <p:spPr>
          <a:xfrm>
            <a:off x="6858000" y="3291839"/>
            <a:ext cx="5029200" cy="320040"/>
          </a:xfrm>
          <a:prstGeom prst="rect">
            <a:avLst/>
          </a:prstGeom>
          <a:noFill/>
        </p:spPr>
        <p:txBody>
          <a:bodyPr wrap="square">
            <a:spAutoFit/>
          </a:bodyPr>
          <a:lstStyle/>
          <a:p>
            <a:pPr algn="l">
              <a:defRPr sz="1300" b="0">
                <a:solidFill>
                  <a:srgbClr val="333333"/>
                </a:solidFill>
                <a:latin typeface="Calibri"/>
              </a:defRPr>
            </a:pPr>
            <a:r>
              <a:t>Find 5 nearest neighbors in training set (cosine distance)</a:t>
            </a:r>
          </a:p>
        </p:txBody>
      </p:sp>
      <p:sp>
        <p:nvSpPr>
          <p:cNvPr id="27" name="Oval 26"/>
          <p:cNvSpPr/>
          <p:nvPr/>
        </p:nvSpPr>
        <p:spPr>
          <a:xfrm>
            <a:off x="6400800" y="3886200"/>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28" name="TextBox 27"/>
          <p:cNvSpPr txBox="1"/>
          <p:nvPr/>
        </p:nvSpPr>
        <p:spPr>
          <a:xfrm>
            <a:off x="6858000" y="3886200"/>
            <a:ext cx="5029200" cy="320040"/>
          </a:xfrm>
          <a:prstGeom prst="rect">
            <a:avLst/>
          </a:prstGeom>
          <a:noFill/>
        </p:spPr>
        <p:txBody>
          <a:bodyPr wrap="square">
            <a:spAutoFit/>
          </a:bodyPr>
          <a:lstStyle/>
          <a:p>
            <a:pPr algn="l">
              <a:defRPr sz="1300" b="0">
                <a:solidFill>
                  <a:srgbClr val="333333"/>
                </a:solidFill>
                <a:latin typeface="Calibri"/>
              </a:defRPr>
            </a:pPr>
            <a:r>
              <a:t>Distance-weighted vote → Inc group prediction</a:t>
            </a:r>
          </a:p>
        </p:txBody>
      </p:sp>
      <p:sp>
        <p:nvSpPr>
          <p:cNvPr id="29" name="Oval 28"/>
          <p:cNvSpPr/>
          <p:nvPr/>
        </p:nvSpPr>
        <p:spPr>
          <a:xfrm>
            <a:off x="6400800" y="4480560"/>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30" name="TextBox 29"/>
          <p:cNvSpPr txBox="1"/>
          <p:nvPr/>
        </p:nvSpPr>
        <p:spPr>
          <a:xfrm>
            <a:off x="6858000" y="4480560"/>
            <a:ext cx="5029200" cy="320040"/>
          </a:xfrm>
          <a:prstGeom prst="rect">
            <a:avLst/>
          </a:prstGeom>
          <a:noFill/>
        </p:spPr>
        <p:txBody>
          <a:bodyPr wrap="square">
            <a:spAutoFit/>
          </a:bodyPr>
          <a:lstStyle/>
          <a:p>
            <a:pPr algn="l">
              <a:defRPr sz="1300" b="0">
                <a:solidFill>
                  <a:srgbClr val="333333"/>
                </a:solidFill>
                <a:latin typeface="Calibri"/>
              </a:defRPr>
            </a:pPr>
            <a:r>
              <a:t>Return predicted group + confidence probability</a:t>
            </a:r>
          </a:p>
        </p:txBody>
      </p:sp>
      <p:sp>
        <p:nvSpPr>
          <p:cNvPr id="31" name="Rounded Rectangle 30"/>
          <p:cNvSpPr/>
          <p:nvPr/>
        </p:nvSpPr>
        <p:spPr>
          <a:xfrm>
            <a:off x="6400800" y="5212080"/>
            <a:ext cx="5303520" cy="1188720"/>
          </a:xfrm>
          <a:prstGeom prst="roundRect">
            <a:avLst/>
          </a:prstGeom>
          <a:solidFill>
            <a:srgbClr val="FFF8E1"/>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5303520"/>
            <a:ext cx="4937760" cy="274320"/>
          </a:xfrm>
          <a:prstGeom prst="rect">
            <a:avLst/>
          </a:prstGeom>
          <a:noFill/>
        </p:spPr>
        <p:txBody>
          <a:bodyPr wrap="square">
            <a:spAutoFit/>
          </a:bodyPr>
          <a:lstStyle/>
          <a:p>
            <a:pPr algn="l">
              <a:defRPr sz="1200" b="1">
                <a:solidFill>
                  <a:srgbClr val="FB8C00"/>
                </a:solidFill>
                <a:latin typeface="Calibri"/>
              </a:defRPr>
            </a:pPr>
            <a:r>
              <a:t>Example Output:</a:t>
            </a:r>
          </a:p>
        </p:txBody>
      </p:sp>
      <p:sp>
        <p:nvSpPr>
          <p:cNvPr id="33" name="TextBox 32"/>
          <p:cNvSpPr txBox="1"/>
          <p:nvPr/>
        </p:nvSpPr>
        <p:spPr>
          <a:xfrm>
            <a:off x="6583680" y="5577840"/>
            <a:ext cx="4937760" cy="731520"/>
          </a:xfrm>
          <a:prstGeom prst="rect">
            <a:avLst/>
          </a:prstGeom>
          <a:noFill/>
        </p:spPr>
        <p:txBody>
          <a:bodyPr wrap="square">
            <a:spAutoFit/>
          </a:bodyPr>
          <a:lstStyle/>
          <a:p>
            <a:pPr>
              <a:spcAft>
                <a:spcPts val="200"/>
              </a:spcAft>
              <a:defRPr sz="1100">
                <a:solidFill>
                  <a:srgbClr val="333333"/>
                </a:solidFill>
                <a:latin typeface="Consolas"/>
              </a:defRPr>
            </a:pPr>
            <a:r>
              <a:t>Plasmid: SP12_P2  →  IncX1 (confidence: 0.79)</a:t>
            </a:r>
          </a:p>
          <a:p>
            <a:pPr>
              <a:spcAft>
                <a:spcPts val="200"/>
              </a:spcAft>
              <a:defRPr sz="1100">
                <a:solidFill>
                  <a:srgbClr val="333333"/>
                </a:solidFill>
                <a:latin typeface="Consolas"/>
              </a:defRPr>
            </a:pPr>
            <a:r>
              <a:t>  Top 5: IncX1: 0.79 | IncN: 0.12 | IncX3: 0.04 | IncFII: 0.03 | IncI1: 0.02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AMRFinderPlus Integration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NCBI antimicrobial resistance gene detection pipeline</a:t>
            </a:r>
          </a:p>
        </p:txBody>
      </p:sp>
      <p:sp>
        <p:nvSpPr>
          <p:cNvPr id="5" name="TextBox 4"/>
          <p:cNvSpPr txBox="1"/>
          <p:nvPr/>
        </p:nvSpPr>
        <p:spPr>
          <a:xfrm>
            <a:off x="457200" y="1463040"/>
            <a:ext cx="5486400" cy="457200"/>
          </a:xfrm>
          <a:prstGeom prst="rect">
            <a:avLst/>
          </a:prstGeom>
          <a:noFill/>
        </p:spPr>
        <p:txBody>
          <a:bodyPr wrap="square">
            <a:spAutoFit/>
          </a:bodyPr>
          <a:lstStyle/>
          <a:p>
            <a:pPr algn="l">
              <a:defRPr sz="2000" b="1">
                <a:solidFill>
                  <a:srgbClr val="E53935"/>
                </a:solidFill>
                <a:latin typeface="Calibri"/>
              </a:defRPr>
            </a:pPr>
            <a:r>
              <a:t>AMR Detection Pipeline</a:t>
            </a:r>
          </a:p>
        </p:txBody>
      </p:sp>
      <p:sp>
        <p:nvSpPr>
          <p:cNvPr id="6" name="Rounded Rectangle 5"/>
          <p:cNvSpPr/>
          <p:nvPr/>
        </p:nvSpPr>
        <p:spPr>
          <a:xfrm>
            <a:off x="457200" y="2103120"/>
            <a:ext cx="5303520" cy="640080"/>
          </a:xfrm>
          <a:prstGeom prst="roundRect">
            <a:avLst/>
          </a:prstGeom>
          <a:solidFill>
            <a:srgbClr val="FFFFFF"/>
          </a:solidFill>
          <a:ln w="25400">
            <a:solidFill>
              <a:srgbClr val="789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1645920" cy="274320"/>
          </a:xfrm>
          <a:prstGeom prst="rect">
            <a:avLst/>
          </a:prstGeom>
          <a:noFill/>
        </p:spPr>
        <p:txBody>
          <a:bodyPr wrap="square">
            <a:spAutoFit/>
          </a:bodyPr>
          <a:lstStyle/>
          <a:p>
            <a:pPr algn="l">
              <a:defRPr sz="1300" b="1">
                <a:solidFill>
                  <a:srgbClr val="78909C"/>
                </a:solidFill>
                <a:latin typeface="Calibri"/>
              </a:defRPr>
            </a:pPr>
            <a:r>
              <a:t>Auto-Detect</a:t>
            </a:r>
          </a:p>
        </p:txBody>
      </p:sp>
      <p:sp>
        <p:nvSpPr>
          <p:cNvPr id="8" name="TextBox 7"/>
          <p:cNvSpPr txBox="1"/>
          <p:nvPr/>
        </p:nvSpPr>
        <p:spPr>
          <a:xfrm>
            <a:off x="640080" y="2423160"/>
            <a:ext cx="4937760" cy="274320"/>
          </a:xfrm>
          <a:prstGeom prst="rect">
            <a:avLst/>
          </a:prstGeom>
          <a:noFill/>
        </p:spPr>
        <p:txBody>
          <a:bodyPr wrap="square">
            <a:spAutoFit/>
          </a:bodyPr>
          <a:lstStyle/>
          <a:p>
            <a:pPr algn="l">
              <a:defRPr sz="1100" b="0">
                <a:solidFill>
                  <a:srgbClr val="757575"/>
                </a:solidFill>
                <a:latin typeface="Calibri"/>
              </a:defRPr>
            </a:pPr>
            <a:r>
              <a:t>Search PATH, conda envs for amrfinder binary</a:t>
            </a:r>
          </a:p>
        </p:txBody>
      </p:sp>
      <p:sp>
        <p:nvSpPr>
          <p:cNvPr id="9" name="Rounded Rectangle 8"/>
          <p:cNvSpPr/>
          <p:nvPr/>
        </p:nvSpPr>
        <p:spPr>
          <a:xfrm>
            <a:off x="457200" y="2880360"/>
            <a:ext cx="5303520" cy="640080"/>
          </a:xfrm>
          <a:prstGeom prst="round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926080"/>
            <a:ext cx="1645920" cy="274320"/>
          </a:xfrm>
          <a:prstGeom prst="rect">
            <a:avLst/>
          </a:prstGeom>
          <a:noFill/>
        </p:spPr>
        <p:txBody>
          <a:bodyPr wrap="square">
            <a:spAutoFit/>
          </a:bodyPr>
          <a:lstStyle/>
          <a:p>
            <a:pPr algn="l">
              <a:defRPr sz="1300" b="1">
                <a:solidFill>
                  <a:srgbClr val="E53935"/>
                </a:solidFill>
                <a:latin typeface="Calibri"/>
              </a:defRPr>
            </a:pPr>
            <a:r>
              <a:t>Run per File</a:t>
            </a:r>
          </a:p>
        </p:txBody>
      </p:sp>
      <p:sp>
        <p:nvSpPr>
          <p:cNvPr id="11" name="TextBox 10"/>
          <p:cNvSpPr txBox="1"/>
          <p:nvPr/>
        </p:nvSpPr>
        <p:spPr>
          <a:xfrm>
            <a:off x="640080" y="3200400"/>
            <a:ext cx="4937760" cy="274320"/>
          </a:xfrm>
          <a:prstGeom prst="rect">
            <a:avLst/>
          </a:prstGeom>
          <a:noFill/>
        </p:spPr>
        <p:txBody>
          <a:bodyPr wrap="square">
            <a:spAutoFit/>
          </a:bodyPr>
          <a:lstStyle/>
          <a:p>
            <a:pPr algn="l">
              <a:defRPr sz="1100" b="0">
                <a:solidFill>
                  <a:srgbClr val="757575"/>
                </a:solidFill>
                <a:latin typeface="Calibri"/>
              </a:defRPr>
            </a:pPr>
            <a:r>
              <a:t>amrfinder -n {fasta} -d {db} --plus -o {output}</a:t>
            </a:r>
          </a:p>
        </p:txBody>
      </p:sp>
      <p:sp>
        <p:nvSpPr>
          <p:cNvPr id="12" name="Rounded Rectangle 11"/>
          <p:cNvSpPr/>
          <p:nvPr/>
        </p:nvSpPr>
        <p:spPr>
          <a:xfrm>
            <a:off x="457200" y="3657600"/>
            <a:ext cx="5303520" cy="64008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03320"/>
            <a:ext cx="1645920" cy="274320"/>
          </a:xfrm>
          <a:prstGeom prst="rect">
            <a:avLst/>
          </a:prstGeom>
          <a:noFill/>
        </p:spPr>
        <p:txBody>
          <a:bodyPr wrap="square">
            <a:spAutoFit/>
          </a:bodyPr>
          <a:lstStyle/>
          <a:p>
            <a:pPr algn="l">
              <a:defRPr sz="1300" b="1">
                <a:solidFill>
                  <a:srgbClr val="FB8C00"/>
                </a:solidFill>
                <a:latin typeface="Calibri"/>
              </a:defRPr>
            </a:pPr>
            <a:r>
              <a:t>Parse Results</a:t>
            </a:r>
          </a:p>
        </p:txBody>
      </p:sp>
      <p:sp>
        <p:nvSpPr>
          <p:cNvPr id="14" name="TextBox 13"/>
          <p:cNvSpPr txBox="1"/>
          <p:nvPr/>
        </p:nvSpPr>
        <p:spPr>
          <a:xfrm>
            <a:off x="640080" y="3977640"/>
            <a:ext cx="4937760" cy="274320"/>
          </a:xfrm>
          <a:prstGeom prst="rect">
            <a:avLst/>
          </a:prstGeom>
          <a:noFill/>
        </p:spPr>
        <p:txBody>
          <a:bodyPr wrap="square">
            <a:spAutoFit/>
          </a:bodyPr>
          <a:lstStyle/>
          <a:p>
            <a:pPr algn="l">
              <a:defRPr sz="1100" b="0">
                <a:solidFill>
                  <a:srgbClr val="757575"/>
                </a:solidFill>
                <a:latin typeface="Calibri"/>
              </a:defRPr>
            </a:pPr>
            <a:r>
              <a:t>Read TSV output: gene, class, type, coordinates</a:t>
            </a:r>
          </a:p>
        </p:txBody>
      </p:sp>
      <p:sp>
        <p:nvSpPr>
          <p:cNvPr id="15" name="Rounded Rectangle 14"/>
          <p:cNvSpPr/>
          <p:nvPr/>
        </p:nvSpPr>
        <p:spPr>
          <a:xfrm>
            <a:off x="457200" y="4434840"/>
            <a:ext cx="5303520" cy="640080"/>
          </a:xfrm>
          <a:prstGeom prst="roundRect">
            <a:avLst/>
          </a:prstGeom>
          <a:solidFill>
            <a:srgbClr val="FFFFFF"/>
          </a:solidFill>
          <a:ln w="254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480560"/>
            <a:ext cx="1645920" cy="274320"/>
          </a:xfrm>
          <a:prstGeom prst="rect">
            <a:avLst/>
          </a:prstGeom>
          <a:noFill/>
        </p:spPr>
        <p:txBody>
          <a:bodyPr wrap="square">
            <a:spAutoFit/>
          </a:bodyPr>
          <a:lstStyle/>
          <a:p>
            <a:pPr algn="l">
              <a:defRPr sz="1300" b="1">
                <a:solidFill>
                  <a:srgbClr val="8E24AA"/>
                </a:solidFill>
                <a:latin typeface="Calibri"/>
              </a:defRPr>
            </a:pPr>
            <a:r>
              <a:t>Integrate</a:t>
            </a:r>
          </a:p>
        </p:txBody>
      </p:sp>
      <p:sp>
        <p:nvSpPr>
          <p:cNvPr id="17" name="TextBox 16"/>
          <p:cNvSpPr txBox="1"/>
          <p:nvPr/>
        </p:nvSpPr>
        <p:spPr>
          <a:xfrm>
            <a:off x="640080" y="4754880"/>
            <a:ext cx="4937760" cy="274320"/>
          </a:xfrm>
          <a:prstGeom prst="rect">
            <a:avLst/>
          </a:prstGeom>
          <a:noFill/>
        </p:spPr>
        <p:txBody>
          <a:bodyPr wrap="square">
            <a:spAutoFit/>
          </a:bodyPr>
          <a:lstStyle/>
          <a:p>
            <a:pPr algn="l">
              <a:defRPr sz="1100" b="0">
                <a:solidFill>
                  <a:srgbClr val="757575"/>
                </a:solidFill>
                <a:latin typeface="Calibri"/>
              </a:defRPr>
            </a:pPr>
            <a:r>
              <a:t>Merge AMR hits with pLIN assignments per plasmid</a:t>
            </a:r>
          </a:p>
        </p:txBody>
      </p:sp>
      <p:sp>
        <p:nvSpPr>
          <p:cNvPr id="18" name="Rounded Rectangle 17"/>
          <p:cNvSpPr/>
          <p:nvPr/>
        </p:nvSpPr>
        <p:spPr>
          <a:xfrm>
            <a:off x="457200" y="5212079"/>
            <a:ext cx="5303520" cy="640080"/>
          </a:xfrm>
          <a:prstGeom prst="roundRect">
            <a:avLst/>
          </a:prstGeom>
          <a:solidFill>
            <a:srgbClr val="FFFFFF"/>
          </a:solidFill>
          <a:ln w="254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57799"/>
            <a:ext cx="1645920" cy="274320"/>
          </a:xfrm>
          <a:prstGeom prst="rect">
            <a:avLst/>
          </a:prstGeom>
          <a:noFill/>
        </p:spPr>
        <p:txBody>
          <a:bodyPr wrap="square">
            <a:spAutoFit/>
          </a:bodyPr>
          <a:lstStyle/>
          <a:p>
            <a:pPr algn="l">
              <a:defRPr sz="1300" b="1">
                <a:solidFill>
                  <a:srgbClr val="009688"/>
                </a:solidFill>
                <a:latin typeface="Calibri"/>
              </a:defRPr>
            </a:pPr>
            <a:r>
              <a:t>Visualize</a:t>
            </a:r>
          </a:p>
        </p:txBody>
      </p:sp>
      <p:sp>
        <p:nvSpPr>
          <p:cNvPr id="20" name="TextBox 19"/>
          <p:cNvSpPr txBox="1"/>
          <p:nvPr/>
        </p:nvSpPr>
        <p:spPr>
          <a:xfrm>
            <a:off x="640080" y="5532119"/>
            <a:ext cx="4937760" cy="274320"/>
          </a:xfrm>
          <a:prstGeom prst="rect">
            <a:avLst/>
          </a:prstGeom>
          <a:noFill/>
        </p:spPr>
        <p:txBody>
          <a:bodyPr wrap="square">
            <a:spAutoFit/>
          </a:bodyPr>
          <a:lstStyle/>
          <a:p>
            <a:pPr algn="l">
              <a:defRPr sz="1100" b="0">
                <a:solidFill>
                  <a:srgbClr val="757575"/>
                </a:solidFill>
                <a:latin typeface="Calibri"/>
              </a:defRPr>
            </a:pPr>
            <a:r>
              <a:t>Heatmaps, bar charts, pie charts, alerts</a:t>
            </a:r>
          </a:p>
        </p:txBody>
      </p:sp>
      <p:sp>
        <p:nvSpPr>
          <p:cNvPr id="21" name="TextBox 20"/>
          <p:cNvSpPr txBox="1"/>
          <p:nvPr/>
        </p:nvSpPr>
        <p:spPr>
          <a:xfrm>
            <a:off x="6400800" y="1463040"/>
            <a:ext cx="5486400" cy="457200"/>
          </a:xfrm>
          <a:prstGeom prst="rect">
            <a:avLst/>
          </a:prstGeom>
          <a:noFill/>
        </p:spPr>
        <p:txBody>
          <a:bodyPr wrap="square">
            <a:spAutoFit/>
          </a:bodyPr>
          <a:lstStyle/>
          <a:p>
            <a:pPr algn="l">
              <a:defRPr sz="2000" b="1">
                <a:solidFill>
                  <a:srgbClr val="E53935"/>
                </a:solidFill>
                <a:latin typeface="Calibri"/>
              </a:defRPr>
            </a:pPr>
            <a:r>
              <a:t>Detection Categories</a:t>
            </a:r>
          </a:p>
        </p:txBody>
      </p:sp>
      <p:sp>
        <p:nvSpPr>
          <p:cNvPr id="22" name="Rounded Rectangle 21"/>
          <p:cNvSpPr/>
          <p:nvPr/>
        </p:nvSpPr>
        <p:spPr>
          <a:xfrm>
            <a:off x="6400800" y="2103120"/>
            <a:ext cx="5303520" cy="1097280"/>
          </a:xfrm>
          <a:prstGeom prst="round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75120" y="2423160"/>
            <a:ext cx="365760" cy="36576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2194560"/>
            <a:ext cx="2743200" cy="320040"/>
          </a:xfrm>
          <a:prstGeom prst="rect">
            <a:avLst/>
          </a:prstGeom>
          <a:noFill/>
        </p:spPr>
        <p:txBody>
          <a:bodyPr wrap="square">
            <a:spAutoFit/>
          </a:bodyPr>
          <a:lstStyle/>
          <a:p>
            <a:pPr algn="l">
              <a:defRPr sz="1500" b="1">
                <a:solidFill>
                  <a:srgbClr val="E53935"/>
                </a:solidFill>
                <a:latin typeface="Calibri"/>
              </a:defRPr>
            </a:pPr>
            <a:r>
              <a:t>AMR Genes</a:t>
            </a:r>
          </a:p>
        </p:txBody>
      </p:sp>
      <p:sp>
        <p:nvSpPr>
          <p:cNvPr id="25" name="TextBox 24"/>
          <p:cNvSpPr txBox="1"/>
          <p:nvPr/>
        </p:nvSpPr>
        <p:spPr>
          <a:xfrm>
            <a:off x="7223760" y="2560320"/>
            <a:ext cx="4114800" cy="548640"/>
          </a:xfrm>
          <a:prstGeom prst="rect">
            <a:avLst/>
          </a:prstGeom>
          <a:noFill/>
        </p:spPr>
        <p:txBody>
          <a:bodyPr wrap="square">
            <a:spAutoFit/>
          </a:bodyPr>
          <a:lstStyle/>
          <a:p>
            <a:pPr algn="l">
              <a:defRPr sz="1100" b="0">
                <a:solidFill>
                  <a:srgbClr val="757575"/>
                </a:solidFill>
                <a:latin typeface="Calibri"/>
              </a:defRPr>
            </a:pPr>
            <a:r>
              <a:t>Antibiotic resistance genes</a:t>
            </a:r>
            <a:br/>
            <a:r>
              <a:t>blaNDM, blaKPC, blaSHV, mcr, etc.</a:t>
            </a:r>
          </a:p>
        </p:txBody>
      </p:sp>
      <p:sp>
        <p:nvSpPr>
          <p:cNvPr id="26" name="TextBox 25"/>
          <p:cNvSpPr txBox="1"/>
          <p:nvPr/>
        </p:nvSpPr>
        <p:spPr>
          <a:xfrm>
            <a:off x="10058400" y="2286000"/>
            <a:ext cx="1371600" cy="731520"/>
          </a:xfrm>
          <a:prstGeom prst="rect">
            <a:avLst/>
          </a:prstGeom>
          <a:noFill/>
        </p:spPr>
        <p:txBody>
          <a:bodyPr wrap="square">
            <a:spAutoFit/>
          </a:bodyPr>
          <a:lstStyle/>
          <a:p>
            <a:pPr algn="r">
              <a:defRPr sz="2200" b="1">
                <a:solidFill>
                  <a:srgbClr val="E53935"/>
                </a:solidFill>
                <a:latin typeface="Calibri"/>
              </a:defRPr>
            </a:pPr>
            <a:r>
              <a:t>27,465</a:t>
            </a:r>
          </a:p>
        </p:txBody>
      </p:sp>
      <p:sp>
        <p:nvSpPr>
          <p:cNvPr id="27" name="Rounded Rectangle 26"/>
          <p:cNvSpPr/>
          <p:nvPr/>
        </p:nvSpPr>
        <p:spPr>
          <a:xfrm>
            <a:off x="6400800" y="3383279"/>
            <a:ext cx="5303520" cy="109728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75120" y="3703319"/>
            <a:ext cx="365760" cy="36576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0" y="3474719"/>
            <a:ext cx="2743200" cy="320040"/>
          </a:xfrm>
          <a:prstGeom prst="rect">
            <a:avLst/>
          </a:prstGeom>
          <a:noFill/>
        </p:spPr>
        <p:txBody>
          <a:bodyPr wrap="square">
            <a:spAutoFit/>
          </a:bodyPr>
          <a:lstStyle/>
          <a:p>
            <a:pPr algn="l">
              <a:defRPr sz="1500" b="1">
                <a:solidFill>
                  <a:srgbClr val="FB8C00"/>
                </a:solidFill>
                <a:latin typeface="Calibri"/>
              </a:defRPr>
            </a:pPr>
            <a:r>
              <a:t>Stress Genes</a:t>
            </a:r>
          </a:p>
        </p:txBody>
      </p:sp>
      <p:sp>
        <p:nvSpPr>
          <p:cNvPr id="30" name="TextBox 29"/>
          <p:cNvSpPr txBox="1"/>
          <p:nvPr/>
        </p:nvSpPr>
        <p:spPr>
          <a:xfrm>
            <a:off x="7223760" y="3840479"/>
            <a:ext cx="4114800" cy="548640"/>
          </a:xfrm>
          <a:prstGeom prst="rect">
            <a:avLst/>
          </a:prstGeom>
          <a:noFill/>
        </p:spPr>
        <p:txBody>
          <a:bodyPr wrap="square">
            <a:spAutoFit/>
          </a:bodyPr>
          <a:lstStyle/>
          <a:p>
            <a:pPr algn="l">
              <a:defRPr sz="1100" b="0">
                <a:solidFill>
                  <a:srgbClr val="757575"/>
                </a:solidFill>
                <a:latin typeface="Calibri"/>
              </a:defRPr>
            </a:pPr>
            <a:r>
              <a:t>Biocide/metal resistance</a:t>
            </a:r>
            <a:br/>
            <a:r>
              <a:t>bleomycin, mercury, arsenic, etc.</a:t>
            </a:r>
          </a:p>
        </p:txBody>
      </p:sp>
      <p:sp>
        <p:nvSpPr>
          <p:cNvPr id="31" name="TextBox 30"/>
          <p:cNvSpPr txBox="1"/>
          <p:nvPr/>
        </p:nvSpPr>
        <p:spPr>
          <a:xfrm>
            <a:off x="10058400" y="3566159"/>
            <a:ext cx="1371600" cy="731520"/>
          </a:xfrm>
          <a:prstGeom prst="rect">
            <a:avLst/>
          </a:prstGeom>
          <a:noFill/>
        </p:spPr>
        <p:txBody>
          <a:bodyPr wrap="square">
            <a:spAutoFit/>
          </a:bodyPr>
          <a:lstStyle/>
          <a:p>
            <a:pPr algn="r">
              <a:defRPr sz="2200" b="1">
                <a:solidFill>
                  <a:srgbClr val="FB8C00"/>
                </a:solidFill>
                <a:latin typeface="Calibri"/>
              </a:defRPr>
            </a:pPr>
            <a:r>
              <a:t>5,834</a:t>
            </a:r>
          </a:p>
        </p:txBody>
      </p:sp>
      <p:sp>
        <p:nvSpPr>
          <p:cNvPr id="32" name="Rounded Rectangle 31"/>
          <p:cNvSpPr/>
          <p:nvPr/>
        </p:nvSpPr>
        <p:spPr>
          <a:xfrm>
            <a:off x="6400800" y="4663440"/>
            <a:ext cx="5303520" cy="1097280"/>
          </a:xfrm>
          <a:prstGeom prst="roundRect">
            <a:avLst/>
          </a:prstGeom>
          <a:solidFill>
            <a:srgbClr val="FFFFFF"/>
          </a:solidFill>
          <a:ln w="254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75120" y="4983480"/>
            <a:ext cx="365760" cy="36576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0" y="4754880"/>
            <a:ext cx="2743200" cy="320040"/>
          </a:xfrm>
          <a:prstGeom prst="rect">
            <a:avLst/>
          </a:prstGeom>
          <a:noFill/>
        </p:spPr>
        <p:txBody>
          <a:bodyPr wrap="square">
            <a:spAutoFit/>
          </a:bodyPr>
          <a:lstStyle/>
          <a:p>
            <a:pPr algn="l">
              <a:defRPr sz="1500" b="1">
                <a:solidFill>
                  <a:srgbClr val="8E24AA"/>
                </a:solidFill>
                <a:latin typeface="Calibri"/>
              </a:defRPr>
            </a:pPr>
            <a:r>
              <a:t>Virulence</a:t>
            </a:r>
          </a:p>
        </p:txBody>
      </p:sp>
      <p:sp>
        <p:nvSpPr>
          <p:cNvPr id="35" name="TextBox 34"/>
          <p:cNvSpPr txBox="1"/>
          <p:nvPr/>
        </p:nvSpPr>
        <p:spPr>
          <a:xfrm>
            <a:off x="7223760" y="5120640"/>
            <a:ext cx="4114800" cy="548640"/>
          </a:xfrm>
          <a:prstGeom prst="rect">
            <a:avLst/>
          </a:prstGeom>
          <a:noFill/>
        </p:spPr>
        <p:txBody>
          <a:bodyPr wrap="square">
            <a:spAutoFit/>
          </a:bodyPr>
          <a:lstStyle/>
          <a:p>
            <a:pPr algn="l">
              <a:defRPr sz="1100" b="0">
                <a:solidFill>
                  <a:srgbClr val="757575"/>
                </a:solidFill>
                <a:latin typeface="Calibri"/>
              </a:defRPr>
            </a:pPr>
            <a:r>
              <a:t>Virulence-associated factors</a:t>
            </a:r>
            <a:br/>
            <a:r>
              <a:t>Type III secretion, toxins, etc.</a:t>
            </a:r>
          </a:p>
        </p:txBody>
      </p:sp>
      <p:sp>
        <p:nvSpPr>
          <p:cNvPr id="36" name="TextBox 35"/>
          <p:cNvSpPr txBox="1"/>
          <p:nvPr/>
        </p:nvSpPr>
        <p:spPr>
          <a:xfrm>
            <a:off x="10058400" y="4846320"/>
            <a:ext cx="1371600" cy="731520"/>
          </a:xfrm>
          <a:prstGeom prst="rect">
            <a:avLst/>
          </a:prstGeom>
          <a:noFill/>
        </p:spPr>
        <p:txBody>
          <a:bodyPr wrap="square">
            <a:spAutoFit/>
          </a:bodyPr>
          <a:lstStyle/>
          <a:p>
            <a:pPr algn="r">
              <a:defRPr sz="2200" b="1">
                <a:solidFill>
                  <a:srgbClr val="8E24AA"/>
                </a:solidFill>
                <a:latin typeface="Calibri"/>
              </a:defRPr>
            </a:pPr>
            <a:r>
              <a:t>1,200+</a:t>
            </a:r>
          </a:p>
        </p:txBody>
      </p:sp>
      <p:sp>
        <p:nvSpPr>
          <p:cNvPr id="37" name="Rounded Rectangle 36"/>
          <p:cNvSpPr/>
          <p:nvPr/>
        </p:nvSpPr>
        <p:spPr>
          <a:xfrm>
            <a:off x="6400800" y="5486400"/>
            <a:ext cx="5303520" cy="914400"/>
          </a:xfrm>
          <a:prstGeom prst="roundRect">
            <a:avLst/>
          </a:prstGeom>
          <a:solidFill>
            <a:srgbClr val="FFEBEE"/>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5577840"/>
            <a:ext cx="4937760" cy="274320"/>
          </a:xfrm>
          <a:prstGeom prst="rect">
            <a:avLst/>
          </a:prstGeom>
          <a:noFill/>
        </p:spPr>
        <p:txBody>
          <a:bodyPr wrap="square">
            <a:spAutoFit/>
          </a:bodyPr>
          <a:lstStyle/>
          <a:p>
            <a:pPr algn="l">
              <a:defRPr sz="1300" b="1">
                <a:solidFill>
                  <a:srgbClr val="E53935"/>
                </a:solidFill>
                <a:latin typeface="Calibri"/>
              </a:defRPr>
            </a:pPr>
            <a:r>
              <a:t>⚠️  Critical Gene Alert System</a:t>
            </a:r>
          </a:p>
        </p:txBody>
      </p:sp>
      <p:sp>
        <p:nvSpPr>
          <p:cNvPr id="39" name="TextBox 38"/>
          <p:cNvSpPr txBox="1"/>
          <p:nvPr/>
        </p:nvSpPr>
        <p:spPr>
          <a:xfrm>
            <a:off x="6583680" y="5897880"/>
            <a:ext cx="4937760" cy="365760"/>
          </a:xfrm>
          <a:prstGeom prst="rect">
            <a:avLst/>
          </a:prstGeom>
          <a:noFill/>
        </p:spPr>
        <p:txBody>
          <a:bodyPr wrap="square">
            <a:spAutoFit/>
          </a:bodyPr>
          <a:lstStyle/>
          <a:p>
            <a:pPr algn="l">
              <a:defRPr sz="1100" b="0">
                <a:solidFill>
                  <a:srgbClr val="333333"/>
                </a:solidFill>
                <a:latin typeface="Calibri"/>
              </a:defRPr>
            </a:pPr>
            <a:r>
              <a:t>Carbapenemases (KPC, NDM, OXA-48, VIM, IMP)  |  ESBLs (CTX-M, SHV-12, TEM)  |  Colistin (mcr)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Streamlit Web GUI</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Interactive web application for plasmid analysis (plin_app.py)</a:t>
            </a:r>
          </a:p>
        </p:txBody>
      </p:sp>
      <p:sp>
        <p:nvSpPr>
          <p:cNvPr id="5" name="TextBox 4"/>
          <p:cNvSpPr txBox="1"/>
          <p:nvPr/>
        </p:nvSpPr>
        <p:spPr>
          <a:xfrm>
            <a:off x="457200" y="1463040"/>
            <a:ext cx="10972800" cy="457200"/>
          </a:xfrm>
          <a:prstGeom prst="rect">
            <a:avLst/>
          </a:prstGeom>
          <a:noFill/>
        </p:spPr>
        <p:txBody>
          <a:bodyPr wrap="square">
            <a:spAutoFit/>
          </a:bodyPr>
          <a:lstStyle/>
          <a:p>
            <a:pPr algn="l">
              <a:defRPr sz="2000" b="1">
                <a:solidFill>
                  <a:srgbClr val="0D47A1"/>
                </a:solidFill>
                <a:latin typeface="Calibri"/>
              </a:defRPr>
            </a:pPr>
            <a:r>
              <a:t>Application Layout</a:t>
            </a:r>
          </a:p>
        </p:txBody>
      </p:sp>
      <p:sp>
        <p:nvSpPr>
          <p:cNvPr id="6" name="Rounded Rectangle 5"/>
          <p:cNvSpPr/>
          <p:nvPr/>
        </p:nvSpPr>
        <p:spPr>
          <a:xfrm>
            <a:off x="457200" y="2011680"/>
            <a:ext cx="7772400" cy="1097280"/>
          </a:xfrm>
          <a:prstGeom prst="roundRect">
            <a:avLst/>
          </a:prstGeom>
          <a:solidFill>
            <a:srgbClr val="BBDEFB"/>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3657600" cy="365760"/>
          </a:xfrm>
          <a:prstGeom prst="rect">
            <a:avLst/>
          </a:prstGeom>
          <a:noFill/>
        </p:spPr>
        <p:txBody>
          <a:bodyPr wrap="square">
            <a:spAutoFit/>
          </a:bodyPr>
          <a:lstStyle/>
          <a:p>
            <a:pPr algn="l">
              <a:defRPr sz="1400" b="1">
                <a:solidFill>
                  <a:srgbClr val="0D47A1"/>
                </a:solidFill>
                <a:latin typeface="Calibri"/>
              </a:defRPr>
            </a:pPr>
            <a:r>
              <a:t>↑ Upload FASTA Files</a:t>
            </a:r>
          </a:p>
        </p:txBody>
      </p:sp>
      <p:sp>
        <p:nvSpPr>
          <p:cNvPr id="8" name="TextBox 7"/>
          <p:cNvSpPr txBox="1"/>
          <p:nvPr/>
        </p:nvSpPr>
        <p:spPr>
          <a:xfrm>
            <a:off x="5029200" y="2103120"/>
            <a:ext cx="2743200" cy="365760"/>
          </a:xfrm>
          <a:prstGeom prst="rect">
            <a:avLst/>
          </a:prstGeom>
          <a:noFill/>
        </p:spPr>
        <p:txBody>
          <a:bodyPr wrap="square">
            <a:spAutoFit/>
          </a:bodyPr>
          <a:lstStyle/>
          <a:p>
            <a:pPr algn="l">
              <a:defRPr sz="1200" b="0">
                <a:solidFill>
                  <a:srgbClr val="333333"/>
                </a:solidFill>
                <a:latin typeface="Calibri"/>
              </a:defRPr>
            </a:pPr>
            <a:r>
              <a:t>Inc Group: [Auto-detect ▼]</a:t>
            </a:r>
          </a:p>
        </p:txBody>
      </p:sp>
      <p:sp>
        <p:nvSpPr>
          <p:cNvPr id="9" name="TextBox 8"/>
          <p:cNvSpPr txBox="1"/>
          <p:nvPr/>
        </p:nvSpPr>
        <p:spPr>
          <a:xfrm>
            <a:off x="5029200" y="2468880"/>
            <a:ext cx="2743200" cy="365760"/>
          </a:xfrm>
          <a:prstGeom prst="rect">
            <a:avLst/>
          </a:prstGeom>
          <a:noFill/>
        </p:spPr>
        <p:txBody>
          <a:bodyPr wrap="square">
            <a:spAutoFit/>
          </a:bodyPr>
          <a:lstStyle/>
          <a:p>
            <a:pPr algn="l">
              <a:defRPr sz="1200" b="0">
                <a:solidFill>
                  <a:srgbClr val="333333"/>
                </a:solidFill>
                <a:latin typeface="Calibri"/>
              </a:defRPr>
            </a:pPr>
            <a:r>
              <a:t>☑ Run AMRFinderPlus</a:t>
            </a:r>
          </a:p>
        </p:txBody>
      </p:sp>
      <p:sp>
        <p:nvSpPr>
          <p:cNvPr id="10" name="Rounded Rectangle 9"/>
          <p:cNvSpPr/>
          <p:nvPr/>
        </p:nvSpPr>
        <p:spPr>
          <a:xfrm>
            <a:off x="640080" y="2651760"/>
            <a:ext cx="1828800" cy="36576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70048"/>
            <a:ext cx="1828800" cy="320040"/>
          </a:xfrm>
          <a:prstGeom prst="rect">
            <a:avLst/>
          </a:prstGeom>
          <a:noFill/>
        </p:spPr>
        <p:txBody>
          <a:bodyPr wrap="square">
            <a:spAutoFit/>
          </a:bodyPr>
          <a:lstStyle/>
          <a:p>
            <a:pPr algn="ctr">
              <a:defRPr sz="1200" b="1">
                <a:solidFill>
                  <a:srgbClr val="FFFFFF"/>
                </a:solidFill>
                <a:latin typeface="Calibri"/>
              </a:defRPr>
            </a:pPr>
            <a:r>
              <a:t>▶ Run Analysis</a:t>
            </a:r>
          </a:p>
        </p:txBody>
      </p:sp>
      <p:sp>
        <p:nvSpPr>
          <p:cNvPr id="12" name="Rounded Rectangle 11"/>
          <p:cNvSpPr/>
          <p:nvPr/>
        </p:nvSpPr>
        <p:spPr>
          <a:xfrm>
            <a:off x="365760" y="3474720"/>
            <a:ext cx="1371600" cy="36576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502152"/>
            <a:ext cx="1371600" cy="320040"/>
          </a:xfrm>
          <a:prstGeom prst="rect">
            <a:avLst/>
          </a:prstGeom>
          <a:noFill/>
        </p:spPr>
        <p:txBody>
          <a:bodyPr wrap="square">
            <a:spAutoFit/>
          </a:bodyPr>
          <a:lstStyle/>
          <a:p>
            <a:pPr algn="ctr">
              <a:defRPr sz="900" b="1">
                <a:solidFill>
                  <a:srgbClr val="FFFFFF"/>
                </a:solidFill>
                <a:latin typeface="Calibri"/>
              </a:defRPr>
            </a:pPr>
            <a:r>
              <a:t>Overview</a:t>
            </a:r>
          </a:p>
        </p:txBody>
      </p:sp>
      <p:sp>
        <p:nvSpPr>
          <p:cNvPr id="14" name="Rounded Rectangle 13"/>
          <p:cNvSpPr/>
          <p:nvPr/>
        </p:nvSpPr>
        <p:spPr>
          <a:xfrm>
            <a:off x="365760" y="3840480"/>
            <a:ext cx="1371600" cy="228600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pLIN description</a:t>
            </a:r>
          </a:p>
          <a:p>
            <a:pPr>
              <a:spcAft>
                <a:spcPts val="200"/>
              </a:spcAft>
              <a:defRPr sz="800">
                <a:solidFill>
                  <a:srgbClr val="333333"/>
                </a:solidFill>
                <a:latin typeface="Calibri"/>
              </a:defRPr>
            </a:pPr>
            <a:r>
              <a:t>Threshold table</a:t>
            </a:r>
          </a:p>
          <a:p>
            <a:pPr>
              <a:spcAft>
                <a:spcPts val="200"/>
              </a:spcAft>
              <a:defRPr sz="800">
                <a:solidFill>
                  <a:srgbClr val="333333"/>
                </a:solidFill>
                <a:latin typeface="Calibri"/>
              </a:defRPr>
            </a:pPr>
            <a:r>
              <a:t>Metrics dashboard</a:t>
            </a:r>
          </a:p>
        </p:txBody>
      </p:sp>
      <p:sp>
        <p:nvSpPr>
          <p:cNvPr id="16" name="Rounded Rectangle 15"/>
          <p:cNvSpPr/>
          <p:nvPr/>
        </p:nvSpPr>
        <p:spPr>
          <a:xfrm>
            <a:off x="1828800" y="3474720"/>
            <a:ext cx="1371600" cy="36576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3502152"/>
            <a:ext cx="1371600" cy="320040"/>
          </a:xfrm>
          <a:prstGeom prst="rect">
            <a:avLst/>
          </a:prstGeom>
          <a:noFill/>
        </p:spPr>
        <p:txBody>
          <a:bodyPr wrap="square">
            <a:spAutoFit/>
          </a:bodyPr>
          <a:lstStyle/>
          <a:p>
            <a:pPr algn="ctr">
              <a:defRPr sz="900" b="1">
                <a:solidFill>
                  <a:srgbClr val="FFFFFF"/>
                </a:solidFill>
                <a:latin typeface="Calibri"/>
              </a:defRPr>
            </a:pPr>
            <a:r>
              <a:t>Results</a:t>
            </a:r>
          </a:p>
        </p:txBody>
      </p:sp>
      <p:sp>
        <p:nvSpPr>
          <p:cNvPr id="18" name="Rounded Rectangle 17"/>
          <p:cNvSpPr/>
          <p:nvPr/>
        </p:nvSpPr>
        <p:spPr>
          <a:xfrm>
            <a:off x="1828800" y="3840480"/>
            <a:ext cx="1371600" cy="228600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2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Interactive data table</a:t>
            </a:r>
          </a:p>
          <a:p>
            <a:pPr>
              <a:spcAft>
                <a:spcPts val="200"/>
              </a:spcAft>
              <a:defRPr sz="800">
                <a:solidFill>
                  <a:srgbClr val="333333"/>
                </a:solidFill>
                <a:latin typeface="Calibri"/>
              </a:defRPr>
            </a:pPr>
            <a:r>
              <a:t>Search/filter</a:t>
            </a:r>
          </a:p>
          <a:p>
            <a:pPr>
              <a:spcAft>
                <a:spcPts val="200"/>
              </a:spcAft>
              <a:defRPr sz="800">
                <a:solidFill>
                  <a:srgbClr val="333333"/>
                </a:solidFill>
                <a:latin typeface="Calibri"/>
              </a:defRPr>
            </a:pPr>
            <a:r>
              <a:t>pLIN distribution</a:t>
            </a:r>
          </a:p>
        </p:txBody>
      </p:sp>
      <p:sp>
        <p:nvSpPr>
          <p:cNvPr id="20" name="Rounded Rectangle 19"/>
          <p:cNvSpPr/>
          <p:nvPr/>
        </p:nvSpPr>
        <p:spPr>
          <a:xfrm>
            <a:off x="3291840" y="3474720"/>
            <a:ext cx="1371600" cy="36576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3502152"/>
            <a:ext cx="1371600" cy="320040"/>
          </a:xfrm>
          <a:prstGeom prst="rect">
            <a:avLst/>
          </a:prstGeom>
          <a:noFill/>
        </p:spPr>
        <p:txBody>
          <a:bodyPr wrap="square">
            <a:spAutoFit/>
          </a:bodyPr>
          <a:lstStyle/>
          <a:p>
            <a:pPr algn="ctr">
              <a:defRPr sz="900" b="1">
                <a:solidFill>
                  <a:srgbClr val="FFFFFF"/>
                </a:solidFill>
                <a:latin typeface="Calibri"/>
              </a:defRPr>
            </a:pPr>
            <a:r>
              <a:t>Cladogram</a:t>
            </a:r>
          </a:p>
        </p:txBody>
      </p:sp>
      <p:sp>
        <p:nvSpPr>
          <p:cNvPr id="22" name="Rounded Rectangle 21"/>
          <p:cNvSpPr/>
          <p:nvPr/>
        </p:nvSpPr>
        <p:spPr>
          <a:xfrm>
            <a:off x="3291840" y="3840480"/>
            <a:ext cx="1371600" cy="228600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Rectangular</a:t>
            </a:r>
          </a:p>
          <a:p>
            <a:pPr>
              <a:spcAft>
                <a:spcPts val="200"/>
              </a:spcAft>
              <a:defRPr sz="800">
                <a:solidFill>
                  <a:srgbClr val="333333"/>
                </a:solidFill>
                <a:latin typeface="Calibri"/>
              </a:defRPr>
            </a:pPr>
            <a:r>
              <a:t>Circular</a:t>
            </a:r>
          </a:p>
          <a:p>
            <a:pPr>
              <a:spcAft>
                <a:spcPts val="200"/>
              </a:spcAft>
              <a:defRPr sz="800">
                <a:solidFill>
                  <a:srgbClr val="333333"/>
                </a:solidFill>
                <a:latin typeface="Calibri"/>
              </a:defRPr>
            </a:pPr>
            <a:r>
              <a:t>Heatmap</a:t>
            </a:r>
          </a:p>
          <a:p>
            <a:pPr>
              <a:spcAft>
                <a:spcPts val="200"/>
              </a:spcAft>
              <a:defRPr sz="800">
                <a:solidFill>
                  <a:srgbClr val="333333"/>
                </a:solidFill>
                <a:latin typeface="Calibri"/>
              </a:defRPr>
            </a:pPr>
            <a:r>
              <a:t>AMR Annotated</a:t>
            </a:r>
          </a:p>
        </p:txBody>
      </p:sp>
      <p:sp>
        <p:nvSpPr>
          <p:cNvPr id="24" name="Rounded Rectangle 23"/>
          <p:cNvSpPr/>
          <p:nvPr/>
        </p:nvSpPr>
        <p:spPr>
          <a:xfrm>
            <a:off x="4754880" y="3474720"/>
            <a:ext cx="1371600" cy="36576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502152"/>
            <a:ext cx="1371600" cy="320040"/>
          </a:xfrm>
          <a:prstGeom prst="rect">
            <a:avLst/>
          </a:prstGeom>
          <a:noFill/>
        </p:spPr>
        <p:txBody>
          <a:bodyPr wrap="square">
            <a:spAutoFit/>
          </a:bodyPr>
          <a:lstStyle/>
          <a:p>
            <a:pPr algn="ctr">
              <a:defRPr sz="900" b="1">
                <a:solidFill>
                  <a:srgbClr val="FFFFFF"/>
                </a:solidFill>
                <a:latin typeface="Calibri"/>
              </a:defRPr>
            </a:pPr>
            <a:r>
              <a:t>AMR</a:t>
            </a:r>
          </a:p>
        </p:txBody>
      </p:sp>
      <p:sp>
        <p:nvSpPr>
          <p:cNvPr id="26" name="Rounded Rectangle 25"/>
          <p:cNvSpPr/>
          <p:nvPr/>
        </p:nvSpPr>
        <p:spPr>
          <a:xfrm>
            <a:off x="4754880" y="3840480"/>
            <a:ext cx="1371600" cy="2286000"/>
          </a:xfrm>
          <a:prstGeom prst="roundRect">
            <a:avLst/>
          </a:prstGeom>
          <a:solidFill>
            <a:srgbClr val="FFFFFF"/>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Gene prevalence</a:t>
            </a:r>
          </a:p>
          <a:p>
            <a:pPr>
              <a:spcAft>
                <a:spcPts val="200"/>
              </a:spcAft>
              <a:defRPr sz="800">
                <a:solidFill>
                  <a:srgbClr val="333333"/>
                </a:solidFill>
                <a:latin typeface="Calibri"/>
              </a:defRPr>
            </a:pPr>
            <a:r>
              <a:t>Drug class pie</a:t>
            </a:r>
          </a:p>
          <a:p>
            <a:pPr>
              <a:spcAft>
                <a:spcPts val="200"/>
              </a:spcAft>
              <a:defRPr sz="800">
                <a:solidFill>
                  <a:srgbClr val="333333"/>
                </a:solidFill>
                <a:latin typeface="Calibri"/>
              </a:defRPr>
            </a:pPr>
            <a:r>
              <a:t>Critical alerts</a:t>
            </a:r>
          </a:p>
        </p:txBody>
      </p:sp>
      <p:sp>
        <p:nvSpPr>
          <p:cNvPr id="28" name="Rounded Rectangle 27"/>
          <p:cNvSpPr/>
          <p:nvPr/>
        </p:nvSpPr>
        <p:spPr>
          <a:xfrm>
            <a:off x="6217920" y="3474720"/>
            <a:ext cx="137160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3502152"/>
            <a:ext cx="1371600" cy="320040"/>
          </a:xfrm>
          <a:prstGeom prst="rect">
            <a:avLst/>
          </a:prstGeom>
          <a:noFill/>
        </p:spPr>
        <p:txBody>
          <a:bodyPr wrap="square">
            <a:spAutoFit/>
          </a:bodyPr>
          <a:lstStyle/>
          <a:p>
            <a:pPr algn="ctr">
              <a:defRPr sz="900" b="1">
                <a:solidFill>
                  <a:srgbClr val="FFFFFF"/>
                </a:solidFill>
                <a:latin typeface="Calibri"/>
              </a:defRPr>
            </a:pPr>
            <a:r>
              <a:t>Epidemiology</a:t>
            </a:r>
          </a:p>
        </p:txBody>
      </p:sp>
      <p:sp>
        <p:nvSpPr>
          <p:cNvPr id="30" name="Rounded Rectangle 29"/>
          <p:cNvSpPr/>
          <p:nvPr/>
        </p:nvSpPr>
        <p:spPr>
          <a:xfrm>
            <a:off x="6217920" y="3840480"/>
            <a:ext cx="1371600" cy="2286000"/>
          </a:xfrm>
          <a:prstGeom prst="roundRect">
            <a:avLst/>
          </a:prstGeom>
          <a:solidFill>
            <a:srgbClr val="FFFFFF"/>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Mobility prediction</a:t>
            </a:r>
          </a:p>
          <a:p>
            <a:pPr>
              <a:spcAft>
                <a:spcPts val="200"/>
              </a:spcAft>
              <a:defRPr sz="800">
                <a:solidFill>
                  <a:srgbClr val="333333"/>
                </a:solidFill>
                <a:latin typeface="Calibri"/>
              </a:defRPr>
            </a:pPr>
            <a:r>
              <a:t>Outbreak detection</a:t>
            </a:r>
          </a:p>
          <a:p>
            <a:pPr>
              <a:spcAft>
                <a:spcPts val="200"/>
              </a:spcAft>
              <a:defRPr sz="800">
                <a:solidFill>
                  <a:srgbClr val="333333"/>
                </a:solidFill>
                <a:latin typeface="Calibri"/>
              </a:defRPr>
            </a:pPr>
            <a:r>
              <a:t>Risk stratification</a:t>
            </a:r>
          </a:p>
        </p:txBody>
      </p:sp>
      <p:sp>
        <p:nvSpPr>
          <p:cNvPr id="32" name="Rounded Rectangle 31"/>
          <p:cNvSpPr/>
          <p:nvPr/>
        </p:nvSpPr>
        <p:spPr>
          <a:xfrm>
            <a:off x="7680960" y="3474720"/>
            <a:ext cx="1371600" cy="36576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0" y="3502152"/>
            <a:ext cx="1371600" cy="320040"/>
          </a:xfrm>
          <a:prstGeom prst="rect">
            <a:avLst/>
          </a:prstGeom>
          <a:noFill/>
        </p:spPr>
        <p:txBody>
          <a:bodyPr wrap="square">
            <a:spAutoFit/>
          </a:bodyPr>
          <a:lstStyle/>
          <a:p>
            <a:pPr algn="ctr">
              <a:defRPr sz="900" b="1">
                <a:solidFill>
                  <a:srgbClr val="FFFFFF"/>
                </a:solidFill>
                <a:latin typeface="Calibri"/>
              </a:defRPr>
            </a:pPr>
            <a:r>
              <a:t>CRISPR Host</a:t>
            </a:r>
          </a:p>
        </p:txBody>
      </p:sp>
      <p:sp>
        <p:nvSpPr>
          <p:cNvPr id="34" name="Rounded Rectangle 33"/>
          <p:cNvSpPr/>
          <p:nvPr/>
        </p:nvSpPr>
        <p:spPr>
          <a:xfrm>
            <a:off x="7680960" y="3840480"/>
            <a:ext cx="1371600" cy="2286000"/>
          </a:xfrm>
          <a:prstGeom prst="roundRect">
            <a:avLst/>
          </a:prstGeom>
          <a:solidFill>
            <a:srgbClr val="FFFFFF"/>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2668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Spacer extraction</a:t>
            </a:r>
          </a:p>
          <a:p>
            <a:pPr>
              <a:spcAft>
                <a:spcPts val="200"/>
              </a:spcAft>
              <a:defRPr sz="800">
                <a:solidFill>
                  <a:srgbClr val="333333"/>
                </a:solidFill>
                <a:latin typeface="Calibri"/>
              </a:defRPr>
            </a:pPr>
            <a:r>
              <a:t>Host-plasmid heatmap</a:t>
            </a:r>
          </a:p>
          <a:p>
            <a:pPr>
              <a:spcAft>
                <a:spcPts val="200"/>
              </a:spcAft>
              <a:defRPr sz="800">
                <a:solidFill>
                  <a:srgbClr val="333333"/>
                </a:solidFill>
                <a:latin typeface="Calibri"/>
              </a:defRPr>
            </a:pPr>
            <a:r>
              <a:t>Probability ranking</a:t>
            </a:r>
          </a:p>
        </p:txBody>
      </p:sp>
      <p:sp>
        <p:nvSpPr>
          <p:cNvPr id="36" name="Rounded Rectangle 35"/>
          <p:cNvSpPr/>
          <p:nvPr/>
        </p:nvSpPr>
        <p:spPr>
          <a:xfrm>
            <a:off x="9144000" y="3474720"/>
            <a:ext cx="1371600" cy="36576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0" y="3502152"/>
            <a:ext cx="1371600" cy="320040"/>
          </a:xfrm>
          <a:prstGeom prst="rect">
            <a:avLst/>
          </a:prstGeom>
          <a:noFill/>
        </p:spPr>
        <p:txBody>
          <a:bodyPr wrap="square">
            <a:spAutoFit/>
          </a:bodyPr>
          <a:lstStyle/>
          <a:p>
            <a:pPr algn="ctr">
              <a:defRPr sz="900" b="1">
                <a:solidFill>
                  <a:srgbClr val="FFFFFF"/>
                </a:solidFill>
                <a:latin typeface="Calibri"/>
              </a:defRPr>
            </a:pPr>
            <a:r>
              <a:t>Buddy</a:t>
            </a:r>
          </a:p>
        </p:txBody>
      </p:sp>
      <p:sp>
        <p:nvSpPr>
          <p:cNvPr id="38" name="Rounded Rectangle 37"/>
          <p:cNvSpPr/>
          <p:nvPr/>
        </p:nvSpPr>
        <p:spPr>
          <a:xfrm>
            <a:off x="9144000" y="3840480"/>
            <a:ext cx="1371600" cy="2286000"/>
          </a:xfrm>
          <a:prstGeom prst="roundRect">
            <a:avLst/>
          </a:prstGeom>
          <a:solidFill>
            <a:srgbClr val="FFFFFF"/>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972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AI chatbot</a:t>
            </a:r>
          </a:p>
          <a:p>
            <a:pPr>
              <a:spcAft>
                <a:spcPts val="200"/>
              </a:spcAft>
              <a:defRPr sz="800">
                <a:solidFill>
                  <a:srgbClr val="333333"/>
                </a:solidFill>
                <a:latin typeface="Calibri"/>
              </a:defRPr>
            </a:pPr>
            <a:r>
              <a:t>Context-aware Q&amp;A</a:t>
            </a:r>
          </a:p>
          <a:p>
            <a:pPr>
              <a:spcAft>
                <a:spcPts val="200"/>
              </a:spcAft>
              <a:defRPr sz="800">
                <a:solidFill>
                  <a:srgbClr val="333333"/>
                </a:solidFill>
                <a:latin typeface="Calibri"/>
              </a:defRPr>
            </a:pPr>
            <a:r>
              <a:t>Ollama LLM</a:t>
            </a:r>
          </a:p>
        </p:txBody>
      </p:sp>
      <p:sp>
        <p:nvSpPr>
          <p:cNvPr id="40" name="Rounded Rectangle 39"/>
          <p:cNvSpPr/>
          <p:nvPr/>
        </p:nvSpPr>
        <p:spPr>
          <a:xfrm>
            <a:off x="10607040" y="3474720"/>
            <a:ext cx="1371600" cy="36576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07040" y="3502152"/>
            <a:ext cx="1371600" cy="320040"/>
          </a:xfrm>
          <a:prstGeom prst="rect">
            <a:avLst/>
          </a:prstGeom>
          <a:noFill/>
        </p:spPr>
        <p:txBody>
          <a:bodyPr wrap="square">
            <a:spAutoFit/>
          </a:bodyPr>
          <a:lstStyle/>
          <a:p>
            <a:pPr algn="ctr">
              <a:defRPr sz="900" b="1">
                <a:solidFill>
                  <a:srgbClr val="FFFFFF"/>
                </a:solidFill>
                <a:latin typeface="Calibri"/>
              </a:defRPr>
            </a:pPr>
            <a:r>
              <a:t>Export</a:t>
            </a:r>
          </a:p>
        </p:txBody>
      </p:sp>
      <p:sp>
        <p:nvSpPr>
          <p:cNvPr id="42" name="Rounded Rectangle 41"/>
          <p:cNvSpPr/>
          <p:nvPr/>
        </p:nvSpPr>
        <p:spPr>
          <a:xfrm>
            <a:off x="10607040" y="3840480"/>
            <a:ext cx="1371600" cy="228600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2760" y="3931920"/>
            <a:ext cx="1280160" cy="2103120"/>
          </a:xfrm>
          <a:prstGeom prst="rect">
            <a:avLst/>
          </a:prstGeom>
          <a:noFill/>
        </p:spPr>
        <p:txBody>
          <a:bodyPr wrap="square">
            <a:spAutoFit/>
          </a:bodyPr>
          <a:lstStyle/>
          <a:p>
            <a:pPr>
              <a:spcAft>
                <a:spcPts val="200"/>
              </a:spcAft>
              <a:defRPr sz="800">
                <a:solidFill>
                  <a:srgbClr val="333333"/>
                </a:solidFill>
                <a:latin typeface="Calibri"/>
              </a:defRPr>
            </a:pPr>
            <a:r>
              <a:t>TSV tables</a:t>
            </a:r>
          </a:p>
          <a:p>
            <a:pPr>
              <a:spcAft>
                <a:spcPts val="200"/>
              </a:spcAft>
              <a:defRPr sz="800">
                <a:solidFill>
                  <a:srgbClr val="333333"/>
                </a:solidFill>
                <a:latin typeface="Calibri"/>
              </a:defRPr>
            </a:pPr>
            <a:r>
              <a:t>PNG/PDF figures</a:t>
            </a:r>
          </a:p>
          <a:p>
            <a:pPr>
              <a:spcAft>
                <a:spcPts val="200"/>
              </a:spcAft>
              <a:defRPr sz="800">
                <a:solidFill>
                  <a:srgbClr val="333333"/>
                </a:solidFill>
                <a:latin typeface="Calibri"/>
              </a:defRPr>
            </a:pPr>
            <a:r>
              <a:t>ZIP bundle</a:t>
            </a:r>
          </a:p>
        </p:txBody>
      </p:sp>
      <p:sp>
        <p:nvSpPr>
          <p:cNvPr id="44" name="Rounded Rectangle 43"/>
          <p:cNvSpPr/>
          <p:nvPr/>
        </p:nvSpPr>
        <p:spPr>
          <a:xfrm>
            <a:off x="8503920" y="2011680"/>
            <a:ext cx="3383280" cy="4389120"/>
          </a:xfrm>
          <a:prstGeom prst="roundRect">
            <a:avLst/>
          </a:prstGeom>
          <a:solidFill>
            <a:srgbClr val="ECEFF1"/>
          </a:solidFill>
          <a:ln w="127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0" y="2103120"/>
            <a:ext cx="3017520" cy="365760"/>
          </a:xfrm>
          <a:prstGeom prst="rect">
            <a:avLst/>
          </a:prstGeom>
          <a:noFill/>
        </p:spPr>
        <p:txBody>
          <a:bodyPr wrap="square">
            <a:spAutoFit/>
          </a:bodyPr>
          <a:lstStyle/>
          <a:p>
            <a:pPr algn="l">
              <a:defRPr sz="1600" b="1">
                <a:solidFill>
                  <a:srgbClr val="333333"/>
                </a:solidFill>
                <a:latin typeface="Calibri"/>
              </a:defRPr>
            </a:pPr>
            <a:r>
              <a:t>Sidebar</a:t>
            </a:r>
          </a:p>
        </p:txBody>
      </p:sp>
      <p:sp>
        <p:nvSpPr>
          <p:cNvPr id="46" name="TextBox 45"/>
          <p:cNvSpPr txBox="1"/>
          <p:nvPr/>
        </p:nvSpPr>
        <p:spPr>
          <a:xfrm>
            <a:off x="8686800" y="2560320"/>
            <a:ext cx="3017520" cy="3657600"/>
          </a:xfrm>
          <a:prstGeom prst="rect">
            <a:avLst/>
          </a:prstGeom>
          <a:noFill/>
        </p:spPr>
        <p:txBody>
          <a:bodyPr wrap="square">
            <a:spAutoFit/>
          </a:bodyPr>
          <a:lstStyle/>
          <a:p>
            <a:pPr>
              <a:spcAft>
                <a:spcPts val="200"/>
              </a:spcAft>
              <a:defRPr sz="1100">
                <a:solidFill>
                  <a:srgbClr val="333333"/>
                </a:solidFill>
                <a:latin typeface="Calibri"/>
              </a:defRPr>
            </a:pPr>
            <a:r>
              <a:t>Analysis status &amp; metrics</a:t>
            </a:r>
          </a:p>
          <a:p>
            <a:pPr>
              <a:spcAft>
                <a:spcPts val="200"/>
              </a:spcAft>
              <a:defRPr sz="1100">
                <a:solidFill>
                  <a:srgbClr val="333333"/>
                </a:solidFill>
                <a:latin typeface="Calibri"/>
              </a:defRPr>
            </a:pPr>
            <a:r>
              <a:t>Plasmid count</a:t>
            </a:r>
          </a:p>
          <a:p>
            <a:pPr>
              <a:spcAft>
                <a:spcPts val="200"/>
              </a:spcAft>
              <a:defRPr sz="1100">
                <a:solidFill>
                  <a:srgbClr val="333333"/>
                </a:solidFill>
                <a:latin typeface="Calibri"/>
              </a:defRPr>
            </a:pPr>
            <a:r>
              <a:t>Unique pLIN codes</a:t>
            </a:r>
          </a:p>
          <a:p>
            <a:pPr>
              <a:spcAft>
                <a:spcPts val="200"/>
              </a:spcAft>
              <a:defRPr sz="1100">
                <a:solidFill>
                  <a:srgbClr val="333333"/>
                </a:solidFill>
                <a:latin typeface="Calibri"/>
              </a:defRPr>
            </a:pPr>
            <a:r>
              <a:t>Detected Inc groups</a:t>
            </a:r>
          </a:p>
          <a:p>
            <a:pPr>
              <a:spcAft>
                <a:spcPts val="200"/>
              </a:spcAft>
              <a:defRPr sz="1100">
                <a:solidFill>
                  <a:srgbClr val="333333"/>
                </a:solidFill>
                <a:latin typeface="Calibri"/>
              </a:defRPr>
            </a:pPr>
          </a:p>
          <a:p>
            <a:pPr>
              <a:spcAft>
                <a:spcPts val="200"/>
              </a:spcAft>
              <a:defRPr sz="1100">
                <a:solidFill>
                  <a:srgbClr val="333333"/>
                </a:solidFill>
                <a:latin typeface="Calibri"/>
              </a:defRPr>
            </a:pPr>
            <a:r>
              <a:t>🔄 Clear &amp; Reset</a:t>
            </a:r>
          </a:p>
          <a:p>
            <a:pPr>
              <a:spcAft>
                <a:spcPts val="200"/>
              </a:spcAft>
              <a:defRPr sz="1100">
                <a:solidFill>
                  <a:srgbClr val="333333"/>
                </a:solidFill>
                <a:latin typeface="Calibri"/>
              </a:defRPr>
            </a:pPr>
            <a:r>
              <a:t>📂 New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Project Structure</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File organization and data flow</a:t>
            </a:r>
          </a:p>
        </p:txBody>
      </p:sp>
      <p:sp>
        <p:nvSpPr>
          <p:cNvPr id="5" name="TextBox 4"/>
          <p:cNvSpPr txBox="1"/>
          <p:nvPr/>
        </p:nvSpPr>
        <p:spPr>
          <a:xfrm>
            <a:off x="457200" y="1463040"/>
            <a:ext cx="3657600" cy="457200"/>
          </a:xfrm>
          <a:prstGeom prst="rect">
            <a:avLst/>
          </a:prstGeom>
          <a:noFill/>
        </p:spPr>
        <p:txBody>
          <a:bodyPr wrap="square">
            <a:spAutoFit/>
          </a:bodyPr>
          <a:lstStyle/>
          <a:p>
            <a:pPr algn="l">
              <a:defRPr sz="1800" b="1">
                <a:solidFill>
                  <a:srgbClr val="0D47A1"/>
                </a:solidFill>
                <a:latin typeface="Calibri"/>
              </a:defRPr>
            </a:pPr>
            <a:r>
              <a:t>Python Scripts</a:t>
            </a:r>
          </a:p>
        </p:txBody>
      </p:sp>
      <p:sp>
        <p:nvSpPr>
          <p:cNvPr id="6" name="Oval 5"/>
          <p:cNvSpPr/>
          <p:nvPr/>
        </p:nvSpPr>
        <p:spPr>
          <a:xfrm>
            <a:off x="548640" y="1993392"/>
            <a:ext cx="182880" cy="1828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1828800" cy="320040"/>
          </a:xfrm>
          <a:prstGeom prst="rect">
            <a:avLst/>
          </a:prstGeom>
          <a:noFill/>
        </p:spPr>
        <p:txBody>
          <a:bodyPr wrap="square">
            <a:spAutoFit/>
          </a:bodyPr>
          <a:lstStyle/>
          <a:p>
            <a:pPr algn="l">
              <a:defRPr sz="1100" b="1">
                <a:solidFill>
                  <a:srgbClr val="333333"/>
                </a:solidFill>
                <a:latin typeface="Consolas"/>
              </a:defRPr>
            </a:pPr>
            <a:r>
              <a:t>plin_app.py</a:t>
            </a:r>
          </a:p>
        </p:txBody>
      </p:sp>
      <p:sp>
        <p:nvSpPr>
          <p:cNvPr id="8" name="TextBox 7"/>
          <p:cNvSpPr txBox="1"/>
          <p:nvPr/>
        </p:nvSpPr>
        <p:spPr>
          <a:xfrm>
            <a:off x="2743200" y="1920240"/>
            <a:ext cx="1828800" cy="320040"/>
          </a:xfrm>
          <a:prstGeom prst="rect">
            <a:avLst/>
          </a:prstGeom>
          <a:noFill/>
        </p:spPr>
        <p:txBody>
          <a:bodyPr wrap="square">
            <a:spAutoFit/>
          </a:bodyPr>
          <a:lstStyle/>
          <a:p>
            <a:pPr algn="l">
              <a:defRPr sz="1000" b="0">
                <a:solidFill>
                  <a:srgbClr val="757575"/>
                </a:solidFill>
                <a:latin typeface="Calibri"/>
              </a:defRPr>
            </a:pPr>
            <a:r>
              <a:t>Streamlit GUI (main app)</a:t>
            </a:r>
          </a:p>
        </p:txBody>
      </p:sp>
      <p:sp>
        <p:nvSpPr>
          <p:cNvPr id="9" name="Oval 8"/>
          <p:cNvSpPr/>
          <p:nvPr/>
        </p:nvSpPr>
        <p:spPr>
          <a:xfrm>
            <a:off x="548640" y="2414016"/>
            <a:ext cx="182880" cy="18288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40864"/>
            <a:ext cx="1828800" cy="320040"/>
          </a:xfrm>
          <a:prstGeom prst="rect">
            <a:avLst/>
          </a:prstGeom>
          <a:noFill/>
        </p:spPr>
        <p:txBody>
          <a:bodyPr wrap="square">
            <a:spAutoFit/>
          </a:bodyPr>
          <a:lstStyle/>
          <a:p>
            <a:pPr algn="l">
              <a:defRPr sz="1100" b="1">
                <a:solidFill>
                  <a:srgbClr val="333333"/>
                </a:solidFill>
                <a:latin typeface="Consolas"/>
              </a:defRPr>
            </a:pPr>
            <a:r>
              <a:t>assign_pLIN.py</a:t>
            </a:r>
          </a:p>
        </p:txBody>
      </p:sp>
      <p:sp>
        <p:nvSpPr>
          <p:cNvPr id="11" name="TextBox 10"/>
          <p:cNvSpPr txBox="1"/>
          <p:nvPr/>
        </p:nvSpPr>
        <p:spPr>
          <a:xfrm>
            <a:off x="2743200" y="2340864"/>
            <a:ext cx="1828800" cy="320040"/>
          </a:xfrm>
          <a:prstGeom prst="rect">
            <a:avLst/>
          </a:prstGeom>
          <a:noFill/>
        </p:spPr>
        <p:txBody>
          <a:bodyPr wrap="square">
            <a:spAutoFit/>
          </a:bodyPr>
          <a:lstStyle/>
          <a:p>
            <a:pPr algn="l">
              <a:defRPr sz="1000" b="0">
                <a:solidFill>
                  <a:srgbClr val="757575"/>
                </a:solidFill>
                <a:latin typeface="Calibri"/>
              </a:defRPr>
            </a:pPr>
            <a:r>
              <a:t>Batch pLIN assignment</a:t>
            </a:r>
          </a:p>
        </p:txBody>
      </p:sp>
      <p:sp>
        <p:nvSpPr>
          <p:cNvPr id="12" name="Oval 11"/>
          <p:cNvSpPr/>
          <p:nvPr/>
        </p:nvSpPr>
        <p:spPr>
          <a:xfrm>
            <a:off x="548640" y="2834640"/>
            <a:ext cx="182880" cy="18288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61488"/>
            <a:ext cx="1828800" cy="320040"/>
          </a:xfrm>
          <a:prstGeom prst="rect">
            <a:avLst/>
          </a:prstGeom>
          <a:noFill/>
        </p:spPr>
        <p:txBody>
          <a:bodyPr wrap="square">
            <a:spAutoFit/>
          </a:bodyPr>
          <a:lstStyle/>
          <a:p>
            <a:pPr algn="l">
              <a:defRPr sz="1100" b="1">
                <a:solidFill>
                  <a:srgbClr val="333333"/>
                </a:solidFill>
                <a:latin typeface="Consolas"/>
              </a:defRPr>
            </a:pPr>
            <a:r>
              <a:t>integrate_pLIN_AMR.py</a:t>
            </a:r>
          </a:p>
        </p:txBody>
      </p:sp>
      <p:sp>
        <p:nvSpPr>
          <p:cNvPr id="14" name="TextBox 13"/>
          <p:cNvSpPr txBox="1"/>
          <p:nvPr/>
        </p:nvSpPr>
        <p:spPr>
          <a:xfrm>
            <a:off x="2743200" y="2761488"/>
            <a:ext cx="1828800" cy="320040"/>
          </a:xfrm>
          <a:prstGeom prst="rect">
            <a:avLst/>
          </a:prstGeom>
          <a:noFill/>
        </p:spPr>
        <p:txBody>
          <a:bodyPr wrap="square">
            <a:spAutoFit/>
          </a:bodyPr>
          <a:lstStyle/>
          <a:p>
            <a:pPr algn="l">
              <a:defRPr sz="1000" b="0">
                <a:solidFill>
                  <a:srgbClr val="757575"/>
                </a:solidFill>
                <a:latin typeface="Calibri"/>
              </a:defRPr>
            </a:pPr>
            <a:r>
              <a:t>pLIN + AMR integration</a:t>
            </a:r>
          </a:p>
        </p:txBody>
      </p:sp>
      <p:sp>
        <p:nvSpPr>
          <p:cNvPr id="15" name="Oval 14"/>
          <p:cNvSpPr/>
          <p:nvPr/>
        </p:nvSpPr>
        <p:spPr>
          <a:xfrm>
            <a:off x="548640" y="3255264"/>
            <a:ext cx="182880" cy="18288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182112"/>
            <a:ext cx="1828800" cy="320040"/>
          </a:xfrm>
          <a:prstGeom prst="rect">
            <a:avLst/>
          </a:prstGeom>
          <a:noFill/>
        </p:spPr>
        <p:txBody>
          <a:bodyPr wrap="square">
            <a:spAutoFit/>
          </a:bodyPr>
          <a:lstStyle/>
          <a:p>
            <a:pPr algn="l">
              <a:defRPr sz="1100" b="1">
                <a:solidFill>
                  <a:srgbClr val="333333"/>
                </a:solidFill>
                <a:latin typeface="Consolas"/>
              </a:defRPr>
            </a:pPr>
            <a:r>
              <a:t>generate_figures.py</a:t>
            </a:r>
          </a:p>
        </p:txBody>
      </p:sp>
      <p:sp>
        <p:nvSpPr>
          <p:cNvPr id="17" name="TextBox 16"/>
          <p:cNvSpPr txBox="1"/>
          <p:nvPr/>
        </p:nvSpPr>
        <p:spPr>
          <a:xfrm>
            <a:off x="2743200" y="3182112"/>
            <a:ext cx="1828800" cy="320040"/>
          </a:xfrm>
          <a:prstGeom prst="rect">
            <a:avLst/>
          </a:prstGeom>
          <a:noFill/>
        </p:spPr>
        <p:txBody>
          <a:bodyPr wrap="square">
            <a:spAutoFit/>
          </a:bodyPr>
          <a:lstStyle/>
          <a:p>
            <a:pPr algn="l">
              <a:defRPr sz="1000" b="0">
                <a:solidFill>
                  <a:srgbClr val="757575"/>
                </a:solidFill>
                <a:latin typeface="Calibri"/>
              </a:defRPr>
            </a:pPr>
            <a:r>
              <a:t>Publication figures</a:t>
            </a:r>
          </a:p>
        </p:txBody>
      </p:sp>
      <p:sp>
        <p:nvSpPr>
          <p:cNvPr id="18" name="Oval 17"/>
          <p:cNvSpPr/>
          <p:nvPr/>
        </p:nvSpPr>
        <p:spPr>
          <a:xfrm>
            <a:off x="548640" y="3675888"/>
            <a:ext cx="182880" cy="18288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02736"/>
            <a:ext cx="1828800" cy="320040"/>
          </a:xfrm>
          <a:prstGeom prst="rect">
            <a:avLst/>
          </a:prstGeom>
          <a:noFill/>
        </p:spPr>
        <p:txBody>
          <a:bodyPr wrap="square">
            <a:spAutoFit/>
          </a:bodyPr>
          <a:lstStyle/>
          <a:p>
            <a:pPr algn="l">
              <a:defRPr sz="1100" b="1">
                <a:solidFill>
                  <a:srgbClr val="333333"/>
                </a:solidFill>
                <a:latin typeface="Consolas"/>
              </a:defRPr>
            </a:pPr>
            <a:r>
              <a:t>build_inc_centroids.py</a:t>
            </a:r>
          </a:p>
        </p:txBody>
      </p:sp>
      <p:sp>
        <p:nvSpPr>
          <p:cNvPr id="20" name="TextBox 19"/>
          <p:cNvSpPr txBox="1"/>
          <p:nvPr/>
        </p:nvSpPr>
        <p:spPr>
          <a:xfrm>
            <a:off x="2743200" y="3602736"/>
            <a:ext cx="1828800" cy="320040"/>
          </a:xfrm>
          <a:prstGeom prst="rect">
            <a:avLst/>
          </a:prstGeom>
          <a:noFill/>
        </p:spPr>
        <p:txBody>
          <a:bodyPr wrap="square">
            <a:spAutoFit/>
          </a:bodyPr>
          <a:lstStyle/>
          <a:p>
            <a:pPr algn="l">
              <a:defRPr sz="1000" b="0">
                <a:solidFill>
                  <a:srgbClr val="757575"/>
                </a:solidFill>
                <a:latin typeface="Calibri"/>
              </a:defRPr>
            </a:pPr>
            <a:r>
              <a:t>Train Inc classifier</a:t>
            </a:r>
          </a:p>
        </p:txBody>
      </p:sp>
      <p:sp>
        <p:nvSpPr>
          <p:cNvPr id="21" name="Oval 20"/>
          <p:cNvSpPr/>
          <p:nvPr/>
        </p:nvSpPr>
        <p:spPr>
          <a:xfrm>
            <a:off x="548640" y="4096512"/>
            <a:ext cx="182880" cy="182880"/>
          </a:xfrm>
          <a:prstGeom prst="ellipse">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023360"/>
            <a:ext cx="1828800" cy="320040"/>
          </a:xfrm>
          <a:prstGeom prst="rect">
            <a:avLst/>
          </a:prstGeom>
          <a:noFill/>
        </p:spPr>
        <p:txBody>
          <a:bodyPr wrap="square">
            <a:spAutoFit/>
          </a:bodyPr>
          <a:lstStyle/>
          <a:p>
            <a:pPr algn="l">
              <a:defRPr sz="1100" b="1">
                <a:solidFill>
                  <a:srgbClr val="333333"/>
                </a:solidFill>
                <a:latin typeface="Consolas"/>
              </a:defRPr>
            </a:pPr>
            <a:r>
              <a:t>test_pLIN.py</a:t>
            </a:r>
          </a:p>
        </p:txBody>
      </p:sp>
      <p:sp>
        <p:nvSpPr>
          <p:cNvPr id="23" name="TextBox 22"/>
          <p:cNvSpPr txBox="1"/>
          <p:nvPr/>
        </p:nvSpPr>
        <p:spPr>
          <a:xfrm>
            <a:off x="2743200" y="4023360"/>
            <a:ext cx="1828800" cy="320040"/>
          </a:xfrm>
          <a:prstGeom prst="rect">
            <a:avLst/>
          </a:prstGeom>
          <a:noFill/>
        </p:spPr>
        <p:txBody>
          <a:bodyPr wrap="square">
            <a:spAutoFit/>
          </a:bodyPr>
          <a:lstStyle/>
          <a:p>
            <a:pPr algn="l">
              <a:defRPr sz="1000" b="0">
                <a:solidFill>
                  <a:srgbClr val="757575"/>
                </a:solidFill>
                <a:latin typeface="Calibri"/>
              </a:defRPr>
            </a:pPr>
            <a:r>
              <a:t>Test pLIN on 22 plasmids</a:t>
            </a:r>
          </a:p>
        </p:txBody>
      </p:sp>
      <p:sp>
        <p:nvSpPr>
          <p:cNvPr id="24" name="Oval 23"/>
          <p:cNvSpPr/>
          <p:nvPr/>
        </p:nvSpPr>
        <p:spPr>
          <a:xfrm>
            <a:off x="548640" y="4517136"/>
            <a:ext cx="182880" cy="182880"/>
          </a:xfrm>
          <a:prstGeom prst="ellipse">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43984"/>
            <a:ext cx="1828800" cy="320040"/>
          </a:xfrm>
          <a:prstGeom prst="rect">
            <a:avLst/>
          </a:prstGeom>
          <a:noFill/>
        </p:spPr>
        <p:txBody>
          <a:bodyPr wrap="square">
            <a:spAutoFit/>
          </a:bodyPr>
          <a:lstStyle/>
          <a:p>
            <a:pPr algn="l">
              <a:defRPr sz="1100" b="1">
                <a:solidFill>
                  <a:srgbClr val="333333"/>
                </a:solidFill>
                <a:latin typeface="Consolas"/>
              </a:defRPr>
            </a:pPr>
            <a:r>
              <a:t>test_cladogram.py</a:t>
            </a:r>
          </a:p>
        </p:txBody>
      </p:sp>
      <p:sp>
        <p:nvSpPr>
          <p:cNvPr id="26" name="TextBox 25"/>
          <p:cNvSpPr txBox="1"/>
          <p:nvPr/>
        </p:nvSpPr>
        <p:spPr>
          <a:xfrm>
            <a:off x="2743200" y="4443984"/>
            <a:ext cx="1828800" cy="320040"/>
          </a:xfrm>
          <a:prstGeom prst="rect">
            <a:avLst/>
          </a:prstGeom>
          <a:noFill/>
        </p:spPr>
        <p:txBody>
          <a:bodyPr wrap="square">
            <a:spAutoFit/>
          </a:bodyPr>
          <a:lstStyle/>
          <a:p>
            <a:pPr algn="l">
              <a:defRPr sz="1000" b="0">
                <a:solidFill>
                  <a:srgbClr val="757575"/>
                </a:solidFill>
                <a:latin typeface="Calibri"/>
              </a:defRPr>
            </a:pPr>
            <a:r>
              <a:t>Test cladogram generation</a:t>
            </a:r>
          </a:p>
        </p:txBody>
      </p:sp>
      <p:sp>
        <p:nvSpPr>
          <p:cNvPr id="27" name="Oval 26"/>
          <p:cNvSpPr/>
          <p:nvPr/>
        </p:nvSpPr>
        <p:spPr>
          <a:xfrm>
            <a:off x="548640" y="4937760"/>
            <a:ext cx="182880" cy="182880"/>
          </a:xfrm>
          <a:prstGeom prst="ellipse">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864608"/>
            <a:ext cx="1828800" cy="320040"/>
          </a:xfrm>
          <a:prstGeom prst="rect">
            <a:avLst/>
          </a:prstGeom>
          <a:noFill/>
        </p:spPr>
        <p:txBody>
          <a:bodyPr wrap="square">
            <a:spAutoFit/>
          </a:bodyPr>
          <a:lstStyle/>
          <a:p>
            <a:pPr algn="l">
              <a:defRPr sz="1100" b="1">
                <a:solidFill>
                  <a:srgbClr val="333333"/>
                </a:solidFill>
                <a:latin typeface="Consolas"/>
              </a:defRPr>
            </a:pPr>
            <a:r>
              <a:t>test_integrate_and_cladogram.py</a:t>
            </a:r>
          </a:p>
        </p:txBody>
      </p:sp>
      <p:sp>
        <p:nvSpPr>
          <p:cNvPr id="29" name="TextBox 28"/>
          <p:cNvSpPr txBox="1"/>
          <p:nvPr/>
        </p:nvSpPr>
        <p:spPr>
          <a:xfrm>
            <a:off x="2743200" y="4864608"/>
            <a:ext cx="1828800" cy="320040"/>
          </a:xfrm>
          <a:prstGeom prst="rect">
            <a:avLst/>
          </a:prstGeom>
          <a:noFill/>
        </p:spPr>
        <p:txBody>
          <a:bodyPr wrap="square">
            <a:spAutoFit/>
          </a:bodyPr>
          <a:lstStyle/>
          <a:p>
            <a:pPr algn="l">
              <a:defRPr sz="1000" b="0">
                <a:solidFill>
                  <a:srgbClr val="757575"/>
                </a:solidFill>
                <a:latin typeface="Calibri"/>
              </a:defRPr>
            </a:pPr>
            <a:r>
              <a:t>Test AMR + cladogram</a:t>
            </a:r>
          </a:p>
        </p:txBody>
      </p:sp>
      <p:sp>
        <p:nvSpPr>
          <p:cNvPr id="30" name="TextBox 29"/>
          <p:cNvSpPr txBox="1"/>
          <p:nvPr/>
        </p:nvSpPr>
        <p:spPr>
          <a:xfrm>
            <a:off x="4754880" y="1463040"/>
            <a:ext cx="3200400" cy="457200"/>
          </a:xfrm>
          <a:prstGeom prst="rect">
            <a:avLst/>
          </a:prstGeom>
          <a:noFill/>
        </p:spPr>
        <p:txBody>
          <a:bodyPr wrap="square">
            <a:spAutoFit/>
          </a:bodyPr>
          <a:lstStyle/>
          <a:p>
            <a:pPr algn="l">
              <a:defRPr sz="1800" b="1">
                <a:solidFill>
                  <a:srgbClr val="0D47A1"/>
                </a:solidFill>
                <a:latin typeface="Calibri"/>
              </a:defRPr>
            </a:pPr>
            <a:r>
              <a:t>Data &amp; Training</a:t>
            </a:r>
          </a:p>
        </p:txBody>
      </p:sp>
      <p:sp>
        <p:nvSpPr>
          <p:cNvPr id="31" name="TextBox 30"/>
          <p:cNvSpPr txBox="1"/>
          <p:nvPr/>
        </p:nvSpPr>
        <p:spPr>
          <a:xfrm>
            <a:off x="4754880" y="1920240"/>
            <a:ext cx="3474720" cy="4114800"/>
          </a:xfrm>
          <a:prstGeom prst="rect">
            <a:avLst/>
          </a:prstGeom>
          <a:noFill/>
        </p:spPr>
        <p:txBody>
          <a:bodyPr wrap="square">
            <a:spAutoFit/>
          </a:bodyPr>
          <a:lstStyle/>
          <a:p>
            <a:pPr>
              <a:spcAft>
                <a:spcPts val="200"/>
              </a:spcAft>
              <a:defRPr sz="1100">
                <a:solidFill>
                  <a:srgbClr val="333333"/>
                </a:solidFill>
                <a:latin typeface="Consolas"/>
              </a:defRPr>
            </a:pPr>
            <a:r>
              <a:t>plasmid_sequences_for_training/</a:t>
            </a:r>
          </a:p>
          <a:p>
            <a:pPr>
              <a:spcAft>
                <a:spcPts val="200"/>
              </a:spcAft>
              <a:defRPr sz="1100">
                <a:solidFill>
                  <a:srgbClr val="333333"/>
                </a:solidFill>
                <a:latin typeface="Consolas"/>
              </a:defRPr>
            </a:pPr>
            <a:r>
              <a:t>  ├─ 20 Inc group folders/fastas/</a:t>
            </a:r>
          </a:p>
          <a:p>
            <a:pPr>
              <a:spcAft>
                <a:spcPts val="200"/>
              </a:spcAft>
              <a:defRPr sz="1100">
                <a:solidFill>
                  <a:srgbClr val="333333"/>
                </a:solidFill>
                <a:latin typeface="Consolas"/>
              </a:defRPr>
            </a:pPr>
            <a:r>
              <a:t>  └─ 6,998 training files total</a:t>
            </a:r>
          </a:p>
          <a:p>
            <a:pPr>
              <a:spcAft>
                <a:spcPts val="200"/>
              </a:spcAft>
              <a:defRPr sz="1100">
                <a:solidFill>
                  <a:srgbClr val="333333"/>
                </a:solidFill>
                <a:latin typeface="Consolas"/>
              </a:defRPr>
            </a:pPr>
          </a:p>
          <a:p>
            <a:pPr>
              <a:spcAft>
                <a:spcPts val="200"/>
              </a:spcAft>
              <a:defRPr sz="1100">
                <a:solidFill>
                  <a:srgbClr val="333333"/>
                </a:solidFill>
                <a:latin typeface="Consolas"/>
              </a:defRPr>
            </a:pPr>
            <a:r>
              <a:t>reference/</a:t>
            </a:r>
          </a:p>
          <a:p>
            <a:pPr>
              <a:spcAft>
                <a:spcPts val="200"/>
              </a:spcAft>
              <a:defRPr sz="1100">
                <a:solidFill>
                  <a:srgbClr val="333333"/>
                </a:solidFill>
                <a:latin typeface="Consolas"/>
              </a:defRPr>
            </a:pPr>
            <a:r>
              <a:t>  └─ 72,556 individual plasmid FASTAs</a:t>
            </a:r>
          </a:p>
          <a:p>
            <a:pPr>
              <a:spcAft>
                <a:spcPts val="200"/>
              </a:spcAft>
              <a:defRPr sz="1100">
                <a:solidFill>
                  <a:srgbClr val="333333"/>
                </a:solidFill>
                <a:latin typeface="Consolas"/>
              </a:defRPr>
            </a:pPr>
          </a:p>
          <a:p>
            <a:pPr>
              <a:spcAft>
                <a:spcPts val="200"/>
              </a:spcAft>
              <a:defRPr sz="1100">
                <a:solidFill>
                  <a:srgbClr val="333333"/>
                </a:solidFill>
                <a:latin typeface="Consolas"/>
              </a:defRPr>
            </a:pPr>
            <a:r>
              <a:t>data/</a:t>
            </a:r>
          </a:p>
          <a:p>
            <a:pPr>
              <a:spcAft>
                <a:spcPts val="200"/>
              </a:spcAft>
              <a:defRPr sz="1100">
                <a:solidFill>
                  <a:srgbClr val="333333"/>
                </a:solidFill>
                <a:latin typeface="Consolas"/>
              </a:defRPr>
            </a:pPr>
            <a:r>
              <a:t>  ├─ inc_classifier.npz</a:t>
            </a:r>
          </a:p>
          <a:p>
            <a:pPr>
              <a:spcAft>
                <a:spcPts val="200"/>
              </a:spcAft>
              <a:defRPr sz="1100">
                <a:solidFill>
                  <a:srgbClr val="333333"/>
                </a:solidFill>
                <a:latin typeface="Consolas"/>
              </a:defRPr>
            </a:pPr>
            <a:r>
              <a:t>  └─ inc_centroids.npz</a:t>
            </a:r>
          </a:p>
          <a:p>
            <a:pPr>
              <a:spcAft>
                <a:spcPts val="200"/>
              </a:spcAft>
              <a:defRPr sz="1100">
                <a:solidFill>
                  <a:srgbClr val="333333"/>
                </a:solidFill>
                <a:latin typeface="Consolas"/>
              </a:defRPr>
            </a:pPr>
          </a:p>
          <a:p>
            <a:pPr>
              <a:spcAft>
                <a:spcPts val="200"/>
              </a:spcAft>
              <a:defRPr sz="1100">
                <a:solidFill>
                  <a:srgbClr val="333333"/>
                </a:solidFill>
                <a:latin typeface="Consolas"/>
              </a:defRPr>
            </a:pPr>
            <a:r>
              <a:t>test_plasmids/</a:t>
            </a:r>
          </a:p>
          <a:p>
            <a:pPr>
              <a:spcAft>
                <a:spcPts val="200"/>
              </a:spcAft>
              <a:defRPr sz="1100">
                <a:solidFill>
                  <a:srgbClr val="333333"/>
                </a:solidFill>
                <a:latin typeface="Consolas"/>
              </a:defRPr>
            </a:pPr>
            <a:r>
              <a:t>  └─ IncX/  (22 FASTA files)</a:t>
            </a:r>
          </a:p>
        </p:txBody>
      </p:sp>
      <p:sp>
        <p:nvSpPr>
          <p:cNvPr id="32" name="TextBox 31"/>
          <p:cNvSpPr txBox="1"/>
          <p:nvPr/>
        </p:nvSpPr>
        <p:spPr>
          <a:xfrm>
            <a:off x="8686800" y="1463040"/>
            <a:ext cx="3200400" cy="457200"/>
          </a:xfrm>
          <a:prstGeom prst="rect">
            <a:avLst/>
          </a:prstGeom>
          <a:noFill/>
        </p:spPr>
        <p:txBody>
          <a:bodyPr wrap="square">
            <a:spAutoFit/>
          </a:bodyPr>
          <a:lstStyle/>
          <a:p>
            <a:pPr algn="l">
              <a:defRPr sz="1800" b="1">
                <a:solidFill>
                  <a:srgbClr val="0D47A1"/>
                </a:solidFill>
                <a:latin typeface="Calibri"/>
              </a:defRPr>
            </a:pPr>
            <a:r>
              <a:t>Output</a:t>
            </a:r>
          </a:p>
        </p:txBody>
      </p:sp>
      <p:sp>
        <p:nvSpPr>
          <p:cNvPr id="33" name="TextBox 32"/>
          <p:cNvSpPr txBox="1"/>
          <p:nvPr/>
        </p:nvSpPr>
        <p:spPr>
          <a:xfrm>
            <a:off x="8686800" y="1920240"/>
            <a:ext cx="3200400" cy="4114800"/>
          </a:xfrm>
          <a:prstGeom prst="rect">
            <a:avLst/>
          </a:prstGeom>
          <a:noFill/>
        </p:spPr>
        <p:txBody>
          <a:bodyPr wrap="square">
            <a:spAutoFit/>
          </a:bodyPr>
          <a:lstStyle/>
          <a:p>
            <a:pPr>
              <a:spcAft>
                <a:spcPts val="200"/>
              </a:spcAft>
              <a:defRPr sz="1100">
                <a:solidFill>
                  <a:srgbClr val="333333"/>
                </a:solidFill>
                <a:latin typeface="Consolas"/>
              </a:defRPr>
            </a:pPr>
            <a:r>
              <a:t>output/</a:t>
            </a:r>
          </a:p>
          <a:p>
            <a:pPr>
              <a:spcAft>
                <a:spcPts val="200"/>
              </a:spcAft>
              <a:defRPr sz="1100">
                <a:solidFill>
                  <a:srgbClr val="333333"/>
                </a:solidFill>
                <a:latin typeface="Consolas"/>
              </a:defRPr>
            </a:pPr>
            <a:r>
              <a:t>  ├─ pLIN_assignments.tsv</a:t>
            </a:r>
          </a:p>
          <a:p>
            <a:pPr>
              <a:spcAft>
                <a:spcPts val="200"/>
              </a:spcAft>
              <a:defRPr sz="1100">
                <a:solidFill>
                  <a:srgbClr val="333333"/>
                </a:solidFill>
                <a:latin typeface="Consolas"/>
              </a:defRPr>
            </a:pPr>
            <a:r>
              <a:t>  ├─ amrfinder/</a:t>
            </a:r>
          </a:p>
          <a:p>
            <a:pPr>
              <a:spcAft>
                <a:spcPts val="200"/>
              </a:spcAft>
              <a:defRPr sz="1100">
                <a:solidFill>
                  <a:srgbClr val="333333"/>
                </a:solidFill>
                <a:latin typeface="Consolas"/>
              </a:defRPr>
            </a:pPr>
            <a:r>
              <a:t>  │   └─ amrfinder_all_plasmids.tsv</a:t>
            </a:r>
          </a:p>
          <a:p>
            <a:pPr>
              <a:spcAft>
                <a:spcPts val="200"/>
              </a:spcAft>
              <a:defRPr sz="1100">
                <a:solidFill>
                  <a:srgbClr val="333333"/>
                </a:solidFill>
                <a:latin typeface="Consolas"/>
              </a:defRPr>
            </a:pPr>
            <a:r>
              <a:t>  ├─ integrated/</a:t>
            </a:r>
          </a:p>
          <a:p>
            <a:pPr>
              <a:spcAft>
                <a:spcPts val="200"/>
              </a:spcAft>
              <a:defRPr sz="1100">
                <a:solidFill>
                  <a:srgbClr val="333333"/>
                </a:solidFill>
                <a:latin typeface="Consolas"/>
              </a:defRPr>
            </a:pPr>
            <a:r>
              <a:t>  │   ├─ pLIN_AMR_integrated.tsv</a:t>
            </a:r>
          </a:p>
          <a:p>
            <a:pPr>
              <a:spcAft>
                <a:spcPts val="200"/>
              </a:spcAft>
              <a:defRPr sz="1100">
                <a:solidFill>
                  <a:srgbClr val="333333"/>
                </a:solidFill>
                <a:latin typeface="Consolas"/>
              </a:defRPr>
            </a:pPr>
            <a:r>
              <a:t>  │   └─ pLIN_lineage_AMR_summary.tsv</a:t>
            </a:r>
          </a:p>
          <a:p>
            <a:pPr>
              <a:spcAft>
                <a:spcPts val="200"/>
              </a:spcAft>
              <a:defRPr sz="1100">
                <a:solidFill>
                  <a:srgbClr val="333333"/>
                </a:solidFill>
                <a:latin typeface="Consolas"/>
              </a:defRPr>
            </a:pPr>
            <a:r>
              <a:t>  ├─ figures/ (7 figs, PNG+PDF)</a:t>
            </a:r>
          </a:p>
          <a:p>
            <a:pPr>
              <a:spcAft>
                <a:spcPts val="200"/>
              </a:spcAft>
              <a:defRPr sz="1100">
                <a:solidFill>
                  <a:srgbClr val="333333"/>
                </a:solidFill>
                <a:latin typeface="Consolas"/>
              </a:defRPr>
            </a:pPr>
            <a:r>
              <a:t>  └─ test/ (test results)</a:t>
            </a:r>
          </a:p>
        </p:txBody>
      </p:sp>
      <p:sp>
        <p:nvSpPr>
          <p:cNvPr id="34" name="Rounded Rectangle 33"/>
          <p:cNvSpPr/>
          <p:nvPr/>
        </p:nvSpPr>
        <p:spPr>
          <a:xfrm>
            <a:off x="457200" y="5486400"/>
            <a:ext cx="11338560" cy="914400"/>
          </a:xfrm>
          <a:prstGeom prst="roundRect">
            <a:avLst/>
          </a:prstGeom>
          <a:solidFill>
            <a:srgbClr val="ECEFF1"/>
          </a:solidFill>
          <a:ln w="127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532120"/>
            <a:ext cx="2743200" cy="320040"/>
          </a:xfrm>
          <a:prstGeom prst="rect">
            <a:avLst/>
          </a:prstGeom>
          <a:noFill/>
        </p:spPr>
        <p:txBody>
          <a:bodyPr wrap="square">
            <a:spAutoFit/>
          </a:bodyPr>
          <a:lstStyle/>
          <a:p>
            <a:pPr algn="l">
              <a:defRPr sz="1300" b="1">
                <a:solidFill>
                  <a:srgbClr val="333333"/>
                </a:solidFill>
                <a:latin typeface="Calibri"/>
              </a:defRPr>
            </a:pPr>
            <a:r>
              <a:t>Automation Scripts:</a:t>
            </a:r>
          </a:p>
        </p:txBody>
      </p:sp>
      <p:sp>
        <p:nvSpPr>
          <p:cNvPr id="36" name="TextBox 35"/>
          <p:cNvSpPr txBox="1"/>
          <p:nvPr/>
        </p:nvSpPr>
        <p:spPr>
          <a:xfrm>
            <a:off x="640080" y="5806440"/>
            <a:ext cx="10515600" cy="548640"/>
          </a:xfrm>
          <a:prstGeom prst="rect">
            <a:avLst/>
          </a:prstGeom>
          <a:noFill/>
        </p:spPr>
        <p:txBody>
          <a:bodyPr wrap="square">
            <a:spAutoFit/>
          </a:bodyPr>
          <a:lstStyle/>
          <a:p>
            <a:pPr>
              <a:spcAft>
                <a:spcPts val="200"/>
              </a:spcAft>
              <a:defRPr sz="1100">
                <a:solidFill>
                  <a:srgbClr val="333333"/>
                </a:solidFill>
                <a:latin typeface="Consolas"/>
              </a:defRPr>
            </a:pPr>
            <a:r>
              <a:t>setup.sh / setup.bat  —  Create venv &amp; install deps</a:t>
            </a:r>
          </a:p>
          <a:p>
            <a:pPr>
              <a:spcAft>
                <a:spcPts val="200"/>
              </a:spcAft>
              <a:defRPr sz="1100">
                <a:solidFill>
                  <a:srgbClr val="333333"/>
                </a:solidFill>
                <a:latin typeface="Consolas"/>
              </a:defRPr>
            </a:pPr>
            <a:r>
              <a:t>run_all.sh / run_all.bat  —  Full pipeline: pLIN → AMR → Integration → Figures</a:t>
            </a:r>
          </a:p>
          <a:p>
            <a:pPr>
              <a:spcAft>
                <a:spcPts val="200"/>
              </a:spcAft>
              <a:defRPr sz="1100">
                <a:solidFill>
                  <a:srgbClr val="333333"/>
                </a:solidFill>
                <a:latin typeface="Consolas"/>
              </a:defRPr>
            </a:pPr>
            <a:r>
              <a:t>run_amrfinder_all.sh  —  Batch AMRFinderPlus on all training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Technology Stack</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Core dependencies and tools</a:t>
            </a:r>
          </a:p>
        </p:txBody>
      </p:sp>
      <p:sp>
        <p:nvSpPr>
          <p:cNvPr id="5" name="Rounded Rectangle 4"/>
          <p:cNvSpPr/>
          <p:nvPr/>
        </p:nvSpPr>
        <p:spPr>
          <a:xfrm>
            <a:off x="457200" y="1463040"/>
            <a:ext cx="274320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90472"/>
            <a:ext cx="2743200" cy="365760"/>
          </a:xfrm>
          <a:prstGeom prst="rect">
            <a:avLst/>
          </a:prstGeom>
          <a:noFill/>
        </p:spPr>
        <p:txBody>
          <a:bodyPr wrap="square">
            <a:spAutoFit/>
          </a:bodyPr>
          <a:lstStyle/>
          <a:p>
            <a:pPr algn="ctr">
              <a:defRPr sz="1400" b="1">
                <a:solidFill>
                  <a:srgbClr val="FFFFFF"/>
                </a:solidFill>
                <a:latin typeface="Calibri"/>
              </a:defRPr>
            </a:pPr>
            <a:r>
              <a:t>Core Scientific</a:t>
            </a:r>
          </a:p>
        </p:txBody>
      </p:sp>
      <p:sp>
        <p:nvSpPr>
          <p:cNvPr id="7" name="Rounded Rectangle 6"/>
          <p:cNvSpPr/>
          <p:nvPr/>
        </p:nvSpPr>
        <p:spPr>
          <a:xfrm>
            <a:off x="457200" y="2103120"/>
            <a:ext cx="2743200" cy="5943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30552"/>
            <a:ext cx="2560320" cy="274320"/>
          </a:xfrm>
          <a:prstGeom prst="rect">
            <a:avLst/>
          </a:prstGeom>
          <a:noFill/>
        </p:spPr>
        <p:txBody>
          <a:bodyPr wrap="square">
            <a:spAutoFit/>
          </a:bodyPr>
          <a:lstStyle/>
          <a:p>
            <a:pPr algn="l">
              <a:defRPr sz="1200" b="1">
                <a:solidFill>
                  <a:srgbClr val="1E88E5"/>
                </a:solidFill>
                <a:latin typeface="Consolas"/>
              </a:defRPr>
            </a:pPr>
            <a:r>
              <a:t>NumPy ≥ 2.0</a:t>
            </a:r>
          </a:p>
        </p:txBody>
      </p:sp>
      <p:sp>
        <p:nvSpPr>
          <p:cNvPr id="9" name="TextBox 8"/>
          <p:cNvSpPr txBox="1"/>
          <p:nvPr/>
        </p:nvSpPr>
        <p:spPr>
          <a:xfrm>
            <a:off x="548640" y="2404872"/>
            <a:ext cx="2560320" cy="274320"/>
          </a:xfrm>
          <a:prstGeom prst="rect">
            <a:avLst/>
          </a:prstGeom>
          <a:noFill/>
        </p:spPr>
        <p:txBody>
          <a:bodyPr wrap="square">
            <a:spAutoFit/>
          </a:bodyPr>
          <a:lstStyle/>
          <a:p>
            <a:pPr algn="l">
              <a:defRPr sz="1000" b="0">
                <a:solidFill>
                  <a:srgbClr val="757575"/>
                </a:solidFill>
                <a:latin typeface="Calibri"/>
              </a:defRPr>
            </a:pPr>
            <a:r>
              <a:t>Array operations, k-mer vectors</a:t>
            </a:r>
          </a:p>
        </p:txBody>
      </p:sp>
      <p:sp>
        <p:nvSpPr>
          <p:cNvPr id="10" name="Rounded Rectangle 9"/>
          <p:cNvSpPr/>
          <p:nvPr/>
        </p:nvSpPr>
        <p:spPr>
          <a:xfrm>
            <a:off x="457200" y="2788920"/>
            <a:ext cx="2743200" cy="5943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16352"/>
            <a:ext cx="2560320" cy="274320"/>
          </a:xfrm>
          <a:prstGeom prst="rect">
            <a:avLst/>
          </a:prstGeom>
          <a:noFill/>
        </p:spPr>
        <p:txBody>
          <a:bodyPr wrap="square">
            <a:spAutoFit/>
          </a:bodyPr>
          <a:lstStyle/>
          <a:p>
            <a:pPr algn="l">
              <a:defRPr sz="1200" b="1">
                <a:solidFill>
                  <a:srgbClr val="1E88E5"/>
                </a:solidFill>
                <a:latin typeface="Consolas"/>
              </a:defRPr>
            </a:pPr>
            <a:r>
              <a:t>Pandas ≥ 2.0</a:t>
            </a:r>
          </a:p>
        </p:txBody>
      </p:sp>
      <p:sp>
        <p:nvSpPr>
          <p:cNvPr id="12" name="TextBox 11"/>
          <p:cNvSpPr txBox="1"/>
          <p:nvPr/>
        </p:nvSpPr>
        <p:spPr>
          <a:xfrm>
            <a:off x="548640" y="3090672"/>
            <a:ext cx="2560320" cy="274320"/>
          </a:xfrm>
          <a:prstGeom prst="rect">
            <a:avLst/>
          </a:prstGeom>
          <a:noFill/>
        </p:spPr>
        <p:txBody>
          <a:bodyPr wrap="square">
            <a:spAutoFit/>
          </a:bodyPr>
          <a:lstStyle/>
          <a:p>
            <a:pPr algn="l">
              <a:defRPr sz="1000" b="0">
                <a:solidFill>
                  <a:srgbClr val="757575"/>
                </a:solidFill>
                <a:latin typeface="Calibri"/>
              </a:defRPr>
            </a:pPr>
            <a:r>
              <a:t>DataFrames, TSV I/O</a:t>
            </a:r>
          </a:p>
        </p:txBody>
      </p:sp>
      <p:sp>
        <p:nvSpPr>
          <p:cNvPr id="13" name="Rounded Rectangle 12"/>
          <p:cNvSpPr/>
          <p:nvPr/>
        </p:nvSpPr>
        <p:spPr>
          <a:xfrm>
            <a:off x="457200" y="3474720"/>
            <a:ext cx="2743200" cy="5943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502152"/>
            <a:ext cx="2560320" cy="274320"/>
          </a:xfrm>
          <a:prstGeom prst="rect">
            <a:avLst/>
          </a:prstGeom>
          <a:noFill/>
        </p:spPr>
        <p:txBody>
          <a:bodyPr wrap="square">
            <a:spAutoFit/>
          </a:bodyPr>
          <a:lstStyle/>
          <a:p>
            <a:pPr algn="l">
              <a:defRPr sz="1200" b="1">
                <a:solidFill>
                  <a:srgbClr val="1E88E5"/>
                </a:solidFill>
                <a:latin typeface="Consolas"/>
              </a:defRPr>
            </a:pPr>
            <a:r>
              <a:t>SciPy ≥ 1.12</a:t>
            </a:r>
          </a:p>
        </p:txBody>
      </p:sp>
      <p:sp>
        <p:nvSpPr>
          <p:cNvPr id="15" name="TextBox 14"/>
          <p:cNvSpPr txBox="1"/>
          <p:nvPr/>
        </p:nvSpPr>
        <p:spPr>
          <a:xfrm>
            <a:off x="548640" y="3776472"/>
            <a:ext cx="2560320" cy="274320"/>
          </a:xfrm>
          <a:prstGeom prst="rect">
            <a:avLst/>
          </a:prstGeom>
          <a:noFill/>
        </p:spPr>
        <p:txBody>
          <a:bodyPr wrap="square">
            <a:spAutoFit/>
          </a:bodyPr>
          <a:lstStyle/>
          <a:p>
            <a:pPr algn="l">
              <a:defRPr sz="1000" b="0">
                <a:solidFill>
                  <a:srgbClr val="757575"/>
                </a:solidFill>
                <a:latin typeface="Calibri"/>
              </a:defRPr>
            </a:pPr>
            <a:r>
              <a:t>pdist, linkage, fcluster, dendrogram</a:t>
            </a:r>
          </a:p>
        </p:txBody>
      </p:sp>
      <p:sp>
        <p:nvSpPr>
          <p:cNvPr id="16" name="Rounded Rectangle 15"/>
          <p:cNvSpPr/>
          <p:nvPr/>
        </p:nvSpPr>
        <p:spPr>
          <a:xfrm>
            <a:off x="457200" y="4160520"/>
            <a:ext cx="2743200" cy="5943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87952"/>
            <a:ext cx="2560320" cy="274320"/>
          </a:xfrm>
          <a:prstGeom prst="rect">
            <a:avLst/>
          </a:prstGeom>
          <a:noFill/>
        </p:spPr>
        <p:txBody>
          <a:bodyPr wrap="square">
            <a:spAutoFit/>
          </a:bodyPr>
          <a:lstStyle/>
          <a:p>
            <a:pPr algn="l">
              <a:defRPr sz="1200" b="1">
                <a:solidFill>
                  <a:srgbClr val="1E88E5"/>
                </a:solidFill>
                <a:latin typeface="Consolas"/>
              </a:defRPr>
            </a:pPr>
            <a:r>
              <a:t>BioPython ≥ 1.80</a:t>
            </a:r>
          </a:p>
        </p:txBody>
      </p:sp>
      <p:sp>
        <p:nvSpPr>
          <p:cNvPr id="18" name="TextBox 17"/>
          <p:cNvSpPr txBox="1"/>
          <p:nvPr/>
        </p:nvSpPr>
        <p:spPr>
          <a:xfrm>
            <a:off x="548640" y="4462272"/>
            <a:ext cx="2560320" cy="274320"/>
          </a:xfrm>
          <a:prstGeom prst="rect">
            <a:avLst/>
          </a:prstGeom>
          <a:noFill/>
        </p:spPr>
        <p:txBody>
          <a:bodyPr wrap="square">
            <a:spAutoFit/>
          </a:bodyPr>
          <a:lstStyle/>
          <a:p>
            <a:pPr algn="l">
              <a:defRPr sz="1000" b="0">
                <a:solidFill>
                  <a:srgbClr val="757575"/>
                </a:solidFill>
                <a:latin typeface="Calibri"/>
              </a:defRPr>
            </a:pPr>
            <a:r>
              <a:t>FASTA parsing (SeqIO)</a:t>
            </a:r>
          </a:p>
        </p:txBody>
      </p:sp>
      <p:sp>
        <p:nvSpPr>
          <p:cNvPr id="19" name="Rounded Rectangle 18"/>
          <p:cNvSpPr/>
          <p:nvPr/>
        </p:nvSpPr>
        <p:spPr>
          <a:xfrm>
            <a:off x="3383280" y="1463040"/>
            <a:ext cx="2743200" cy="45720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1490472"/>
            <a:ext cx="2743200" cy="365760"/>
          </a:xfrm>
          <a:prstGeom prst="rect">
            <a:avLst/>
          </a:prstGeom>
          <a:noFill/>
        </p:spPr>
        <p:txBody>
          <a:bodyPr wrap="square">
            <a:spAutoFit/>
          </a:bodyPr>
          <a:lstStyle/>
          <a:p>
            <a:pPr algn="ctr">
              <a:defRPr sz="1400" b="1">
                <a:solidFill>
                  <a:srgbClr val="FFFFFF"/>
                </a:solidFill>
                <a:latin typeface="Calibri"/>
              </a:defRPr>
            </a:pPr>
            <a:r>
              <a:t>Machine Learning</a:t>
            </a:r>
          </a:p>
        </p:txBody>
      </p:sp>
      <p:sp>
        <p:nvSpPr>
          <p:cNvPr id="21" name="Rounded Rectangle 20"/>
          <p:cNvSpPr/>
          <p:nvPr/>
        </p:nvSpPr>
        <p:spPr>
          <a:xfrm>
            <a:off x="3383280" y="2103120"/>
            <a:ext cx="2743200" cy="59436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0" y="2130552"/>
            <a:ext cx="2560320" cy="274320"/>
          </a:xfrm>
          <a:prstGeom prst="rect">
            <a:avLst/>
          </a:prstGeom>
          <a:noFill/>
        </p:spPr>
        <p:txBody>
          <a:bodyPr wrap="square">
            <a:spAutoFit/>
          </a:bodyPr>
          <a:lstStyle/>
          <a:p>
            <a:pPr algn="l">
              <a:defRPr sz="1200" b="1">
                <a:solidFill>
                  <a:srgbClr val="43A047"/>
                </a:solidFill>
                <a:latin typeface="Consolas"/>
              </a:defRPr>
            </a:pPr>
            <a:r>
              <a:t>scikit-learn ≥ 1.4</a:t>
            </a:r>
          </a:p>
        </p:txBody>
      </p:sp>
      <p:sp>
        <p:nvSpPr>
          <p:cNvPr id="23" name="TextBox 22"/>
          <p:cNvSpPr txBox="1"/>
          <p:nvPr/>
        </p:nvSpPr>
        <p:spPr>
          <a:xfrm>
            <a:off x="3474720" y="2404872"/>
            <a:ext cx="2560320" cy="274320"/>
          </a:xfrm>
          <a:prstGeom prst="rect">
            <a:avLst/>
          </a:prstGeom>
          <a:noFill/>
        </p:spPr>
        <p:txBody>
          <a:bodyPr wrap="square">
            <a:spAutoFit/>
          </a:bodyPr>
          <a:lstStyle/>
          <a:p>
            <a:pPr algn="l">
              <a:defRPr sz="1000" b="0">
                <a:solidFill>
                  <a:srgbClr val="757575"/>
                </a:solidFill>
                <a:latin typeface="Calibri"/>
              </a:defRPr>
            </a:pPr>
            <a:r>
              <a:t>KNN classifier for Inc detection</a:t>
            </a:r>
          </a:p>
        </p:txBody>
      </p:sp>
      <p:sp>
        <p:nvSpPr>
          <p:cNvPr id="24" name="Rounded Rectangle 23"/>
          <p:cNvSpPr/>
          <p:nvPr/>
        </p:nvSpPr>
        <p:spPr>
          <a:xfrm>
            <a:off x="3383280" y="2788920"/>
            <a:ext cx="2743200" cy="59436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816352"/>
            <a:ext cx="2560320" cy="274320"/>
          </a:xfrm>
          <a:prstGeom prst="rect">
            <a:avLst/>
          </a:prstGeom>
          <a:noFill/>
        </p:spPr>
        <p:txBody>
          <a:bodyPr wrap="square">
            <a:spAutoFit/>
          </a:bodyPr>
          <a:lstStyle/>
          <a:p>
            <a:pPr algn="l">
              <a:defRPr sz="1200" b="1">
                <a:solidFill>
                  <a:srgbClr val="43A047"/>
                </a:solidFill>
                <a:latin typeface="Consolas"/>
              </a:defRPr>
            </a:pPr>
            <a:r>
              <a:t>XGBoost ≥ 2.0</a:t>
            </a:r>
          </a:p>
        </p:txBody>
      </p:sp>
      <p:sp>
        <p:nvSpPr>
          <p:cNvPr id="26" name="TextBox 25"/>
          <p:cNvSpPr txBox="1"/>
          <p:nvPr/>
        </p:nvSpPr>
        <p:spPr>
          <a:xfrm>
            <a:off x="3474720" y="3090672"/>
            <a:ext cx="2560320" cy="274320"/>
          </a:xfrm>
          <a:prstGeom prst="rect">
            <a:avLst/>
          </a:prstGeom>
          <a:noFill/>
        </p:spPr>
        <p:txBody>
          <a:bodyPr wrap="square">
            <a:spAutoFit/>
          </a:bodyPr>
          <a:lstStyle/>
          <a:p>
            <a:pPr algn="l">
              <a:defRPr sz="1000" b="0">
                <a:solidFill>
                  <a:srgbClr val="757575"/>
                </a:solidFill>
                <a:latin typeface="Calibri"/>
              </a:defRPr>
            </a:pPr>
            <a:r>
              <a:t>Validation classifier (F1=0.903)</a:t>
            </a:r>
          </a:p>
        </p:txBody>
      </p:sp>
      <p:sp>
        <p:nvSpPr>
          <p:cNvPr id="27" name="Rounded Rectangle 26"/>
          <p:cNvSpPr/>
          <p:nvPr/>
        </p:nvSpPr>
        <p:spPr>
          <a:xfrm>
            <a:off x="3383280" y="3474720"/>
            <a:ext cx="2743200" cy="59436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0" y="3502152"/>
            <a:ext cx="2560320" cy="274320"/>
          </a:xfrm>
          <a:prstGeom prst="rect">
            <a:avLst/>
          </a:prstGeom>
          <a:noFill/>
        </p:spPr>
        <p:txBody>
          <a:bodyPr wrap="square">
            <a:spAutoFit/>
          </a:bodyPr>
          <a:lstStyle/>
          <a:p>
            <a:pPr algn="l">
              <a:defRPr sz="1200" b="1">
                <a:solidFill>
                  <a:srgbClr val="43A047"/>
                </a:solidFill>
                <a:latin typeface="Consolas"/>
              </a:defRPr>
            </a:pPr>
            <a:r>
              <a:t>Optuna ≥ 3.5</a:t>
            </a:r>
          </a:p>
        </p:txBody>
      </p:sp>
      <p:sp>
        <p:nvSpPr>
          <p:cNvPr id="29" name="TextBox 28"/>
          <p:cNvSpPr txBox="1"/>
          <p:nvPr/>
        </p:nvSpPr>
        <p:spPr>
          <a:xfrm>
            <a:off x="3474720" y="3776472"/>
            <a:ext cx="2560320" cy="274320"/>
          </a:xfrm>
          <a:prstGeom prst="rect">
            <a:avLst/>
          </a:prstGeom>
          <a:noFill/>
        </p:spPr>
        <p:txBody>
          <a:bodyPr wrap="square">
            <a:spAutoFit/>
          </a:bodyPr>
          <a:lstStyle/>
          <a:p>
            <a:pPr algn="l">
              <a:defRPr sz="1000" b="0">
                <a:solidFill>
                  <a:srgbClr val="757575"/>
                </a:solidFill>
                <a:latin typeface="Calibri"/>
              </a:defRPr>
            </a:pPr>
            <a:r>
              <a:t>Hyperparameter optimization</a:t>
            </a:r>
          </a:p>
        </p:txBody>
      </p:sp>
      <p:sp>
        <p:nvSpPr>
          <p:cNvPr id="30" name="Rounded Rectangle 29"/>
          <p:cNvSpPr/>
          <p:nvPr/>
        </p:nvSpPr>
        <p:spPr>
          <a:xfrm>
            <a:off x="6309360" y="1463040"/>
            <a:ext cx="2743200" cy="45720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1490472"/>
            <a:ext cx="2743200" cy="365760"/>
          </a:xfrm>
          <a:prstGeom prst="rect">
            <a:avLst/>
          </a:prstGeom>
          <a:noFill/>
        </p:spPr>
        <p:txBody>
          <a:bodyPr wrap="square">
            <a:spAutoFit/>
          </a:bodyPr>
          <a:lstStyle/>
          <a:p>
            <a:pPr algn="ctr">
              <a:defRPr sz="1400" b="1">
                <a:solidFill>
                  <a:srgbClr val="FFFFFF"/>
                </a:solidFill>
                <a:latin typeface="Calibri"/>
              </a:defRPr>
            </a:pPr>
            <a:r>
              <a:t>Visualization</a:t>
            </a:r>
          </a:p>
        </p:txBody>
      </p:sp>
      <p:sp>
        <p:nvSpPr>
          <p:cNvPr id="32" name="Rounded Rectangle 31"/>
          <p:cNvSpPr/>
          <p:nvPr/>
        </p:nvSpPr>
        <p:spPr>
          <a:xfrm>
            <a:off x="6309360" y="2103120"/>
            <a:ext cx="2743200" cy="59436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2130552"/>
            <a:ext cx="2560320" cy="274320"/>
          </a:xfrm>
          <a:prstGeom prst="rect">
            <a:avLst/>
          </a:prstGeom>
          <a:noFill/>
        </p:spPr>
        <p:txBody>
          <a:bodyPr wrap="square">
            <a:spAutoFit/>
          </a:bodyPr>
          <a:lstStyle/>
          <a:p>
            <a:pPr algn="l">
              <a:defRPr sz="1200" b="1">
                <a:solidFill>
                  <a:srgbClr val="FB8C00"/>
                </a:solidFill>
                <a:latin typeface="Consolas"/>
              </a:defRPr>
            </a:pPr>
            <a:r>
              <a:t>Matplotlib ≥ 3.8</a:t>
            </a:r>
          </a:p>
        </p:txBody>
      </p:sp>
      <p:sp>
        <p:nvSpPr>
          <p:cNvPr id="34" name="TextBox 33"/>
          <p:cNvSpPr txBox="1"/>
          <p:nvPr/>
        </p:nvSpPr>
        <p:spPr>
          <a:xfrm>
            <a:off x="6400800" y="2404872"/>
            <a:ext cx="2560320" cy="274320"/>
          </a:xfrm>
          <a:prstGeom prst="rect">
            <a:avLst/>
          </a:prstGeom>
          <a:noFill/>
        </p:spPr>
        <p:txBody>
          <a:bodyPr wrap="square">
            <a:spAutoFit/>
          </a:bodyPr>
          <a:lstStyle/>
          <a:p>
            <a:pPr algn="l">
              <a:defRPr sz="1000" b="0">
                <a:solidFill>
                  <a:srgbClr val="757575"/>
                </a:solidFill>
                <a:latin typeface="Calibri"/>
              </a:defRPr>
            </a:pPr>
            <a:r>
              <a:t>Cladograms, static figures</a:t>
            </a:r>
          </a:p>
        </p:txBody>
      </p:sp>
      <p:sp>
        <p:nvSpPr>
          <p:cNvPr id="35" name="Rounded Rectangle 34"/>
          <p:cNvSpPr/>
          <p:nvPr/>
        </p:nvSpPr>
        <p:spPr>
          <a:xfrm>
            <a:off x="6309360" y="2788920"/>
            <a:ext cx="2743200" cy="59436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2816352"/>
            <a:ext cx="2560320" cy="274320"/>
          </a:xfrm>
          <a:prstGeom prst="rect">
            <a:avLst/>
          </a:prstGeom>
          <a:noFill/>
        </p:spPr>
        <p:txBody>
          <a:bodyPr wrap="square">
            <a:spAutoFit/>
          </a:bodyPr>
          <a:lstStyle/>
          <a:p>
            <a:pPr algn="l">
              <a:defRPr sz="1200" b="1">
                <a:solidFill>
                  <a:srgbClr val="FB8C00"/>
                </a:solidFill>
                <a:latin typeface="Consolas"/>
              </a:defRPr>
            </a:pPr>
            <a:r>
              <a:t>Seaborn ≥ 0.13</a:t>
            </a:r>
          </a:p>
        </p:txBody>
      </p:sp>
      <p:sp>
        <p:nvSpPr>
          <p:cNvPr id="37" name="TextBox 36"/>
          <p:cNvSpPr txBox="1"/>
          <p:nvPr/>
        </p:nvSpPr>
        <p:spPr>
          <a:xfrm>
            <a:off x="6400800" y="3090672"/>
            <a:ext cx="2560320" cy="274320"/>
          </a:xfrm>
          <a:prstGeom prst="rect">
            <a:avLst/>
          </a:prstGeom>
          <a:noFill/>
        </p:spPr>
        <p:txBody>
          <a:bodyPr wrap="square">
            <a:spAutoFit/>
          </a:bodyPr>
          <a:lstStyle/>
          <a:p>
            <a:pPr algn="l">
              <a:defRPr sz="1000" b="0">
                <a:solidFill>
                  <a:srgbClr val="757575"/>
                </a:solidFill>
                <a:latin typeface="Calibri"/>
              </a:defRPr>
            </a:pPr>
            <a:r>
              <a:t>Statistical plots, heatmaps</a:t>
            </a:r>
          </a:p>
        </p:txBody>
      </p:sp>
      <p:sp>
        <p:nvSpPr>
          <p:cNvPr id="38" name="Rounded Rectangle 37"/>
          <p:cNvSpPr/>
          <p:nvPr/>
        </p:nvSpPr>
        <p:spPr>
          <a:xfrm>
            <a:off x="6309360" y="3474720"/>
            <a:ext cx="2743200" cy="59436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3502152"/>
            <a:ext cx="2560320" cy="274320"/>
          </a:xfrm>
          <a:prstGeom prst="rect">
            <a:avLst/>
          </a:prstGeom>
          <a:noFill/>
        </p:spPr>
        <p:txBody>
          <a:bodyPr wrap="square">
            <a:spAutoFit/>
          </a:bodyPr>
          <a:lstStyle/>
          <a:p>
            <a:pPr algn="l">
              <a:defRPr sz="1200" b="1">
                <a:solidFill>
                  <a:srgbClr val="FB8C00"/>
                </a:solidFill>
                <a:latin typeface="Consolas"/>
              </a:defRPr>
            </a:pPr>
            <a:r>
              <a:t>Plotly ≥ 5.18</a:t>
            </a:r>
          </a:p>
        </p:txBody>
      </p:sp>
      <p:sp>
        <p:nvSpPr>
          <p:cNvPr id="40" name="TextBox 39"/>
          <p:cNvSpPr txBox="1"/>
          <p:nvPr/>
        </p:nvSpPr>
        <p:spPr>
          <a:xfrm>
            <a:off x="6400800" y="3776472"/>
            <a:ext cx="2560320" cy="274320"/>
          </a:xfrm>
          <a:prstGeom prst="rect">
            <a:avLst/>
          </a:prstGeom>
          <a:noFill/>
        </p:spPr>
        <p:txBody>
          <a:bodyPr wrap="square">
            <a:spAutoFit/>
          </a:bodyPr>
          <a:lstStyle/>
          <a:p>
            <a:pPr algn="l">
              <a:defRPr sz="1000" b="0">
                <a:solidFill>
                  <a:srgbClr val="757575"/>
                </a:solidFill>
                <a:latin typeface="Calibri"/>
              </a:defRPr>
            </a:pPr>
            <a:r>
              <a:t>Interactive charts (AMR tab)</a:t>
            </a:r>
          </a:p>
        </p:txBody>
      </p:sp>
      <p:sp>
        <p:nvSpPr>
          <p:cNvPr id="41" name="Rounded Rectangle 40"/>
          <p:cNvSpPr/>
          <p:nvPr/>
        </p:nvSpPr>
        <p:spPr>
          <a:xfrm>
            <a:off x="9235440" y="1463040"/>
            <a:ext cx="2743200" cy="45720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0" y="1490472"/>
            <a:ext cx="2743200" cy="365760"/>
          </a:xfrm>
          <a:prstGeom prst="rect">
            <a:avLst/>
          </a:prstGeom>
          <a:noFill/>
        </p:spPr>
        <p:txBody>
          <a:bodyPr wrap="square">
            <a:spAutoFit/>
          </a:bodyPr>
          <a:lstStyle/>
          <a:p>
            <a:pPr algn="ctr">
              <a:defRPr sz="1400" b="1">
                <a:solidFill>
                  <a:srgbClr val="FFFFFF"/>
                </a:solidFill>
                <a:latin typeface="Calibri"/>
              </a:defRPr>
            </a:pPr>
            <a:r>
              <a:t>Web &amp; External</a:t>
            </a:r>
          </a:p>
        </p:txBody>
      </p:sp>
      <p:sp>
        <p:nvSpPr>
          <p:cNvPr id="43" name="Rounded Rectangle 42"/>
          <p:cNvSpPr/>
          <p:nvPr/>
        </p:nvSpPr>
        <p:spPr>
          <a:xfrm>
            <a:off x="9235440" y="2103120"/>
            <a:ext cx="2743200" cy="59436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2130552"/>
            <a:ext cx="2560320" cy="274320"/>
          </a:xfrm>
          <a:prstGeom prst="rect">
            <a:avLst/>
          </a:prstGeom>
          <a:noFill/>
        </p:spPr>
        <p:txBody>
          <a:bodyPr wrap="square">
            <a:spAutoFit/>
          </a:bodyPr>
          <a:lstStyle/>
          <a:p>
            <a:pPr algn="l">
              <a:defRPr sz="1200" b="1">
                <a:solidFill>
                  <a:srgbClr val="8E24AA"/>
                </a:solidFill>
                <a:latin typeface="Consolas"/>
              </a:defRPr>
            </a:pPr>
            <a:r>
              <a:t>Streamlit ≥ 1.31</a:t>
            </a:r>
          </a:p>
        </p:txBody>
      </p:sp>
      <p:sp>
        <p:nvSpPr>
          <p:cNvPr id="45" name="TextBox 44"/>
          <p:cNvSpPr txBox="1"/>
          <p:nvPr/>
        </p:nvSpPr>
        <p:spPr>
          <a:xfrm>
            <a:off x="9326880" y="2404872"/>
            <a:ext cx="2560320" cy="274320"/>
          </a:xfrm>
          <a:prstGeom prst="rect">
            <a:avLst/>
          </a:prstGeom>
          <a:noFill/>
        </p:spPr>
        <p:txBody>
          <a:bodyPr wrap="square">
            <a:spAutoFit/>
          </a:bodyPr>
          <a:lstStyle/>
          <a:p>
            <a:pPr algn="l">
              <a:defRPr sz="1000" b="0">
                <a:solidFill>
                  <a:srgbClr val="757575"/>
                </a:solidFill>
                <a:latin typeface="Calibri"/>
              </a:defRPr>
            </a:pPr>
            <a:r>
              <a:t>Web GUI framework</a:t>
            </a:r>
          </a:p>
        </p:txBody>
      </p:sp>
      <p:sp>
        <p:nvSpPr>
          <p:cNvPr id="46" name="Rounded Rectangle 45"/>
          <p:cNvSpPr/>
          <p:nvPr/>
        </p:nvSpPr>
        <p:spPr>
          <a:xfrm>
            <a:off x="9235440" y="2788920"/>
            <a:ext cx="2743200" cy="59436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0" y="2816352"/>
            <a:ext cx="2560320" cy="274320"/>
          </a:xfrm>
          <a:prstGeom prst="rect">
            <a:avLst/>
          </a:prstGeom>
          <a:noFill/>
        </p:spPr>
        <p:txBody>
          <a:bodyPr wrap="square">
            <a:spAutoFit/>
          </a:bodyPr>
          <a:lstStyle/>
          <a:p>
            <a:pPr algn="l">
              <a:defRPr sz="1200" b="1">
                <a:solidFill>
                  <a:srgbClr val="8E24AA"/>
                </a:solidFill>
                <a:latin typeface="Consolas"/>
              </a:defRPr>
            </a:pPr>
            <a:r>
              <a:t>AMRFinderPlus</a:t>
            </a:r>
          </a:p>
        </p:txBody>
      </p:sp>
      <p:sp>
        <p:nvSpPr>
          <p:cNvPr id="48" name="TextBox 47"/>
          <p:cNvSpPr txBox="1"/>
          <p:nvPr/>
        </p:nvSpPr>
        <p:spPr>
          <a:xfrm>
            <a:off x="9326880" y="3090672"/>
            <a:ext cx="2560320" cy="274320"/>
          </a:xfrm>
          <a:prstGeom prst="rect">
            <a:avLst/>
          </a:prstGeom>
          <a:noFill/>
        </p:spPr>
        <p:txBody>
          <a:bodyPr wrap="square">
            <a:spAutoFit/>
          </a:bodyPr>
          <a:lstStyle/>
          <a:p>
            <a:pPr algn="l">
              <a:defRPr sz="1000" b="0">
                <a:solidFill>
                  <a:srgbClr val="757575"/>
                </a:solidFill>
                <a:latin typeface="Calibri"/>
              </a:defRPr>
            </a:pPr>
            <a:r>
              <a:t>NCBI AMR gene detection</a:t>
            </a:r>
          </a:p>
        </p:txBody>
      </p:sp>
      <p:sp>
        <p:nvSpPr>
          <p:cNvPr id="49" name="Rounded Rectangle 48"/>
          <p:cNvSpPr/>
          <p:nvPr/>
        </p:nvSpPr>
        <p:spPr>
          <a:xfrm>
            <a:off x="9235440" y="3474720"/>
            <a:ext cx="2743200" cy="59436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26880" y="3502152"/>
            <a:ext cx="2560320" cy="274320"/>
          </a:xfrm>
          <a:prstGeom prst="rect">
            <a:avLst/>
          </a:prstGeom>
          <a:noFill/>
        </p:spPr>
        <p:txBody>
          <a:bodyPr wrap="square">
            <a:spAutoFit/>
          </a:bodyPr>
          <a:lstStyle/>
          <a:p>
            <a:pPr algn="l">
              <a:defRPr sz="1200" b="1">
                <a:solidFill>
                  <a:srgbClr val="8E24AA"/>
                </a:solidFill>
                <a:latin typeface="Consolas"/>
              </a:defRPr>
            </a:pPr>
            <a:r>
              <a:t>python-pptx</a:t>
            </a:r>
          </a:p>
        </p:txBody>
      </p:sp>
      <p:sp>
        <p:nvSpPr>
          <p:cNvPr id="51" name="TextBox 50"/>
          <p:cNvSpPr txBox="1"/>
          <p:nvPr/>
        </p:nvSpPr>
        <p:spPr>
          <a:xfrm>
            <a:off x="9326880" y="3776472"/>
            <a:ext cx="2560320" cy="274320"/>
          </a:xfrm>
          <a:prstGeom prst="rect">
            <a:avLst/>
          </a:prstGeom>
          <a:noFill/>
        </p:spPr>
        <p:txBody>
          <a:bodyPr wrap="square">
            <a:spAutoFit/>
          </a:bodyPr>
          <a:lstStyle/>
          <a:p>
            <a:pPr algn="l">
              <a:defRPr sz="1000" b="0">
                <a:solidFill>
                  <a:srgbClr val="757575"/>
                </a:solidFill>
                <a:latin typeface="Calibri"/>
              </a:defRPr>
            </a:pPr>
            <a:r>
              <a:t>PowerPoint generation</a:t>
            </a:r>
          </a:p>
        </p:txBody>
      </p:sp>
      <p:sp>
        <p:nvSpPr>
          <p:cNvPr id="52" name="Rounded Rectangle 51"/>
          <p:cNvSpPr/>
          <p:nvPr/>
        </p:nvSpPr>
        <p:spPr>
          <a:xfrm>
            <a:off x="457200" y="5120640"/>
            <a:ext cx="11338560" cy="1280160"/>
          </a:xfrm>
          <a:prstGeom prst="roundRect">
            <a:avLst/>
          </a:prstGeom>
          <a:solidFill>
            <a:srgbClr val="E8F5E9"/>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212080"/>
            <a:ext cx="10972800" cy="365760"/>
          </a:xfrm>
          <a:prstGeom prst="rect">
            <a:avLst/>
          </a:prstGeom>
          <a:noFill/>
        </p:spPr>
        <p:txBody>
          <a:bodyPr wrap="square">
            <a:spAutoFit/>
          </a:bodyPr>
          <a:lstStyle/>
          <a:p>
            <a:pPr algn="l">
              <a:defRPr sz="1600" b="1">
                <a:solidFill>
                  <a:srgbClr val="43A047"/>
                </a:solidFill>
                <a:latin typeface="Calibri"/>
              </a:defRPr>
            </a:pPr>
            <a:r>
              <a:t>Key Performance Metrics</a:t>
            </a:r>
          </a:p>
        </p:txBody>
      </p:sp>
      <p:sp>
        <p:nvSpPr>
          <p:cNvPr id="54" name="TextBox 53"/>
          <p:cNvSpPr txBox="1"/>
          <p:nvPr/>
        </p:nvSpPr>
        <p:spPr>
          <a:xfrm>
            <a:off x="640080" y="5577840"/>
            <a:ext cx="2560320" cy="320040"/>
          </a:xfrm>
          <a:prstGeom prst="rect">
            <a:avLst/>
          </a:prstGeom>
          <a:noFill/>
        </p:spPr>
        <p:txBody>
          <a:bodyPr wrap="square">
            <a:spAutoFit/>
          </a:bodyPr>
          <a:lstStyle/>
          <a:p>
            <a:pPr algn="l">
              <a:defRPr sz="1400" b="1">
                <a:solidFill>
                  <a:srgbClr val="0D47A1"/>
                </a:solidFill>
                <a:latin typeface="Calibri"/>
              </a:defRPr>
            </a:pPr>
            <a:r>
              <a:t>Simpson's D: 0.979</a:t>
            </a:r>
          </a:p>
        </p:txBody>
      </p:sp>
      <p:sp>
        <p:nvSpPr>
          <p:cNvPr id="55" name="TextBox 54"/>
          <p:cNvSpPr txBox="1"/>
          <p:nvPr/>
        </p:nvSpPr>
        <p:spPr>
          <a:xfrm>
            <a:off x="640080" y="5897880"/>
            <a:ext cx="2560320" cy="274320"/>
          </a:xfrm>
          <a:prstGeom prst="rect">
            <a:avLst/>
          </a:prstGeom>
          <a:noFill/>
        </p:spPr>
        <p:txBody>
          <a:bodyPr wrap="square">
            <a:spAutoFit/>
          </a:bodyPr>
          <a:lstStyle/>
          <a:p>
            <a:pPr algn="l">
              <a:defRPr sz="1100" b="0">
                <a:solidFill>
                  <a:srgbClr val="757575"/>
                </a:solidFill>
                <a:latin typeface="Calibri"/>
              </a:defRPr>
            </a:pPr>
            <a:r>
              <a:t>Discriminatory power of pLIN system</a:t>
            </a:r>
          </a:p>
        </p:txBody>
      </p:sp>
      <p:sp>
        <p:nvSpPr>
          <p:cNvPr id="56" name="TextBox 55"/>
          <p:cNvSpPr txBox="1"/>
          <p:nvPr/>
        </p:nvSpPr>
        <p:spPr>
          <a:xfrm>
            <a:off x="3474720" y="5577840"/>
            <a:ext cx="2560320" cy="320040"/>
          </a:xfrm>
          <a:prstGeom prst="rect">
            <a:avLst/>
          </a:prstGeom>
          <a:noFill/>
        </p:spPr>
        <p:txBody>
          <a:bodyPr wrap="square">
            <a:spAutoFit/>
          </a:bodyPr>
          <a:lstStyle/>
          <a:p>
            <a:pPr algn="l">
              <a:defRPr sz="1400" b="1">
                <a:solidFill>
                  <a:srgbClr val="0D47A1"/>
                </a:solidFill>
                <a:latin typeface="Calibri"/>
              </a:defRPr>
            </a:pPr>
            <a:r>
              <a:t>CV Accuracy: 92.2%</a:t>
            </a:r>
          </a:p>
        </p:txBody>
      </p:sp>
      <p:sp>
        <p:nvSpPr>
          <p:cNvPr id="57" name="TextBox 56"/>
          <p:cNvSpPr txBox="1"/>
          <p:nvPr/>
        </p:nvSpPr>
        <p:spPr>
          <a:xfrm>
            <a:off x="3474720" y="5897880"/>
            <a:ext cx="2560320" cy="274320"/>
          </a:xfrm>
          <a:prstGeom prst="rect">
            <a:avLst/>
          </a:prstGeom>
          <a:noFill/>
        </p:spPr>
        <p:txBody>
          <a:bodyPr wrap="square">
            <a:spAutoFit/>
          </a:bodyPr>
          <a:lstStyle/>
          <a:p>
            <a:pPr algn="l">
              <a:defRPr sz="1100" b="0">
                <a:solidFill>
                  <a:srgbClr val="757575"/>
                </a:solidFill>
                <a:latin typeface="Calibri"/>
              </a:defRPr>
            </a:pPr>
            <a:r>
              <a:t>Inc group auto-detection (20 groups, 5-fold)</a:t>
            </a:r>
          </a:p>
        </p:txBody>
      </p:sp>
      <p:sp>
        <p:nvSpPr>
          <p:cNvPr id="58" name="TextBox 57"/>
          <p:cNvSpPr txBox="1"/>
          <p:nvPr/>
        </p:nvSpPr>
        <p:spPr>
          <a:xfrm>
            <a:off x="6309360" y="5577840"/>
            <a:ext cx="2560320" cy="320040"/>
          </a:xfrm>
          <a:prstGeom prst="rect">
            <a:avLst/>
          </a:prstGeom>
          <a:noFill/>
        </p:spPr>
        <p:txBody>
          <a:bodyPr wrap="square">
            <a:spAutoFit/>
          </a:bodyPr>
          <a:lstStyle/>
          <a:p>
            <a:pPr algn="l">
              <a:defRPr sz="1400" b="1">
                <a:solidFill>
                  <a:srgbClr val="0D47A1"/>
                </a:solidFill>
                <a:latin typeface="Calibri"/>
              </a:defRPr>
            </a:pPr>
            <a:r>
              <a:t>XGBoost F1: 0.903</a:t>
            </a:r>
          </a:p>
        </p:txBody>
      </p:sp>
      <p:sp>
        <p:nvSpPr>
          <p:cNvPr id="59" name="TextBox 58"/>
          <p:cNvSpPr txBox="1"/>
          <p:nvPr/>
        </p:nvSpPr>
        <p:spPr>
          <a:xfrm>
            <a:off x="6309360" y="5897880"/>
            <a:ext cx="2560320" cy="274320"/>
          </a:xfrm>
          <a:prstGeom prst="rect">
            <a:avLst/>
          </a:prstGeom>
          <a:noFill/>
        </p:spPr>
        <p:txBody>
          <a:bodyPr wrap="square">
            <a:spAutoFit/>
          </a:bodyPr>
          <a:lstStyle/>
          <a:p>
            <a:pPr algn="l">
              <a:defRPr sz="1100" b="0">
                <a:solidFill>
                  <a:srgbClr val="757575"/>
                </a:solidFill>
                <a:latin typeface="Calibri"/>
              </a:defRPr>
            </a:pPr>
            <a:r>
              <a:t>ML validation of k-mer features</a:t>
            </a:r>
          </a:p>
        </p:txBody>
      </p:sp>
      <p:sp>
        <p:nvSpPr>
          <p:cNvPr id="60" name="TextBox 59"/>
          <p:cNvSpPr txBox="1"/>
          <p:nvPr/>
        </p:nvSpPr>
        <p:spPr>
          <a:xfrm>
            <a:off x="9144000" y="5577840"/>
            <a:ext cx="2560320" cy="320040"/>
          </a:xfrm>
          <a:prstGeom prst="rect">
            <a:avLst/>
          </a:prstGeom>
          <a:noFill/>
        </p:spPr>
        <p:txBody>
          <a:bodyPr wrap="square">
            <a:spAutoFit/>
          </a:bodyPr>
          <a:lstStyle/>
          <a:p>
            <a:pPr algn="l">
              <a:defRPr sz="1400" b="1">
                <a:solidFill>
                  <a:srgbClr val="0D47A1"/>
                </a:solidFill>
                <a:latin typeface="Calibri"/>
              </a:defRPr>
            </a:pPr>
            <a:r>
              <a:t>Concordance: 99.5%</a:t>
            </a:r>
          </a:p>
        </p:txBody>
      </p:sp>
      <p:sp>
        <p:nvSpPr>
          <p:cNvPr id="61" name="TextBox 60"/>
          <p:cNvSpPr txBox="1"/>
          <p:nvPr/>
        </p:nvSpPr>
        <p:spPr>
          <a:xfrm>
            <a:off x="9144000" y="5897880"/>
            <a:ext cx="2560320" cy="274320"/>
          </a:xfrm>
          <a:prstGeom prst="rect">
            <a:avLst/>
          </a:prstGeom>
          <a:noFill/>
        </p:spPr>
        <p:txBody>
          <a:bodyPr wrap="square">
            <a:spAutoFit/>
          </a:bodyPr>
          <a:lstStyle/>
          <a:p>
            <a:pPr algn="l">
              <a:defRPr sz="1100" b="0">
                <a:solidFill>
                  <a:srgbClr val="757575"/>
                </a:solidFill>
                <a:latin typeface="Calibri"/>
              </a:defRPr>
            </a:pPr>
            <a:r>
              <a:t>Composition vs known Inc groups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Advanced Analytical Features</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Epidemiological intelligence integrated into the pLIN pipeline</a:t>
            </a:r>
          </a:p>
        </p:txBody>
      </p:sp>
      <p:sp>
        <p:nvSpPr>
          <p:cNvPr id="5" name="Rounded Rectangle 4"/>
          <p:cNvSpPr/>
          <p:nvPr/>
        </p:nvSpPr>
        <p:spPr>
          <a:xfrm>
            <a:off x="365760" y="1371600"/>
            <a:ext cx="5669280" cy="228600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5303520" cy="365760"/>
          </a:xfrm>
          <a:prstGeom prst="rect">
            <a:avLst/>
          </a:prstGeom>
          <a:noFill/>
        </p:spPr>
        <p:txBody>
          <a:bodyPr wrap="square">
            <a:spAutoFit/>
          </a:bodyPr>
          <a:lstStyle/>
          <a:p>
            <a:pPr algn="l">
              <a:defRPr sz="1600" b="1">
                <a:solidFill>
                  <a:srgbClr val="1E88E5"/>
                </a:solidFill>
                <a:latin typeface="Calibri"/>
              </a:defRPr>
            </a:pPr>
            <a:r>
              <a:t>Per-Inc-Group Adaptive Thresholds</a:t>
            </a:r>
          </a:p>
        </p:txBody>
      </p:sp>
      <p:sp>
        <p:nvSpPr>
          <p:cNvPr id="7" name="TextBox 6"/>
          <p:cNvSpPr txBox="1"/>
          <p:nvPr/>
        </p:nvSpPr>
        <p:spPr>
          <a:xfrm>
            <a:off x="548640" y="1920240"/>
            <a:ext cx="5303520" cy="1463040"/>
          </a:xfrm>
          <a:prstGeom prst="rect">
            <a:avLst/>
          </a:prstGeom>
          <a:noFill/>
        </p:spPr>
        <p:txBody>
          <a:bodyPr wrap="square">
            <a:spAutoFit/>
          </a:bodyPr>
          <a:lstStyle/>
          <a:p>
            <a:pPr>
              <a:spcAft>
                <a:spcPts val="200"/>
              </a:spcAft>
              <a:defRPr sz="1100">
                <a:solidFill>
                  <a:srgbClr val="333333"/>
                </a:solidFill>
                <a:latin typeface="Calibri"/>
              </a:defRPr>
            </a:pPr>
            <a:r>
              <a:t>Calibrates pLIN distance thresholds per Inc group from training data</a:t>
            </a:r>
          </a:p>
          <a:p>
            <a:pPr>
              <a:spcAft>
                <a:spcPts val="200"/>
              </a:spcAft>
              <a:defRPr sz="1100">
                <a:solidFill>
                  <a:srgbClr val="333333"/>
                </a:solidFill>
                <a:latin typeface="Calibri"/>
              </a:defRPr>
            </a:pPr>
            <a:r>
              <a:t>Uses quantile-based calibration on within-group distance distributions</a:t>
            </a:r>
          </a:p>
          <a:p>
            <a:pPr>
              <a:spcAft>
                <a:spcPts val="200"/>
              </a:spcAft>
              <a:defRPr sz="1100">
                <a:solidFill>
                  <a:srgbClr val="333333"/>
                </a:solidFill>
                <a:latin typeface="Calibri"/>
              </a:defRPr>
            </a:pPr>
            <a:r>
              <a:t>Addresses the limitation that fixed thresholds may not suit all Inc groups</a:t>
            </a:r>
          </a:p>
          <a:p>
            <a:pPr>
              <a:spcAft>
                <a:spcPts val="200"/>
              </a:spcAft>
              <a:defRPr sz="1100">
                <a:solidFill>
                  <a:srgbClr val="333333"/>
                </a:solidFill>
                <a:latin typeface="Calibri"/>
              </a:defRPr>
            </a:pPr>
            <a:r>
              <a:t>Example: IncFII (diverse, 4,581 plasmids) needs wider thresholds than IncX1 (compact, 701)</a:t>
            </a:r>
          </a:p>
          <a:p>
            <a:pPr>
              <a:spcAft>
                <a:spcPts val="200"/>
              </a:spcAft>
              <a:defRPr sz="1100">
                <a:solidFill>
                  <a:srgbClr val="333333"/>
                </a:solidFill>
                <a:latin typeface="Calibri"/>
              </a:defRPr>
            </a:pPr>
            <a:r>
              <a:t>Automatically selects thresholds for the dominant Inc group in each analysis</a:t>
            </a:r>
          </a:p>
        </p:txBody>
      </p:sp>
      <p:sp>
        <p:nvSpPr>
          <p:cNvPr id="8" name="Rounded Rectangle 7"/>
          <p:cNvSpPr/>
          <p:nvPr/>
        </p:nvSpPr>
        <p:spPr>
          <a:xfrm>
            <a:off x="6309360" y="1371600"/>
            <a:ext cx="5486400" cy="2286000"/>
          </a:xfrm>
          <a:prstGeom prst="roundRect">
            <a:avLst/>
          </a:prstGeom>
          <a:solidFill>
            <a:srgbClr val="FFFFFF"/>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5120640" cy="365760"/>
          </a:xfrm>
          <a:prstGeom prst="rect">
            <a:avLst/>
          </a:prstGeom>
          <a:noFill/>
        </p:spPr>
        <p:txBody>
          <a:bodyPr wrap="square">
            <a:spAutoFit/>
          </a:bodyPr>
          <a:lstStyle/>
          <a:p>
            <a:pPr algn="l">
              <a:defRPr sz="1600" b="1">
                <a:solidFill>
                  <a:srgbClr val="43A047"/>
                </a:solidFill>
                <a:latin typeface="Calibri"/>
              </a:defRPr>
            </a:pPr>
            <a:r>
              <a:t>Multi-Linkage Clustering</a:t>
            </a:r>
          </a:p>
        </p:txBody>
      </p:sp>
      <p:sp>
        <p:nvSpPr>
          <p:cNvPr id="10" name="TextBox 9"/>
          <p:cNvSpPr txBox="1"/>
          <p:nvPr/>
        </p:nvSpPr>
        <p:spPr>
          <a:xfrm>
            <a:off x="6492240" y="1920240"/>
            <a:ext cx="5120640" cy="1463040"/>
          </a:xfrm>
          <a:prstGeom prst="rect">
            <a:avLst/>
          </a:prstGeom>
          <a:noFill/>
        </p:spPr>
        <p:txBody>
          <a:bodyPr wrap="square">
            <a:spAutoFit/>
          </a:bodyPr>
          <a:lstStyle/>
          <a:p>
            <a:pPr>
              <a:spcAft>
                <a:spcPts val="200"/>
              </a:spcAft>
              <a:defRPr sz="1100">
                <a:solidFill>
                  <a:srgbClr val="333333"/>
                </a:solidFill>
                <a:latin typeface="Calibri"/>
              </a:defRPr>
            </a:pPr>
            <a:r>
              <a:t>User-selectable linkage method: Single, Complete, Average, Weighted</a:t>
            </a:r>
          </a:p>
          <a:p>
            <a:pPr>
              <a:spcAft>
                <a:spcPts val="200"/>
              </a:spcAft>
              <a:defRPr sz="1100">
                <a:solidFill>
                  <a:srgbClr val="333333"/>
                </a:solidFill>
                <a:latin typeface="Calibri"/>
              </a:defRPr>
            </a:pPr>
            <a:r>
              <a:t>Single (default): traditional chaining, sensitive to intermediates</a:t>
            </a:r>
          </a:p>
          <a:p>
            <a:pPr>
              <a:spcAft>
                <a:spcPts val="200"/>
              </a:spcAft>
              <a:defRPr sz="1100">
                <a:solidFill>
                  <a:srgbClr val="333333"/>
                </a:solidFill>
                <a:latin typeface="Calibri"/>
              </a:defRPr>
            </a:pPr>
            <a:r>
              <a:t>Complete: maximum inter-cluster distance, produces tighter clusters</a:t>
            </a:r>
          </a:p>
          <a:p>
            <a:pPr>
              <a:spcAft>
                <a:spcPts val="200"/>
              </a:spcAft>
              <a:defRPr sz="1100">
                <a:solidFill>
                  <a:srgbClr val="333333"/>
                </a:solidFill>
                <a:latin typeface="Calibri"/>
              </a:defRPr>
            </a:pPr>
            <a:r>
              <a:t>Average (UPGMA): balanced, widely used in phylogenetics</a:t>
            </a:r>
          </a:p>
          <a:p>
            <a:pPr>
              <a:spcAft>
                <a:spcPts val="200"/>
              </a:spcAft>
              <a:defRPr sz="1100">
                <a:solidFill>
                  <a:srgbClr val="333333"/>
                </a:solidFill>
                <a:latin typeface="Calibri"/>
              </a:defRPr>
            </a:pPr>
            <a:r>
              <a:t>Reduces chaining artifacts that can merge distinct lineages</a:t>
            </a:r>
          </a:p>
        </p:txBody>
      </p:sp>
      <p:sp>
        <p:nvSpPr>
          <p:cNvPr id="11" name="Rounded Rectangle 10"/>
          <p:cNvSpPr/>
          <p:nvPr/>
        </p:nvSpPr>
        <p:spPr>
          <a:xfrm>
            <a:off x="365760" y="3931920"/>
            <a:ext cx="5669280" cy="256032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023360"/>
            <a:ext cx="5303520" cy="365760"/>
          </a:xfrm>
          <a:prstGeom prst="rect">
            <a:avLst/>
          </a:prstGeom>
          <a:noFill/>
        </p:spPr>
        <p:txBody>
          <a:bodyPr wrap="square">
            <a:spAutoFit/>
          </a:bodyPr>
          <a:lstStyle/>
          <a:p>
            <a:pPr algn="l">
              <a:defRPr sz="1600" b="1">
                <a:solidFill>
                  <a:srgbClr val="FB8C00"/>
                </a:solidFill>
                <a:latin typeface="Calibri"/>
              </a:defRPr>
            </a:pPr>
            <a:r>
              <a:t>Plasmid Mobility Prediction</a:t>
            </a:r>
          </a:p>
        </p:txBody>
      </p:sp>
      <p:sp>
        <p:nvSpPr>
          <p:cNvPr id="13" name="TextBox 12"/>
          <p:cNvSpPr txBox="1"/>
          <p:nvPr/>
        </p:nvSpPr>
        <p:spPr>
          <a:xfrm>
            <a:off x="548640" y="4480560"/>
            <a:ext cx="5303520" cy="1828800"/>
          </a:xfrm>
          <a:prstGeom prst="rect">
            <a:avLst/>
          </a:prstGeom>
          <a:noFill/>
        </p:spPr>
        <p:txBody>
          <a:bodyPr wrap="square">
            <a:spAutoFit/>
          </a:bodyPr>
          <a:lstStyle/>
          <a:p>
            <a:pPr>
              <a:spcAft>
                <a:spcPts val="200"/>
              </a:spcAft>
              <a:defRPr sz="1100">
                <a:solidFill>
                  <a:srgbClr val="333333"/>
                </a:solidFill>
                <a:latin typeface="Calibri"/>
              </a:defRPr>
            </a:pPr>
            <a:r>
              <a:t>3-tier priority cascade: MOBsuite → AMRFinderPlus → Non-mobilizable</a:t>
            </a:r>
          </a:p>
          <a:p>
            <a:pPr>
              <a:spcAft>
                <a:spcPts val="200"/>
              </a:spcAft>
              <a:defRPr sz="1100">
                <a:solidFill>
                  <a:srgbClr val="333333"/>
                </a:solidFill>
                <a:latin typeface="Calibri"/>
              </a:defRPr>
            </a:pPr>
            <a:r>
              <a:t>MOBsuite mob_typer: relaxase families (MOBF/H/P/Q/C/V) + MPF types</a:t>
            </a:r>
          </a:p>
          <a:p>
            <a:pPr>
              <a:spcAft>
                <a:spcPts val="200"/>
              </a:spcAft>
              <a:defRPr sz="1100">
                <a:solidFill>
                  <a:srgbClr val="333333"/>
                </a:solidFill>
                <a:latin typeface="Calibri"/>
              </a:defRPr>
            </a:pPr>
            <a:r>
              <a:t>AMRFinderPlus scan: tra/trb/mob/virB1-11/trwA-N/pilX/taxC/nikC-E</a:t>
            </a:r>
          </a:p>
          <a:p>
            <a:pPr>
              <a:spcAft>
                <a:spcPts val="200"/>
              </a:spcAft>
              <a:defRPr sz="1100">
                <a:solidFill>
                  <a:srgbClr val="333333"/>
                </a:solidFill>
                <a:latin typeface="Calibri"/>
              </a:defRPr>
            </a:pPr>
            <a:r>
              <a:t>Conjugative + AMR plasmids flagged as HIGH RISK for dissemination</a:t>
            </a:r>
          </a:p>
          <a:p>
            <a:pPr>
              <a:spcAft>
                <a:spcPts val="200"/>
              </a:spcAft>
              <a:defRPr sz="1100">
                <a:solidFill>
                  <a:srgbClr val="333333"/>
                </a:solidFill>
                <a:latin typeface="Calibri"/>
              </a:defRPr>
            </a:pPr>
            <a:r>
              <a:t>Relaxase family and MPF type charts in Epidemiology tab</a:t>
            </a:r>
          </a:p>
          <a:p>
            <a:pPr>
              <a:spcAft>
                <a:spcPts val="200"/>
              </a:spcAft>
              <a:defRPr sz="1100">
                <a:solidFill>
                  <a:srgbClr val="333333"/>
                </a:solidFill>
                <a:latin typeface="Calibri"/>
              </a:defRPr>
            </a:pPr>
            <a:r>
              <a:t>Enables risk-stratified surveillance of AMR-carrying plasmids</a:t>
            </a:r>
          </a:p>
        </p:txBody>
      </p:sp>
      <p:sp>
        <p:nvSpPr>
          <p:cNvPr id="14" name="Rounded Rectangle 13"/>
          <p:cNvSpPr/>
          <p:nvPr/>
        </p:nvSpPr>
        <p:spPr>
          <a:xfrm>
            <a:off x="6309360" y="3931920"/>
            <a:ext cx="5486400" cy="2560320"/>
          </a:xfrm>
          <a:prstGeom prst="round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023360"/>
            <a:ext cx="5120640" cy="365760"/>
          </a:xfrm>
          <a:prstGeom prst="rect">
            <a:avLst/>
          </a:prstGeom>
          <a:noFill/>
        </p:spPr>
        <p:txBody>
          <a:bodyPr wrap="square">
            <a:spAutoFit/>
          </a:bodyPr>
          <a:lstStyle/>
          <a:p>
            <a:pPr algn="l">
              <a:defRPr sz="1600" b="1">
                <a:solidFill>
                  <a:srgbClr val="E53935"/>
                </a:solidFill>
                <a:latin typeface="Calibri"/>
              </a:defRPr>
            </a:pPr>
            <a:r>
              <a:t>Outbreak / Clone Detection</a:t>
            </a:r>
          </a:p>
        </p:txBody>
      </p:sp>
      <p:sp>
        <p:nvSpPr>
          <p:cNvPr id="16" name="TextBox 15"/>
          <p:cNvSpPr txBox="1"/>
          <p:nvPr/>
        </p:nvSpPr>
        <p:spPr>
          <a:xfrm>
            <a:off x="6492240" y="4480560"/>
            <a:ext cx="5120640" cy="1828800"/>
          </a:xfrm>
          <a:prstGeom prst="rect">
            <a:avLst/>
          </a:prstGeom>
          <a:noFill/>
        </p:spPr>
        <p:txBody>
          <a:bodyPr wrap="square">
            <a:spAutoFit/>
          </a:bodyPr>
          <a:lstStyle/>
          <a:p>
            <a:pPr>
              <a:spcAft>
                <a:spcPts val="200"/>
              </a:spcAft>
              <a:defRPr sz="1100">
                <a:solidFill>
                  <a:srgbClr val="333333"/>
                </a:solidFill>
                <a:latin typeface="Calibri"/>
              </a:defRPr>
            </a:pPr>
            <a:r>
              <a:t>Flags suspected outbreak clusters automatically</a:t>
            </a:r>
          </a:p>
          <a:p>
            <a:pPr>
              <a:spcAft>
                <a:spcPts val="200"/>
              </a:spcAft>
              <a:defRPr sz="1100">
                <a:solidFill>
                  <a:srgbClr val="333333"/>
                </a:solidFill>
                <a:latin typeface="Calibri"/>
              </a:defRPr>
            </a:pPr>
            <a:r>
              <a:t>Detection criteria: same pLIN strain code (F-level) + identical AMR profile</a:t>
            </a:r>
          </a:p>
          <a:p>
            <a:pPr>
              <a:spcAft>
                <a:spcPts val="200"/>
              </a:spcAft>
              <a:defRPr sz="1100">
                <a:solidFill>
                  <a:srgbClr val="333333"/>
                </a:solidFill>
                <a:latin typeface="Calibri"/>
              </a:defRPr>
            </a:pPr>
            <a:r>
              <a:t>Risk levels: HIGH (3+ shared AMR genes) / MODERATE (1-2 shared genes)</a:t>
            </a:r>
          </a:p>
          <a:p>
            <a:pPr>
              <a:spcAft>
                <a:spcPts val="200"/>
              </a:spcAft>
              <a:defRPr sz="1100">
                <a:solidFill>
                  <a:srgbClr val="333333"/>
                </a:solidFill>
                <a:latin typeface="Calibri"/>
              </a:defRPr>
            </a:pPr>
            <a:r>
              <a:t>Supports real-time surveillance for plasmid-mediated AMR spread</a:t>
            </a:r>
          </a:p>
          <a:p>
            <a:pPr>
              <a:spcAft>
                <a:spcPts val="200"/>
              </a:spcAft>
              <a:defRPr sz="1100">
                <a:solidFill>
                  <a:srgbClr val="333333"/>
                </a:solidFill>
                <a:latin typeface="Calibri"/>
              </a:defRPr>
            </a:pPr>
            <a:r>
              <a:t>Integrated into new Epidemiology tab with dissemination risk matrix</a:t>
            </a:r>
          </a:p>
          <a:p>
            <a:pPr>
              <a:spcAft>
                <a:spcPts val="200"/>
              </a:spcAft>
              <a:defRPr sz="1100">
                <a:solidFill>
                  <a:srgbClr val="333333"/>
                </a:solidFill>
                <a:latin typeface="Calibri"/>
              </a:defRPr>
            </a:pPr>
            <a:r>
              <a:t>Exportable as JSON for downstream analysis pipelines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MOBsuite Mobility Typing</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Relaxase family classification and Mating Pair Formation typing</a:t>
            </a:r>
          </a:p>
        </p:txBody>
      </p:sp>
      <p:sp>
        <p:nvSpPr>
          <p:cNvPr id="5" name="TextBox 4"/>
          <p:cNvSpPr txBox="1"/>
          <p:nvPr/>
        </p:nvSpPr>
        <p:spPr>
          <a:xfrm>
            <a:off x="457200" y="1463040"/>
            <a:ext cx="5486400" cy="457200"/>
          </a:xfrm>
          <a:prstGeom prst="rect">
            <a:avLst/>
          </a:prstGeom>
          <a:noFill/>
        </p:spPr>
        <p:txBody>
          <a:bodyPr wrap="square">
            <a:spAutoFit/>
          </a:bodyPr>
          <a:lstStyle/>
          <a:p>
            <a:pPr algn="l">
              <a:defRPr sz="1800" b="1">
                <a:solidFill>
                  <a:srgbClr val="FB8C00"/>
                </a:solidFill>
                <a:latin typeface="Calibri"/>
              </a:defRPr>
            </a:pPr>
            <a:r>
              <a:t>3-Tier Mobility Classification Cascade</a:t>
            </a:r>
          </a:p>
        </p:txBody>
      </p:sp>
      <p:sp>
        <p:nvSpPr>
          <p:cNvPr id="6" name="Rounded Rectangle 5"/>
          <p:cNvSpPr/>
          <p:nvPr/>
        </p:nvSpPr>
        <p:spPr>
          <a:xfrm>
            <a:off x="457200" y="2011680"/>
            <a:ext cx="5486400" cy="118872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4114800" cy="320040"/>
          </a:xfrm>
          <a:prstGeom prst="rect">
            <a:avLst/>
          </a:prstGeom>
          <a:noFill/>
        </p:spPr>
        <p:txBody>
          <a:bodyPr wrap="square">
            <a:spAutoFit/>
          </a:bodyPr>
          <a:lstStyle/>
          <a:p>
            <a:pPr algn="l">
              <a:defRPr sz="1400" b="1">
                <a:solidFill>
                  <a:srgbClr val="FB8C00"/>
                </a:solidFill>
                <a:latin typeface="Calibri"/>
              </a:defRPr>
            </a:pPr>
            <a:r>
              <a:t>Priority 1: MOBsuite</a:t>
            </a:r>
          </a:p>
        </p:txBody>
      </p:sp>
      <p:sp>
        <p:nvSpPr>
          <p:cNvPr id="8" name="TextBox 7"/>
          <p:cNvSpPr txBox="1"/>
          <p:nvPr/>
        </p:nvSpPr>
        <p:spPr>
          <a:xfrm>
            <a:off x="4572000" y="2103120"/>
            <a:ext cx="1188720" cy="320040"/>
          </a:xfrm>
          <a:prstGeom prst="rect">
            <a:avLst/>
          </a:prstGeom>
          <a:noFill/>
        </p:spPr>
        <p:txBody>
          <a:bodyPr wrap="square">
            <a:spAutoFit/>
          </a:bodyPr>
          <a:lstStyle/>
          <a:p>
            <a:pPr algn="r">
              <a:defRPr sz="1000" b="1">
                <a:solidFill>
                  <a:srgbClr val="FB8C00"/>
                </a:solidFill>
                <a:latin typeface="Calibri"/>
              </a:defRPr>
            </a:pPr>
            <a:r>
              <a:t>HIGHEST</a:t>
            </a:r>
          </a:p>
        </p:txBody>
      </p:sp>
      <p:sp>
        <p:nvSpPr>
          <p:cNvPr id="9" name="TextBox 8"/>
          <p:cNvSpPr txBox="1"/>
          <p:nvPr/>
        </p:nvSpPr>
        <p:spPr>
          <a:xfrm>
            <a:off x="640080" y="2468880"/>
            <a:ext cx="5120640" cy="640080"/>
          </a:xfrm>
          <a:prstGeom prst="rect">
            <a:avLst/>
          </a:prstGeom>
          <a:noFill/>
        </p:spPr>
        <p:txBody>
          <a:bodyPr wrap="square">
            <a:spAutoFit/>
          </a:bodyPr>
          <a:lstStyle/>
          <a:p>
            <a:pPr algn="l">
              <a:defRPr sz="1100" b="0">
                <a:solidFill>
                  <a:srgbClr val="333333"/>
                </a:solidFill>
                <a:latin typeface="Calibri"/>
              </a:defRPr>
            </a:pPr>
            <a:r>
              <a:t>mob_typer classifies relaxase family (MOBF, MOBH, MOBP, MOBQ, MOBC, MOBV)</a:t>
            </a:r>
            <a:br/>
            <a:r>
              <a:t>and MPF type (Type T, F, I, G). Most reliable when available.</a:t>
            </a:r>
          </a:p>
        </p:txBody>
      </p:sp>
      <p:sp>
        <p:nvSpPr>
          <p:cNvPr id="10" name="Down Arrow 9"/>
          <p:cNvSpPr/>
          <p:nvPr/>
        </p:nvSpPr>
        <p:spPr>
          <a:xfrm>
            <a:off x="2926080" y="3200400"/>
            <a:ext cx="365760" cy="182880"/>
          </a:xfrm>
          <a:prstGeom prst="downArrow">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3383280"/>
            <a:ext cx="5486400" cy="118872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474720"/>
            <a:ext cx="4114800" cy="320040"/>
          </a:xfrm>
          <a:prstGeom prst="rect">
            <a:avLst/>
          </a:prstGeom>
          <a:noFill/>
        </p:spPr>
        <p:txBody>
          <a:bodyPr wrap="square">
            <a:spAutoFit/>
          </a:bodyPr>
          <a:lstStyle/>
          <a:p>
            <a:pPr algn="l">
              <a:defRPr sz="1400" b="1">
                <a:solidFill>
                  <a:srgbClr val="1E88E5"/>
                </a:solidFill>
                <a:latin typeface="Calibri"/>
              </a:defRPr>
            </a:pPr>
            <a:r>
              <a:t>Priority 2: AMRFinderPlus</a:t>
            </a:r>
          </a:p>
        </p:txBody>
      </p:sp>
      <p:sp>
        <p:nvSpPr>
          <p:cNvPr id="13" name="TextBox 12"/>
          <p:cNvSpPr txBox="1"/>
          <p:nvPr/>
        </p:nvSpPr>
        <p:spPr>
          <a:xfrm>
            <a:off x="4572000" y="3474720"/>
            <a:ext cx="1188720" cy="320040"/>
          </a:xfrm>
          <a:prstGeom prst="rect">
            <a:avLst/>
          </a:prstGeom>
          <a:noFill/>
        </p:spPr>
        <p:txBody>
          <a:bodyPr wrap="square">
            <a:spAutoFit/>
          </a:bodyPr>
          <a:lstStyle/>
          <a:p>
            <a:pPr algn="r">
              <a:defRPr sz="1000" b="1">
                <a:solidFill>
                  <a:srgbClr val="1E88E5"/>
                </a:solidFill>
                <a:latin typeface="Calibri"/>
              </a:defRPr>
            </a:pPr>
            <a:r>
              <a:t>MEDIUM</a:t>
            </a:r>
          </a:p>
        </p:txBody>
      </p:sp>
      <p:sp>
        <p:nvSpPr>
          <p:cNvPr id="14" name="TextBox 13"/>
          <p:cNvSpPr txBox="1"/>
          <p:nvPr/>
        </p:nvSpPr>
        <p:spPr>
          <a:xfrm>
            <a:off x="640080" y="3840480"/>
            <a:ext cx="5120640" cy="640080"/>
          </a:xfrm>
          <a:prstGeom prst="rect">
            <a:avLst/>
          </a:prstGeom>
          <a:noFill/>
        </p:spPr>
        <p:txBody>
          <a:bodyPr wrap="square">
            <a:spAutoFit/>
          </a:bodyPr>
          <a:lstStyle/>
          <a:p>
            <a:pPr algn="l">
              <a:defRPr sz="1100" b="0">
                <a:solidFill>
                  <a:srgbClr val="333333"/>
                </a:solidFill>
                <a:latin typeface="Calibri"/>
              </a:defRPr>
            </a:pPr>
            <a:r>
              <a:t>Scans detected genes for transfer/mobilization markers:</a:t>
            </a:r>
            <a:br/>
            <a:r>
              <a:t>Conjugative: tra/trb + virB1-11, trwA-N, pilX, taxC | Mobilizable: mob, nikC-E, oriT</a:t>
            </a:r>
          </a:p>
        </p:txBody>
      </p:sp>
      <p:sp>
        <p:nvSpPr>
          <p:cNvPr id="15" name="Down Arrow 14"/>
          <p:cNvSpPr/>
          <p:nvPr/>
        </p:nvSpPr>
        <p:spPr>
          <a:xfrm>
            <a:off x="2926080" y="4572000"/>
            <a:ext cx="365760" cy="182880"/>
          </a:xfrm>
          <a:prstGeom prst="downArrow">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7200" y="4754880"/>
            <a:ext cx="5486400" cy="1188720"/>
          </a:xfrm>
          <a:prstGeom prst="roundRect">
            <a:avLst/>
          </a:prstGeom>
          <a:solidFill>
            <a:srgbClr val="FFFFFF"/>
          </a:solidFill>
          <a:ln w="254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846320"/>
            <a:ext cx="4114800" cy="320040"/>
          </a:xfrm>
          <a:prstGeom prst="rect">
            <a:avLst/>
          </a:prstGeom>
          <a:noFill/>
        </p:spPr>
        <p:txBody>
          <a:bodyPr wrap="square">
            <a:spAutoFit/>
          </a:bodyPr>
          <a:lstStyle/>
          <a:p>
            <a:pPr algn="l">
              <a:defRPr sz="1400" b="1">
                <a:solidFill>
                  <a:srgbClr val="757575"/>
                </a:solidFill>
                <a:latin typeface="Calibri"/>
              </a:defRPr>
            </a:pPr>
            <a:r>
              <a:t>Priority 3: Non-mobilizable</a:t>
            </a:r>
          </a:p>
        </p:txBody>
      </p:sp>
      <p:sp>
        <p:nvSpPr>
          <p:cNvPr id="18" name="TextBox 17"/>
          <p:cNvSpPr txBox="1"/>
          <p:nvPr/>
        </p:nvSpPr>
        <p:spPr>
          <a:xfrm>
            <a:off x="4572000" y="4846320"/>
            <a:ext cx="1188720" cy="320040"/>
          </a:xfrm>
          <a:prstGeom prst="rect">
            <a:avLst/>
          </a:prstGeom>
          <a:noFill/>
        </p:spPr>
        <p:txBody>
          <a:bodyPr wrap="square">
            <a:spAutoFit/>
          </a:bodyPr>
          <a:lstStyle/>
          <a:p>
            <a:pPr algn="r">
              <a:defRPr sz="1000" b="1">
                <a:solidFill>
                  <a:srgbClr val="757575"/>
                </a:solidFill>
                <a:latin typeface="Calibri"/>
              </a:defRPr>
            </a:pPr>
            <a:r>
              <a:t>DEFAULT</a:t>
            </a:r>
          </a:p>
        </p:txBody>
      </p:sp>
      <p:sp>
        <p:nvSpPr>
          <p:cNvPr id="19" name="TextBox 18"/>
          <p:cNvSpPr txBox="1"/>
          <p:nvPr/>
        </p:nvSpPr>
        <p:spPr>
          <a:xfrm>
            <a:off x="640080" y="5212080"/>
            <a:ext cx="5120640" cy="640080"/>
          </a:xfrm>
          <a:prstGeom prst="rect">
            <a:avLst/>
          </a:prstGeom>
          <a:noFill/>
        </p:spPr>
        <p:txBody>
          <a:bodyPr wrap="square">
            <a:spAutoFit/>
          </a:bodyPr>
          <a:lstStyle/>
          <a:p>
            <a:pPr algn="l">
              <a:defRPr sz="1100" b="0">
                <a:solidFill>
                  <a:srgbClr val="333333"/>
                </a:solidFill>
                <a:latin typeface="Calibri"/>
              </a:defRPr>
            </a:pPr>
            <a:r>
              <a:t>If no transfer genes detected by either method,</a:t>
            </a:r>
            <a:br/>
            <a:r>
              <a:t>plasmid classified as Non-mobilizable (default).</a:t>
            </a:r>
          </a:p>
        </p:txBody>
      </p:sp>
      <p:sp>
        <p:nvSpPr>
          <p:cNvPr id="20" name="TextBox 19"/>
          <p:cNvSpPr txBox="1"/>
          <p:nvPr/>
        </p:nvSpPr>
        <p:spPr>
          <a:xfrm>
            <a:off x="6400800" y="1463040"/>
            <a:ext cx="5486400" cy="457200"/>
          </a:xfrm>
          <a:prstGeom prst="rect">
            <a:avLst/>
          </a:prstGeom>
          <a:noFill/>
        </p:spPr>
        <p:txBody>
          <a:bodyPr wrap="square">
            <a:spAutoFit/>
          </a:bodyPr>
          <a:lstStyle/>
          <a:p>
            <a:pPr algn="l">
              <a:defRPr sz="1800" b="1">
                <a:solidFill>
                  <a:srgbClr val="FB8C00"/>
                </a:solidFill>
                <a:latin typeface="Calibri"/>
              </a:defRPr>
            </a:pPr>
            <a:r>
              <a:t>Relaxase Families &amp; MPF Types</a:t>
            </a:r>
          </a:p>
        </p:txBody>
      </p:sp>
      <p:sp>
        <p:nvSpPr>
          <p:cNvPr id="21" name="TextBox 20"/>
          <p:cNvSpPr txBox="1"/>
          <p:nvPr/>
        </p:nvSpPr>
        <p:spPr>
          <a:xfrm>
            <a:off x="6583680" y="2011680"/>
            <a:ext cx="1097280" cy="320040"/>
          </a:xfrm>
          <a:prstGeom prst="rect">
            <a:avLst/>
          </a:prstGeom>
          <a:noFill/>
        </p:spPr>
        <p:txBody>
          <a:bodyPr wrap="square">
            <a:spAutoFit/>
          </a:bodyPr>
          <a:lstStyle/>
          <a:p>
            <a:pPr algn="l">
              <a:defRPr sz="1200" b="1">
                <a:solidFill>
                  <a:srgbClr val="FB8C00"/>
                </a:solidFill>
                <a:latin typeface="Consolas"/>
              </a:defRPr>
            </a:pPr>
            <a:r>
              <a:t>MOBF</a:t>
            </a:r>
          </a:p>
        </p:txBody>
      </p:sp>
      <p:sp>
        <p:nvSpPr>
          <p:cNvPr id="22" name="TextBox 21"/>
          <p:cNvSpPr txBox="1"/>
          <p:nvPr/>
        </p:nvSpPr>
        <p:spPr>
          <a:xfrm>
            <a:off x="7772400" y="2011680"/>
            <a:ext cx="3931920" cy="320040"/>
          </a:xfrm>
          <a:prstGeom prst="rect">
            <a:avLst/>
          </a:prstGeom>
          <a:noFill/>
        </p:spPr>
        <p:txBody>
          <a:bodyPr wrap="square">
            <a:spAutoFit/>
          </a:bodyPr>
          <a:lstStyle/>
          <a:p>
            <a:pPr algn="l">
              <a:defRPr sz="1100" b="0">
                <a:solidFill>
                  <a:srgbClr val="333333"/>
                </a:solidFill>
                <a:latin typeface="Calibri"/>
              </a:defRPr>
            </a:pPr>
            <a:r>
              <a:t>F-type relaxases (IncF family)</a:t>
            </a:r>
          </a:p>
        </p:txBody>
      </p:sp>
      <p:sp>
        <p:nvSpPr>
          <p:cNvPr id="23" name="TextBox 22"/>
          <p:cNvSpPr txBox="1"/>
          <p:nvPr/>
        </p:nvSpPr>
        <p:spPr>
          <a:xfrm>
            <a:off x="6583680" y="2468880"/>
            <a:ext cx="1097280" cy="320040"/>
          </a:xfrm>
          <a:prstGeom prst="rect">
            <a:avLst/>
          </a:prstGeom>
          <a:noFill/>
        </p:spPr>
        <p:txBody>
          <a:bodyPr wrap="square">
            <a:spAutoFit/>
          </a:bodyPr>
          <a:lstStyle/>
          <a:p>
            <a:pPr algn="l">
              <a:defRPr sz="1200" b="1">
                <a:solidFill>
                  <a:srgbClr val="FB8C00"/>
                </a:solidFill>
                <a:latin typeface="Consolas"/>
              </a:defRPr>
            </a:pPr>
            <a:r>
              <a:t>MOBH</a:t>
            </a:r>
          </a:p>
        </p:txBody>
      </p:sp>
      <p:sp>
        <p:nvSpPr>
          <p:cNvPr id="24" name="TextBox 23"/>
          <p:cNvSpPr txBox="1"/>
          <p:nvPr/>
        </p:nvSpPr>
        <p:spPr>
          <a:xfrm>
            <a:off x="7772400" y="2468880"/>
            <a:ext cx="3931920" cy="320040"/>
          </a:xfrm>
          <a:prstGeom prst="rect">
            <a:avLst/>
          </a:prstGeom>
          <a:noFill/>
        </p:spPr>
        <p:txBody>
          <a:bodyPr wrap="square">
            <a:spAutoFit/>
          </a:bodyPr>
          <a:lstStyle/>
          <a:p>
            <a:pPr algn="l">
              <a:defRPr sz="1100" b="0">
                <a:solidFill>
                  <a:srgbClr val="333333"/>
                </a:solidFill>
                <a:latin typeface="Calibri"/>
              </a:defRPr>
            </a:pPr>
            <a:r>
              <a:t>H-type relaxases (IncHI family)</a:t>
            </a:r>
          </a:p>
        </p:txBody>
      </p:sp>
      <p:sp>
        <p:nvSpPr>
          <p:cNvPr id="25" name="TextBox 24"/>
          <p:cNvSpPr txBox="1"/>
          <p:nvPr/>
        </p:nvSpPr>
        <p:spPr>
          <a:xfrm>
            <a:off x="6583680" y="2926080"/>
            <a:ext cx="1097280" cy="320040"/>
          </a:xfrm>
          <a:prstGeom prst="rect">
            <a:avLst/>
          </a:prstGeom>
          <a:noFill/>
        </p:spPr>
        <p:txBody>
          <a:bodyPr wrap="square">
            <a:spAutoFit/>
          </a:bodyPr>
          <a:lstStyle/>
          <a:p>
            <a:pPr algn="l">
              <a:defRPr sz="1200" b="1">
                <a:solidFill>
                  <a:srgbClr val="FB8C00"/>
                </a:solidFill>
                <a:latin typeface="Consolas"/>
              </a:defRPr>
            </a:pPr>
            <a:r>
              <a:t>MOBP</a:t>
            </a:r>
          </a:p>
        </p:txBody>
      </p:sp>
      <p:sp>
        <p:nvSpPr>
          <p:cNvPr id="26" name="TextBox 25"/>
          <p:cNvSpPr txBox="1"/>
          <p:nvPr/>
        </p:nvSpPr>
        <p:spPr>
          <a:xfrm>
            <a:off x="7772400" y="2926080"/>
            <a:ext cx="3931920" cy="320040"/>
          </a:xfrm>
          <a:prstGeom prst="rect">
            <a:avLst/>
          </a:prstGeom>
          <a:noFill/>
        </p:spPr>
        <p:txBody>
          <a:bodyPr wrap="square">
            <a:spAutoFit/>
          </a:bodyPr>
          <a:lstStyle/>
          <a:p>
            <a:pPr algn="l">
              <a:defRPr sz="1100" b="0">
                <a:solidFill>
                  <a:srgbClr val="333333"/>
                </a:solidFill>
                <a:latin typeface="Calibri"/>
              </a:defRPr>
            </a:pPr>
            <a:r>
              <a:t>P-type relaxases (broad host range)</a:t>
            </a:r>
          </a:p>
        </p:txBody>
      </p:sp>
      <p:sp>
        <p:nvSpPr>
          <p:cNvPr id="27" name="TextBox 26"/>
          <p:cNvSpPr txBox="1"/>
          <p:nvPr/>
        </p:nvSpPr>
        <p:spPr>
          <a:xfrm>
            <a:off x="6583680" y="3383280"/>
            <a:ext cx="1097280" cy="320040"/>
          </a:xfrm>
          <a:prstGeom prst="rect">
            <a:avLst/>
          </a:prstGeom>
          <a:noFill/>
        </p:spPr>
        <p:txBody>
          <a:bodyPr wrap="square">
            <a:spAutoFit/>
          </a:bodyPr>
          <a:lstStyle/>
          <a:p>
            <a:pPr algn="l">
              <a:defRPr sz="1200" b="1">
                <a:solidFill>
                  <a:srgbClr val="FB8C00"/>
                </a:solidFill>
                <a:latin typeface="Consolas"/>
              </a:defRPr>
            </a:pPr>
            <a:r>
              <a:t>MOBQ</a:t>
            </a:r>
          </a:p>
        </p:txBody>
      </p:sp>
      <p:sp>
        <p:nvSpPr>
          <p:cNvPr id="28" name="TextBox 27"/>
          <p:cNvSpPr txBox="1"/>
          <p:nvPr/>
        </p:nvSpPr>
        <p:spPr>
          <a:xfrm>
            <a:off x="7772400" y="3383280"/>
            <a:ext cx="3931920" cy="320040"/>
          </a:xfrm>
          <a:prstGeom prst="rect">
            <a:avLst/>
          </a:prstGeom>
          <a:noFill/>
        </p:spPr>
        <p:txBody>
          <a:bodyPr wrap="square">
            <a:spAutoFit/>
          </a:bodyPr>
          <a:lstStyle/>
          <a:p>
            <a:pPr algn="l">
              <a:defRPr sz="1100" b="0">
                <a:solidFill>
                  <a:srgbClr val="333333"/>
                </a:solidFill>
                <a:latin typeface="Calibri"/>
              </a:defRPr>
            </a:pPr>
            <a:r>
              <a:t>Q-type relaxases (small plasmids)</a:t>
            </a:r>
          </a:p>
        </p:txBody>
      </p:sp>
      <p:sp>
        <p:nvSpPr>
          <p:cNvPr id="29" name="TextBox 28"/>
          <p:cNvSpPr txBox="1"/>
          <p:nvPr/>
        </p:nvSpPr>
        <p:spPr>
          <a:xfrm>
            <a:off x="6583680" y="3840480"/>
            <a:ext cx="1097280" cy="320040"/>
          </a:xfrm>
          <a:prstGeom prst="rect">
            <a:avLst/>
          </a:prstGeom>
          <a:noFill/>
        </p:spPr>
        <p:txBody>
          <a:bodyPr wrap="square">
            <a:spAutoFit/>
          </a:bodyPr>
          <a:lstStyle/>
          <a:p>
            <a:pPr algn="l">
              <a:defRPr sz="1200" b="1">
                <a:solidFill>
                  <a:srgbClr val="FB8C00"/>
                </a:solidFill>
                <a:latin typeface="Consolas"/>
              </a:defRPr>
            </a:pPr>
            <a:r>
              <a:t>MOBC</a:t>
            </a:r>
          </a:p>
        </p:txBody>
      </p:sp>
      <p:sp>
        <p:nvSpPr>
          <p:cNvPr id="30" name="TextBox 29"/>
          <p:cNvSpPr txBox="1"/>
          <p:nvPr/>
        </p:nvSpPr>
        <p:spPr>
          <a:xfrm>
            <a:off x="7772400" y="3840480"/>
            <a:ext cx="3931920" cy="320040"/>
          </a:xfrm>
          <a:prstGeom prst="rect">
            <a:avLst/>
          </a:prstGeom>
          <a:noFill/>
        </p:spPr>
        <p:txBody>
          <a:bodyPr wrap="square">
            <a:spAutoFit/>
          </a:bodyPr>
          <a:lstStyle/>
          <a:p>
            <a:pPr algn="l">
              <a:defRPr sz="1100" b="0">
                <a:solidFill>
                  <a:srgbClr val="333333"/>
                </a:solidFill>
                <a:latin typeface="Calibri"/>
              </a:defRPr>
            </a:pPr>
            <a:r>
              <a:t>C-type relaxases (ColE-like)</a:t>
            </a:r>
          </a:p>
        </p:txBody>
      </p:sp>
      <p:sp>
        <p:nvSpPr>
          <p:cNvPr id="31" name="TextBox 30"/>
          <p:cNvSpPr txBox="1"/>
          <p:nvPr/>
        </p:nvSpPr>
        <p:spPr>
          <a:xfrm>
            <a:off x="6583680" y="4297680"/>
            <a:ext cx="1097280" cy="320040"/>
          </a:xfrm>
          <a:prstGeom prst="rect">
            <a:avLst/>
          </a:prstGeom>
          <a:noFill/>
        </p:spPr>
        <p:txBody>
          <a:bodyPr wrap="square">
            <a:spAutoFit/>
          </a:bodyPr>
          <a:lstStyle/>
          <a:p>
            <a:pPr algn="l">
              <a:defRPr sz="1200" b="1">
                <a:solidFill>
                  <a:srgbClr val="FB8C00"/>
                </a:solidFill>
                <a:latin typeface="Consolas"/>
              </a:defRPr>
            </a:pPr>
            <a:r>
              <a:t>MOBV</a:t>
            </a:r>
          </a:p>
        </p:txBody>
      </p:sp>
      <p:sp>
        <p:nvSpPr>
          <p:cNvPr id="32" name="TextBox 31"/>
          <p:cNvSpPr txBox="1"/>
          <p:nvPr/>
        </p:nvSpPr>
        <p:spPr>
          <a:xfrm>
            <a:off x="7772400" y="4297680"/>
            <a:ext cx="3931920" cy="320040"/>
          </a:xfrm>
          <a:prstGeom prst="rect">
            <a:avLst/>
          </a:prstGeom>
          <a:noFill/>
        </p:spPr>
        <p:txBody>
          <a:bodyPr wrap="square">
            <a:spAutoFit/>
          </a:bodyPr>
          <a:lstStyle/>
          <a:p>
            <a:pPr algn="l">
              <a:defRPr sz="1100" b="0">
                <a:solidFill>
                  <a:srgbClr val="333333"/>
                </a:solidFill>
                <a:latin typeface="Calibri"/>
              </a:defRPr>
            </a:pPr>
            <a:r>
              <a:t>V-type relaxases (Vibrio-associated)</a:t>
            </a:r>
          </a:p>
        </p:txBody>
      </p:sp>
      <p:sp>
        <p:nvSpPr>
          <p:cNvPr id="33" name="TextBox 32"/>
          <p:cNvSpPr txBox="1"/>
          <p:nvPr/>
        </p:nvSpPr>
        <p:spPr>
          <a:xfrm>
            <a:off x="6400800" y="4846320"/>
            <a:ext cx="5486400" cy="365760"/>
          </a:xfrm>
          <a:prstGeom prst="rect">
            <a:avLst/>
          </a:prstGeom>
          <a:noFill/>
        </p:spPr>
        <p:txBody>
          <a:bodyPr wrap="square">
            <a:spAutoFit/>
          </a:bodyPr>
          <a:lstStyle/>
          <a:p>
            <a:pPr algn="l">
              <a:defRPr sz="1400" b="1">
                <a:solidFill>
                  <a:srgbClr val="FB8C00"/>
                </a:solidFill>
                <a:latin typeface="Calibri"/>
              </a:defRPr>
            </a:pPr>
            <a:r>
              <a:t>MPF Types (Mating Pair Formation)</a:t>
            </a:r>
          </a:p>
        </p:txBody>
      </p:sp>
      <p:sp>
        <p:nvSpPr>
          <p:cNvPr id="34" name="Rounded Rectangle 33"/>
          <p:cNvSpPr/>
          <p:nvPr/>
        </p:nvSpPr>
        <p:spPr>
          <a:xfrm>
            <a:off x="6400800" y="5212080"/>
            <a:ext cx="1280160" cy="64008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257800"/>
            <a:ext cx="1280160" cy="274320"/>
          </a:xfrm>
          <a:prstGeom prst="rect">
            <a:avLst/>
          </a:prstGeom>
          <a:noFill/>
        </p:spPr>
        <p:txBody>
          <a:bodyPr wrap="square">
            <a:spAutoFit/>
          </a:bodyPr>
          <a:lstStyle/>
          <a:p>
            <a:pPr algn="ctr">
              <a:defRPr sz="1100" b="1">
                <a:solidFill>
                  <a:srgbClr val="FB8C00"/>
                </a:solidFill>
                <a:latin typeface="Calibri"/>
              </a:defRPr>
            </a:pPr>
            <a:r>
              <a:t>Type T</a:t>
            </a:r>
          </a:p>
        </p:txBody>
      </p:sp>
      <p:sp>
        <p:nvSpPr>
          <p:cNvPr id="36" name="TextBox 35"/>
          <p:cNvSpPr txBox="1"/>
          <p:nvPr/>
        </p:nvSpPr>
        <p:spPr>
          <a:xfrm>
            <a:off x="6400800" y="5532120"/>
            <a:ext cx="1280160" cy="274320"/>
          </a:xfrm>
          <a:prstGeom prst="rect">
            <a:avLst/>
          </a:prstGeom>
          <a:noFill/>
        </p:spPr>
        <p:txBody>
          <a:bodyPr wrap="square">
            <a:spAutoFit/>
          </a:bodyPr>
          <a:lstStyle/>
          <a:p>
            <a:pPr algn="ctr">
              <a:defRPr sz="900" b="0">
                <a:solidFill>
                  <a:srgbClr val="757575"/>
                </a:solidFill>
                <a:latin typeface="Calibri"/>
              </a:defRPr>
            </a:pPr>
            <a:r>
              <a:t>T4SS-related</a:t>
            </a:r>
          </a:p>
        </p:txBody>
      </p:sp>
      <p:sp>
        <p:nvSpPr>
          <p:cNvPr id="37" name="Rounded Rectangle 36"/>
          <p:cNvSpPr/>
          <p:nvPr/>
        </p:nvSpPr>
        <p:spPr>
          <a:xfrm>
            <a:off x="7818120" y="5212080"/>
            <a:ext cx="1280160" cy="64008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5257800"/>
            <a:ext cx="1280160" cy="274320"/>
          </a:xfrm>
          <a:prstGeom prst="rect">
            <a:avLst/>
          </a:prstGeom>
          <a:noFill/>
        </p:spPr>
        <p:txBody>
          <a:bodyPr wrap="square">
            <a:spAutoFit/>
          </a:bodyPr>
          <a:lstStyle/>
          <a:p>
            <a:pPr algn="ctr">
              <a:defRPr sz="1100" b="1">
                <a:solidFill>
                  <a:srgbClr val="FB8C00"/>
                </a:solidFill>
                <a:latin typeface="Calibri"/>
              </a:defRPr>
            </a:pPr>
            <a:r>
              <a:t>Type F</a:t>
            </a:r>
          </a:p>
        </p:txBody>
      </p:sp>
      <p:sp>
        <p:nvSpPr>
          <p:cNvPr id="39" name="TextBox 38"/>
          <p:cNvSpPr txBox="1"/>
          <p:nvPr/>
        </p:nvSpPr>
        <p:spPr>
          <a:xfrm>
            <a:off x="7818120" y="5532120"/>
            <a:ext cx="1280160" cy="274320"/>
          </a:xfrm>
          <a:prstGeom prst="rect">
            <a:avLst/>
          </a:prstGeom>
          <a:noFill/>
        </p:spPr>
        <p:txBody>
          <a:bodyPr wrap="square">
            <a:spAutoFit/>
          </a:bodyPr>
          <a:lstStyle/>
          <a:p>
            <a:pPr algn="ctr">
              <a:defRPr sz="900" b="0">
                <a:solidFill>
                  <a:srgbClr val="757575"/>
                </a:solidFill>
                <a:latin typeface="Calibri"/>
              </a:defRPr>
            </a:pPr>
            <a:r>
              <a:t>F-pilus</a:t>
            </a:r>
          </a:p>
        </p:txBody>
      </p:sp>
      <p:sp>
        <p:nvSpPr>
          <p:cNvPr id="40" name="Rounded Rectangle 39"/>
          <p:cNvSpPr/>
          <p:nvPr/>
        </p:nvSpPr>
        <p:spPr>
          <a:xfrm>
            <a:off x="9235440" y="5212080"/>
            <a:ext cx="1280160" cy="64008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0" y="5257800"/>
            <a:ext cx="1280160" cy="274320"/>
          </a:xfrm>
          <a:prstGeom prst="rect">
            <a:avLst/>
          </a:prstGeom>
          <a:noFill/>
        </p:spPr>
        <p:txBody>
          <a:bodyPr wrap="square">
            <a:spAutoFit/>
          </a:bodyPr>
          <a:lstStyle/>
          <a:p>
            <a:pPr algn="ctr">
              <a:defRPr sz="1100" b="1">
                <a:solidFill>
                  <a:srgbClr val="FB8C00"/>
                </a:solidFill>
                <a:latin typeface="Calibri"/>
              </a:defRPr>
            </a:pPr>
            <a:r>
              <a:t>Type I</a:t>
            </a:r>
          </a:p>
        </p:txBody>
      </p:sp>
      <p:sp>
        <p:nvSpPr>
          <p:cNvPr id="42" name="TextBox 41"/>
          <p:cNvSpPr txBox="1"/>
          <p:nvPr/>
        </p:nvSpPr>
        <p:spPr>
          <a:xfrm>
            <a:off x="9235440" y="5532120"/>
            <a:ext cx="1280160" cy="274320"/>
          </a:xfrm>
          <a:prstGeom prst="rect">
            <a:avLst/>
          </a:prstGeom>
          <a:noFill/>
        </p:spPr>
        <p:txBody>
          <a:bodyPr wrap="square">
            <a:spAutoFit/>
          </a:bodyPr>
          <a:lstStyle/>
          <a:p>
            <a:pPr algn="ctr">
              <a:defRPr sz="900" b="0">
                <a:solidFill>
                  <a:srgbClr val="757575"/>
                </a:solidFill>
                <a:latin typeface="Calibri"/>
              </a:defRPr>
            </a:pPr>
            <a:r>
              <a:t>I-pilus</a:t>
            </a:r>
          </a:p>
        </p:txBody>
      </p:sp>
      <p:sp>
        <p:nvSpPr>
          <p:cNvPr id="43" name="Rounded Rectangle 42"/>
          <p:cNvSpPr/>
          <p:nvPr/>
        </p:nvSpPr>
        <p:spPr>
          <a:xfrm>
            <a:off x="10652760" y="5212080"/>
            <a:ext cx="1280160" cy="64008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52760" y="5257800"/>
            <a:ext cx="1280160" cy="274320"/>
          </a:xfrm>
          <a:prstGeom prst="rect">
            <a:avLst/>
          </a:prstGeom>
          <a:noFill/>
        </p:spPr>
        <p:txBody>
          <a:bodyPr wrap="square">
            <a:spAutoFit/>
          </a:bodyPr>
          <a:lstStyle/>
          <a:p>
            <a:pPr algn="ctr">
              <a:defRPr sz="1100" b="1">
                <a:solidFill>
                  <a:srgbClr val="FB8C00"/>
                </a:solidFill>
                <a:latin typeface="Calibri"/>
              </a:defRPr>
            </a:pPr>
            <a:r>
              <a:t>Type G</a:t>
            </a:r>
          </a:p>
        </p:txBody>
      </p:sp>
      <p:sp>
        <p:nvSpPr>
          <p:cNvPr id="45" name="TextBox 44"/>
          <p:cNvSpPr txBox="1"/>
          <p:nvPr/>
        </p:nvSpPr>
        <p:spPr>
          <a:xfrm>
            <a:off x="10652760" y="5532120"/>
            <a:ext cx="1280160" cy="274320"/>
          </a:xfrm>
          <a:prstGeom prst="rect">
            <a:avLst/>
          </a:prstGeom>
          <a:noFill/>
        </p:spPr>
        <p:txBody>
          <a:bodyPr wrap="square">
            <a:spAutoFit/>
          </a:bodyPr>
          <a:lstStyle/>
          <a:p>
            <a:pPr algn="ctr">
              <a:defRPr sz="900" b="0">
                <a:solidFill>
                  <a:srgbClr val="757575"/>
                </a:solidFill>
                <a:latin typeface="Calibri"/>
              </a:defRPr>
            </a:pPr>
            <a:r>
              <a:t>Gram-positive</a:t>
            </a:r>
          </a:p>
        </p:txBody>
      </p:sp>
      <p:sp>
        <p:nvSpPr>
          <p:cNvPr id="46" name="Rounded Rectangle 45"/>
          <p:cNvSpPr/>
          <p:nvPr/>
        </p:nvSpPr>
        <p:spPr>
          <a:xfrm>
            <a:off x="457200" y="5943600"/>
            <a:ext cx="11338560" cy="640080"/>
          </a:xfrm>
          <a:prstGeom prst="roundRect">
            <a:avLst/>
          </a:prstGeom>
          <a:solidFill>
            <a:srgbClr val="FFEBEE"/>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989320"/>
            <a:ext cx="4572000" cy="274320"/>
          </a:xfrm>
          <a:prstGeom prst="rect">
            <a:avLst/>
          </a:prstGeom>
          <a:noFill/>
        </p:spPr>
        <p:txBody>
          <a:bodyPr wrap="square">
            <a:spAutoFit/>
          </a:bodyPr>
          <a:lstStyle/>
          <a:p>
            <a:pPr algn="l">
              <a:defRPr sz="1200" b="1">
                <a:solidFill>
                  <a:srgbClr val="E53935"/>
                </a:solidFill>
                <a:latin typeface="Calibri"/>
              </a:defRPr>
            </a:pPr>
            <a:r>
              <a:t>Risk Stratification:</a:t>
            </a:r>
          </a:p>
        </p:txBody>
      </p:sp>
      <p:sp>
        <p:nvSpPr>
          <p:cNvPr id="48" name="TextBox 47"/>
          <p:cNvSpPr txBox="1"/>
          <p:nvPr/>
        </p:nvSpPr>
        <p:spPr>
          <a:xfrm>
            <a:off x="640080" y="6263640"/>
            <a:ext cx="10972800" cy="274320"/>
          </a:xfrm>
          <a:prstGeom prst="rect">
            <a:avLst/>
          </a:prstGeom>
          <a:noFill/>
        </p:spPr>
        <p:txBody>
          <a:bodyPr wrap="square">
            <a:spAutoFit/>
          </a:bodyPr>
          <a:lstStyle/>
          <a:p>
            <a:pPr algn="l">
              <a:defRPr sz="1100" b="0">
                <a:solidFill>
                  <a:srgbClr val="333333"/>
                </a:solidFill>
                <a:latin typeface="Calibri"/>
              </a:defRPr>
            </a:pPr>
            <a:r>
              <a:t>Conjugative + AMR → HIGH RISK    |    Mobilizable + AMR → MODERATE RISK    |    Non-mobilizable → LOWER 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CRISPR Spacer-Based Host Inference</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Inferring plasmid-host relationships from CRISPR array matching</a:t>
            </a:r>
          </a:p>
        </p:txBody>
      </p:sp>
      <p:sp>
        <p:nvSpPr>
          <p:cNvPr id="5" name="TextBox 4"/>
          <p:cNvSpPr txBox="1"/>
          <p:nvPr/>
        </p:nvSpPr>
        <p:spPr>
          <a:xfrm>
            <a:off x="457200" y="1463040"/>
            <a:ext cx="5486400" cy="457200"/>
          </a:xfrm>
          <a:prstGeom prst="rect">
            <a:avLst/>
          </a:prstGeom>
          <a:noFill/>
        </p:spPr>
        <p:txBody>
          <a:bodyPr wrap="square">
            <a:spAutoFit/>
          </a:bodyPr>
          <a:lstStyle/>
          <a:p>
            <a:pPr algn="l">
              <a:defRPr sz="1800" b="1">
                <a:solidFill>
                  <a:srgbClr val="009688"/>
                </a:solidFill>
                <a:latin typeface="Calibri"/>
              </a:defRPr>
            </a:pPr>
            <a:r>
              <a:t>Host Inference Pipeline</a:t>
            </a:r>
          </a:p>
        </p:txBody>
      </p:sp>
      <p:sp>
        <p:nvSpPr>
          <p:cNvPr id="6" name="Oval 5"/>
          <p:cNvSpPr/>
          <p:nvPr/>
        </p:nvSpPr>
        <p:spPr>
          <a:xfrm>
            <a:off x="457200" y="2011680"/>
            <a:ext cx="320040" cy="32004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914400" y="1993392"/>
            <a:ext cx="5029200" cy="274320"/>
          </a:xfrm>
          <a:prstGeom prst="rect">
            <a:avLst/>
          </a:prstGeom>
          <a:noFill/>
        </p:spPr>
        <p:txBody>
          <a:bodyPr wrap="square">
            <a:spAutoFit/>
          </a:bodyPr>
          <a:lstStyle/>
          <a:p>
            <a:pPr algn="l">
              <a:defRPr sz="1300" b="1">
                <a:solidFill>
                  <a:srgbClr val="009688"/>
                </a:solidFill>
                <a:latin typeface="Calibri"/>
              </a:defRPr>
            </a:pPr>
            <a:r>
              <a:t>Upload Host Genomes</a:t>
            </a:r>
          </a:p>
        </p:txBody>
      </p:sp>
      <p:sp>
        <p:nvSpPr>
          <p:cNvPr id="8" name="TextBox 7"/>
          <p:cNvSpPr txBox="1"/>
          <p:nvPr/>
        </p:nvSpPr>
        <p:spPr>
          <a:xfrm>
            <a:off x="914400" y="2267712"/>
            <a:ext cx="5029200" cy="274320"/>
          </a:xfrm>
          <a:prstGeom prst="rect">
            <a:avLst/>
          </a:prstGeom>
          <a:noFill/>
        </p:spPr>
        <p:txBody>
          <a:bodyPr wrap="square">
            <a:spAutoFit/>
          </a:bodyPr>
          <a:lstStyle/>
          <a:p>
            <a:pPr algn="l">
              <a:defRPr sz="1000" b="0">
                <a:solidFill>
                  <a:srgbClr val="757575"/>
                </a:solidFill>
                <a:latin typeface="Calibri"/>
              </a:defRPr>
            </a:pPr>
            <a:r>
              <a:t>Bacterial genome FASTAs (one or more hosts)</a:t>
            </a:r>
          </a:p>
        </p:txBody>
      </p:sp>
      <p:cxnSp>
        <p:nvCxnSpPr>
          <p:cNvPr id="9" name="Connector 8"/>
          <p:cNvCxnSpPr/>
          <p:nvPr/>
        </p:nvCxnSpPr>
        <p:spPr>
          <a:xfrm>
            <a:off x="621792" y="2331720"/>
            <a:ext cx="0" cy="502920"/>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7200" y="2834640"/>
            <a:ext cx="320040" cy="32004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914400" y="2816352"/>
            <a:ext cx="5029200" cy="274320"/>
          </a:xfrm>
          <a:prstGeom prst="rect">
            <a:avLst/>
          </a:prstGeom>
          <a:noFill/>
        </p:spPr>
        <p:txBody>
          <a:bodyPr wrap="square">
            <a:spAutoFit/>
          </a:bodyPr>
          <a:lstStyle/>
          <a:p>
            <a:pPr algn="l">
              <a:defRPr sz="1300" b="1">
                <a:solidFill>
                  <a:srgbClr val="43A047"/>
                </a:solidFill>
                <a:latin typeface="Calibri"/>
              </a:defRPr>
            </a:pPr>
            <a:r>
              <a:t>Extract CRISPR Spacers</a:t>
            </a:r>
          </a:p>
        </p:txBody>
      </p:sp>
      <p:sp>
        <p:nvSpPr>
          <p:cNvPr id="12" name="TextBox 11"/>
          <p:cNvSpPr txBox="1"/>
          <p:nvPr/>
        </p:nvSpPr>
        <p:spPr>
          <a:xfrm>
            <a:off x="914400" y="3090672"/>
            <a:ext cx="5029200" cy="274320"/>
          </a:xfrm>
          <a:prstGeom prst="rect">
            <a:avLst/>
          </a:prstGeom>
          <a:noFill/>
        </p:spPr>
        <p:txBody>
          <a:bodyPr wrap="square">
            <a:spAutoFit/>
          </a:bodyPr>
          <a:lstStyle/>
          <a:p>
            <a:pPr algn="l">
              <a:defRPr sz="1000" b="0">
                <a:solidFill>
                  <a:srgbClr val="757575"/>
                </a:solidFill>
                <a:latin typeface="Calibri"/>
              </a:defRPr>
            </a:pPr>
            <a:r>
              <a:t>MinCED identifies CRISPR arrays and extracts spacer sequences</a:t>
            </a:r>
          </a:p>
        </p:txBody>
      </p:sp>
      <p:cxnSp>
        <p:nvCxnSpPr>
          <p:cNvPr id="13" name="Connector 12"/>
          <p:cNvCxnSpPr/>
          <p:nvPr/>
        </p:nvCxnSpPr>
        <p:spPr>
          <a:xfrm>
            <a:off x="621792" y="3154680"/>
            <a:ext cx="0" cy="502920"/>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3657600"/>
            <a:ext cx="320040" cy="32004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914400" y="3639312"/>
            <a:ext cx="5029200" cy="274320"/>
          </a:xfrm>
          <a:prstGeom prst="rect">
            <a:avLst/>
          </a:prstGeom>
          <a:noFill/>
        </p:spPr>
        <p:txBody>
          <a:bodyPr wrap="square">
            <a:spAutoFit/>
          </a:bodyPr>
          <a:lstStyle/>
          <a:p>
            <a:pPr algn="l">
              <a:defRPr sz="1300" b="1">
                <a:solidFill>
                  <a:srgbClr val="1E88E5"/>
                </a:solidFill>
                <a:latin typeface="Calibri"/>
              </a:defRPr>
            </a:pPr>
            <a:r>
              <a:t>BLAST Spacers vs Plasmids</a:t>
            </a:r>
          </a:p>
        </p:txBody>
      </p:sp>
      <p:sp>
        <p:nvSpPr>
          <p:cNvPr id="16" name="TextBox 15"/>
          <p:cNvSpPr txBox="1"/>
          <p:nvPr/>
        </p:nvSpPr>
        <p:spPr>
          <a:xfrm>
            <a:off x="914400" y="3913632"/>
            <a:ext cx="5029200" cy="274320"/>
          </a:xfrm>
          <a:prstGeom prst="rect">
            <a:avLst/>
          </a:prstGeom>
          <a:noFill/>
        </p:spPr>
        <p:txBody>
          <a:bodyPr wrap="square">
            <a:spAutoFit/>
          </a:bodyPr>
          <a:lstStyle/>
          <a:p>
            <a:pPr algn="l">
              <a:defRPr sz="1000" b="0">
                <a:solidFill>
                  <a:srgbClr val="757575"/>
                </a:solidFill>
                <a:latin typeface="Calibri"/>
              </a:defRPr>
            </a:pPr>
            <a:r>
              <a:t>BLASTN-short with -dust no -word_size 7 -evalue 1e-5</a:t>
            </a:r>
          </a:p>
        </p:txBody>
      </p:sp>
      <p:cxnSp>
        <p:nvCxnSpPr>
          <p:cNvPr id="17" name="Connector 16"/>
          <p:cNvCxnSpPr/>
          <p:nvPr/>
        </p:nvCxnSpPr>
        <p:spPr>
          <a:xfrm>
            <a:off x="621792" y="3977640"/>
            <a:ext cx="0" cy="502920"/>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57200" y="4480560"/>
            <a:ext cx="320040" cy="32004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914400" y="4462272"/>
            <a:ext cx="5029200" cy="274320"/>
          </a:xfrm>
          <a:prstGeom prst="rect">
            <a:avLst/>
          </a:prstGeom>
          <a:noFill/>
        </p:spPr>
        <p:txBody>
          <a:bodyPr wrap="square">
            <a:spAutoFit/>
          </a:bodyPr>
          <a:lstStyle/>
          <a:p>
            <a:pPr algn="l">
              <a:defRPr sz="1300" b="1">
                <a:solidFill>
                  <a:srgbClr val="FB8C00"/>
                </a:solidFill>
                <a:latin typeface="Calibri"/>
              </a:defRPr>
            </a:pPr>
            <a:r>
              <a:t>Stringent Filtering</a:t>
            </a:r>
          </a:p>
        </p:txBody>
      </p:sp>
      <p:sp>
        <p:nvSpPr>
          <p:cNvPr id="20" name="TextBox 19"/>
          <p:cNvSpPr txBox="1"/>
          <p:nvPr/>
        </p:nvSpPr>
        <p:spPr>
          <a:xfrm>
            <a:off x="914400" y="4736592"/>
            <a:ext cx="5029200" cy="274320"/>
          </a:xfrm>
          <a:prstGeom prst="rect">
            <a:avLst/>
          </a:prstGeom>
          <a:noFill/>
        </p:spPr>
        <p:txBody>
          <a:bodyPr wrap="square">
            <a:spAutoFit/>
          </a:bodyPr>
          <a:lstStyle/>
          <a:p>
            <a:pPr algn="l">
              <a:defRPr sz="1000" b="0">
                <a:solidFill>
                  <a:srgbClr val="757575"/>
                </a:solidFill>
                <a:latin typeface="Calibri"/>
              </a:defRPr>
            </a:pPr>
            <a:r>
              <a:t>≥95% identity, ≥25bp alignment, ≤1 mismatch, 0 gaps</a:t>
            </a:r>
          </a:p>
        </p:txBody>
      </p:sp>
      <p:cxnSp>
        <p:nvCxnSpPr>
          <p:cNvPr id="21" name="Connector 20"/>
          <p:cNvCxnSpPr/>
          <p:nvPr/>
        </p:nvCxnSpPr>
        <p:spPr>
          <a:xfrm>
            <a:off x="621792" y="4800600"/>
            <a:ext cx="0" cy="502920"/>
          </a:xfrm>
          <a:prstGeom prst="line">
            <a:avLst/>
          </a:prstGeom>
          <a:ln w="25400">
            <a:solidFill>
              <a:srgbClr val="BBDEF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57200" y="5303520"/>
            <a:ext cx="320040" cy="32004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914400" y="5285232"/>
            <a:ext cx="5029200" cy="274320"/>
          </a:xfrm>
          <a:prstGeom prst="rect">
            <a:avLst/>
          </a:prstGeom>
          <a:noFill/>
        </p:spPr>
        <p:txBody>
          <a:bodyPr wrap="square">
            <a:spAutoFit/>
          </a:bodyPr>
          <a:lstStyle/>
          <a:p>
            <a:pPr algn="l">
              <a:defRPr sz="1300" b="1">
                <a:solidFill>
                  <a:srgbClr val="8E24AA"/>
                </a:solidFill>
                <a:latin typeface="Calibri"/>
              </a:defRPr>
            </a:pPr>
            <a:r>
              <a:t>Probability Ranking</a:t>
            </a:r>
          </a:p>
        </p:txBody>
      </p:sp>
      <p:sp>
        <p:nvSpPr>
          <p:cNvPr id="24" name="TextBox 23"/>
          <p:cNvSpPr txBox="1"/>
          <p:nvPr/>
        </p:nvSpPr>
        <p:spPr>
          <a:xfrm>
            <a:off x="914400" y="5559552"/>
            <a:ext cx="5029200" cy="274320"/>
          </a:xfrm>
          <a:prstGeom prst="rect">
            <a:avLst/>
          </a:prstGeom>
          <a:noFill/>
        </p:spPr>
        <p:txBody>
          <a:bodyPr wrap="square">
            <a:spAutoFit/>
          </a:bodyPr>
          <a:lstStyle/>
          <a:p>
            <a:pPr algn="l">
              <a:defRPr sz="1000" b="0">
                <a:solidFill>
                  <a:srgbClr val="757575"/>
                </a:solidFill>
                <a:latin typeface="Calibri"/>
              </a:defRPr>
            </a:pPr>
            <a:r>
              <a:t>Softmax normalization per host-plasmid pair (temperature=1.0)</a:t>
            </a:r>
          </a:p>
        </p:txBody>
      </p:sp>
      <p:sp>
        <p:nvSpPr>
          <p:cNvPr id="25" name="TextBox 24"/>
          <p:cNvSpPr txBox="1"/>
          <p:nvPr/>
        </p:nvSpPr>
        <p:spPr>
          <a:xfrm>
            <a:off x="6400800" y="1463040"/>
            <a:ext cx="5486400" cy="457200"/>
          </a:xfrm>
          <a:prstGeom prst="rect">
            <a:avLst/>
          </a:prstGeom>
          <a:noFill/>
        </p:spPr>
        <p:txBody>
          <a:bodyPr wrap="square">
            <a:spAutoFit/>
          </a:bodyPr>
          <a:lstStyle/>
          <a:p>
            <a:pPr algn="l">
              <a:defRPr sz="1800" b="1">
                <a:solidFill>
                  <a:srgbClr val="009688"/>
                </a:solidFill>
                <a:latin typeface="Calibri"/>
              </a:defRPr>
            </a:pPr>
            <a:r>
              <a:t>Key Features</a:t>
            </a:r>
          </a:p>
        </p:txBody>
      </p:sp>
      <p:sp>
        <p:nvSpPr>
          <p:cNvPr id="26" name="Rounded Rectangle 25"/>
          <p:cNvSpPr/>
          <p:nvPr/>
        </p:nvSpPr>
        <p:spPr>
          <a:xfrm>
            <a:off x="6400800" y="2011680"/>
            <a:ext cx="5303520" cy="960120"/>
          </a:xfrm>
          <a:prstGeom prst="roundRect">
            <a:avLst/>
          </a:prstGeom>
          <a:solidFill>
            <a:srgbClr val="E0F2F1"/>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2057400"/>
            <a:ext cx="4937760" cy="274320"/>
          </a:xfrm>
          <a:prstGeom prst="rect">
            <a:avLst/>
          </a:prstGeom>
          <a:noFill/>
        </p:spPr>
        <p:txBody>
          <a:bodyPr wrap="square">
            <a:spAutoFit/>
          </a:bodyPr>
          <a:lstStyle/>
          <a:p>
            <a:pPr algn="l">
              <a:defRPr sz="1300" b="1">
                <a:solidFill>
                  <a:srgbClr val="009688"/>
                </a:solidFill>
                <a:latin typeface="Calibri"/>
              </a:defRPr>
            </a:pPr>
            <a:r>
              <a:t>Two Source Modes</a:t>
            </a:r>
          </a:p>
        </p:txBody>
      </p:sp>
      <p:sp>
        <p:nvSpPr>
          <p:cNvPr id="28" name="TextBox 27"/>
          <p:cNvSpPr txBox="1"/>
          <p:nvPr/>
        </p:nvSpPr>
        <p:spPr>
          <a:xfrm>
            <a:off x="6583680" y="2331720"/>
            <a:ext cx="4937760" cy="594360"/>
          </a:xfrm>
          <a:prstGeom prst="rect">
            <a:avLst/>
          </a:prstGeom>
          <a:noFill/>
        </p:spPr>
        <p:txBody>
          <a:bodyPr wrap="square">
            <a:spAutoFit/>
          </a:bodyPr>
          <a:lstStyle/>
          <a:p>
            <a:pPr algn="l">
              <a:defRPr sz="1000" b="0">
                <a:solidFill>
                  <a:srgbClr val="333333"/>
                </a:solidFill>
                <a:latin typeface="Calibri"/>
              </a:defRPr>
            </a:pPr>
            <a:r>
              <a:t>Match spacers against uploaded plasmids</a:t>
            </a:r>
            <a:br/>
            <a:r>
              <a:t>or built-in reference DB (72,556 plasmids)</a:t>
            </a:r>
          </a:p>
        </p:txBody>
      </p:sp>
      <p:sp>
        <p:nvSpPr>
          <p:cNvPr id="29" name="Rounded Rectangle 28"/>
          <p:cNvSpPr/>
          <p:nvPr/>
        </p:nvSpPr>
        <p:spPr>
          <a:xfrm>
            <a:off x="6400800" y="3108960"/>
            <a:ext cx="5303520" cy="960120"/>
          </a:xfrm>
          <a:prstGeom prst="roundRect">
            <a:avLst/>
          </a:prstGeom>
          <a:solidFill>
            <a:srgbClr val="E8F5E9"/>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154680"/>
            <a:ext cx="4937760" cy="274320"/>
          </a:xfrm>
          <a:prstGeom prst="rect">
            <a:avLst/>
          </a:prstGeom>
          <a:noFill/>
        </p:spPr>
        <p:txBody>
          <a:bodyPr wrap="square">
            <a:spAutoFit/>
          </a:bodyPr>
          <a:lstStyle/>
          <a:p>
            <a:pPr algn="l">
              <a:defRPr sz="1300" b="1">
                <a:solidFill>
                  <a:srgbClr val="43A047"/>
                </a:solidFill>
                <a:latin typeface="Calibri"/>
              </a:defRPr>
            </a:pPr>
            <a:r>
              <a:t>Confidence Categories</a:t>
            </a:r>
          </a:p>
        </p:txBody>
      </p:sp>
      <p:sp>
        <p:nvSpPr>
          <p:cNvPr id="31" name="TextBox 30"/>
          <p:cNvSpPr txBox="1"/>
          <p:nvPr/>
        </p:nvSpPr>
        <p:spPr>
          <a:xfrm>
            <a:off x="6583680" y="3429000"/>
            <a:ext cx="4937760" cy="594360"/>
          </a:xfrm>
          <a:prstGeom prst="rect">
            <a:avLst/>
          </a:prstGeom>
          <a:noFill/>
        </p:spPr>
        <p:txBody>
          <a:bodyPr wrap="square">
            <a:spAutoFit/>
          </a:bodyPr>
          <a:lstStyle/>
          <a:p>
            <a:pPr algn="l">
              <a:defRPr sz="1000" b="0">
                <a:solidFill>
                  <a:srgbClr val="333333"/>
                </a:solidFill>
                <a:latin typeface="Calibri"/>
              </a:defRPr>
            </a:pPr>
            <a:r>
              <a:t>High (≥0.7): Strong CRISPR evidence</a:t>
            </a:r>
            <a:br/>
            <a:r>
              <a:t>Medium (≥0.4): Moderate support</a:t>
            </a:r>
            <a:br/>
            <a:r>
              <a:t>Low (&lt;0.4): Weak association</a:t>
            </a:r>
          </a:p>
        </p:txBody>
      </p:sp>
      <p:sp>
        <p:nvSpPr>
          <p:cNvPr id="32" name="Rounded Rectangle 31"/>
          <p:cNvSpPr/>
          <p:nvPr/>
        </p:nvSpPr>
        <p:spPr>
          <a:xfrm>
            <a:off x="6400800" y="4206240"/>
            <a:ext cx="5303520" cy="960120"/>
          </a:xfrm>
          <a:prstGeom prst="roundRect">
            <a:avLst/>
          </a:prstGeom>
          <a:solidFill>
            <a:srgbClr val="E3F2FD"/>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4251960"/>
            <a:ext cx="4937760" cy="274320"/>
          </a:xfrm>
          <a:prstGeom prst="rect">
            <a:avLst/>
          </a:prstGeom>
          <a:noFill/>
        </p:spPr>
        <p:txBody>
          <a:bodyPr wrap="square">
            <a:spAutoFit/>
          </a:bodyPr>
          <a:lstStyle/>
          <a:p>
            <a:pPr algn="l">
              <a:defRPr sz="1300" b="1">
                <a:solidFill>
                  <a:srgbClr val="1E88E5"/>
                </a:solidFill>
                <a:latin typeface="Calibri"/>
              </a:defRPr>
            </a:pPr>
            <a:r>
              <a:t>Rich Visualizations</a:t>
            </a:r>
          </a:p>
        </p:txBody>
      </p:sp>
      <p:sp>
        <p:nvSpPr>
          <p:cNvPr id="34" name="TextBox 33"/>
          <p:cNvSpPr txBox="1"/>
          <p:nvPr/>
        </p:nvSpPr>
        <p:spPr>
          <a:xfrm>
            <a:off x="6583680" y="4526280"/>
            <a:ext cx="4937760" cy="594360"/>
          </a:xfrm>
          <a:prstGeom prst="rect">
            <a:avLst/>
          </a:prstGeom>
          <a:noFill/>
        </p:spPr>
        <p:txBody>
          <a:bodyPr wrap="square">
            <a:spAutoFit/>
          </a:bodyPr>
          <a:lstStyle/>
          <a:p>
            <a:pPr algn="l">
              <a:defRPr sz="1000" b="0">
                <a:solidFill>
                  <a:srgbClr val="333333"/>
                </a:solidFill>
                <a:latin typeface="Calibri"/>
              </a:defRPr>
            </a:pPr>
            <a:r>
              <a:t>Host-plasmid probability heatmap</a:t>
            </a:r>
            <a:br/>
            <a:r>
              <a:t>Confidence pie chart, spacers bar chart</a:t>
            </a:r>
            <a:br/>
            <a:r>
              <a:t>Filtered BLAST hits expander</a:t>
            </a:r>
          </a:p>
        </p:txBody>
      </p:sp>
      <p:sp>
        <p:nvSpPr>
          <p:cNvPr id="35" name="Rounded Rectangle 34"/>
          <p:cNvSpPr/>
          <p:nvPr/>
        </p:nvSpPr>
        <p:spPr>
          <a:xfrm>
            <a:off x="6400800" y="5303520"/>
            <a:ext cx="5303520" cy="960120"/>
          </a:xfrm>
          <a:prstGeom prst="roundRect">
            <a:avLst/>
          </a:prstGeom>
          <a:solidFill>
            <a:srgbClr val="F3E5F5"/>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5349240"/>
            <a:ext cx="4937760" cy="274320"/>
          </a:xfrm>
          <a:prstGeom prst="rect">
            <a:avLst/>
          </a:prstGeom>
          <a:noFill/>
        </p:spPr>
        <p:txBody>
          <a:bodyPr wrap="square">
            <a:spAutoFit/>
          </a:bodyPr>
          <a:lstStyle/>
          <a:p>
            <a:pPr algn="l">
              <a:defRPr sz="1300" b="1">
                <a:solidFill>
                  <a:srgbClr val="8E24AA"/>
                </a:solidFill>
                <a:latin typeface="Calibri"/>
              </a:defRPr>
            </a:pPr>
            <a:r>
              <a:t>Full Export</a:t>
            </a:r>
          </a:p>
        </p:txBody>
      </p:sp>
      <p:sp>
        <p:nvSpPr>
          <p:cNvPr id="37" name="TextBox 36"/>
          <p:cNvSpPr txBox="1"/>
          <p:nvPr/>
        </p:nvSpPr>
        <p:spPr>
          <a:xfrm>
            <a:off x="6583680" y="5623560"/>
            <a:ext cx="4937760" cy="594360"/>
          </a:xfrm>
          <a:prstGeom prst="rect">
            <a:avLst/>
          </a:prstGeom>
          <a:noFill/>
        </p:spPr>
        <p:txBody>
          <a:bodyPr wrap="square">
            <a:spAutoFit/>
          </a:bodyPr>
          <a:lstStyle/>
          <a:p>
            <a:pPr algn="l">
              <a:defRPr sz="1000" b="0">
                <a:solidFill>
                  <a:srgbClr val="333333"/>
                </a:solidFill>
                <a:latin typeface="Calibri"/>
              </a:defRPr>
            </a:pPr>
            <a:r>
              <a:t>CRISPR host predictions TSV</a:t>
            </a:r>
            <a:br/>
            <a:r>
              <a:t>Extracted spacers TSV</a:t>
            </a:r>
            <a:br/>
            <a:r>
              <a:t>Included in ZIP bundle</a:t>
            </a:r>
          </a:p>
        </p:txBody>
      </p:sp>
      <p:sp>
        <p:nvSpPr>
          <p:cNvPr id="38" name="Rounded Rectangle 37"/>
          <p:cNvSpPr/>
          <p:nvPr/>
        </p:nvSpPr>
        <p:spPr>
          <a:xfrm>
            <a:off x="457200" y="6035040"/>
            <a:ext cx="11338560" cy="548640"/>
          </a:xfrm>
          <a:prstGeom prst="roundRect">
            <a:avLst/>
          </a:prstGeom>
          <a:solidFill>
            <a:srgbClr val="E0F2F1"/>
          </a:solidFill>
          <a:ln w="254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6080760"/>
            <a:ext cx="10972800" cy="457200"/>
          </a:xfrm>
          <a:prstGeom prst="rect">
            <a:avLst/>
          </a:prstGeom>
          <a:noFill/>
        </p:spPr>
        <p:txBody>
          <a:bodyPr wrap="square">
            <a:spAutoFit/>
          </a:bodyPr>
          <a:lstStyle/>
          <a:p>
            <a:pPr algn="l">
              <a:defRPr sz="1000" b="0">
                <a:solidFill>
                  <a:srgbClr val="009688"/>
                </a:solidFill>
                <a:latin typeface="Calibri"/>
              </a:defRPr>
            </a:pPr>
            <a:r>
              <a:t>Tools: MinCED 0.4.2 (spacer extraction) + BLASTN (NCBI BLAST+) | Spacer IDs: {genome}__spacer_{N} for host tracing | Numerically stable softmax with max-subtraction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Nucleotide Transformer LLM Integration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Optional genomic language model for enhanced Inc group and AMR prediction</a:t>
            </a:r>
          </a:p>
        </p:txBody>
      </p:sp>
      <p:sp>
        <p:nvSpPr>
          <p:cNvPr id="5" name="Rounded Rectangle 4"/>
          <p:cNvSpPr/>
          <p:nvPr/>
        </p:nvSpPr>
        <p:spPr>
          <a:xfrm>
            <a:off x="365760" y="1371600"/>
            <a:ext cx="11430000" cy="2560320"/>
          </a:xfrm>
          <a:prstGeom prst="roundRect">
            <a:avLst/>
          </a:prstGeom>
          <a:solidFill>
            <a:srgbClr val="ECEFF1"/>
          </a:solidFill>
          <a:ln w="127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0972800" cy="320040"/>
          </a:xfrm>
          <a:prstGeom prst="rect">
            <a:avLst/>
          </a:prstGeom>
          <a:noFill/>
        </p:spPr>
        <p:txBody>
          <a:bodyPr wrap="square">
            <a:spAutoFit/>
          </a:bodyPr>
          <a:lstStyle/>
          <a:p>
            <a:pPr algn="l">
              <a:defRPr sz="1600" b="1">
                <a:solidFill>
                  <a:srgbClr val="0D47A1"/>
                </a:solidFill>
                <a:latin typeface="Calibri"/>
              </a:defRPr>
            </a:pPr>
            <a:r>
              <a:t>Dual Prediction Architecture</a:t>
            </a:r>
          </a:p>
        </p:txBody>
      </p:sp>
      <p:sp>
        <p:nvSpPr>
          <p:cNvPr id="7" name="Rounded Rectangle 6"/>
          <p:cNvSpPr/>
          <p:nvPr/>
        </p:nvSpPr>
        <p:spPr>
          <a:xfrm>
            <a:off x="640080" y="1920240"/>
            <a:ext cx="5029200" cy="173736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663440" cy="320040"/>
          </a:xfrm>
          <a:prstGeom prst="rect">
            <a:avLst/>
          </a:prstGeom>
          <a:noFill/>
        </p:spPr>
        <p:txBody>
          <a:bodyPr wrap="square">
            <a:spAutoFit/>
          </a:bodyPr>
          <a:lstStyle/>
          <a:p>
            <a:pPr algn="l">
              <a:defRPr sz="1400" b="1">
                <a:solidFill>
                  <a:srgbClr val="1E88E5"/>
                </a:solidFill>
                <a:latin typeface="Calibri"/>
              </a:defRPr>
            </a:pPr>
            <a:r>
              <a:t>Traditional Pipeline (KNN)</a:t>
            </a:r>
          </a:p>
        </p:txBody>
      </p:sp>
      <p:sp>
        <p:nvSpPr>
          <p:cNvPr id="9" name="TextBox 8"/>
          <p:cNvSpPr txBox="1"/>
          <p:nvPr/>
        </p:nvSpPr>
        <p:spPr>
          <a:xfrm>
            <a:off x="822960" y="2331720"/>
            <a:ext cx="4663440" cy="1188720"/>
          </a:xfrm>
          <a:prstGeom prst="rect">
            <a:avLst/>
          </a:prstGeom>
          <a:noFill/>
        </p:spPr>
        <p:txBody>
          <a:bodyPr wrap="square">
            <a:spAutoFit/>
          </a:bodyPr>
          <a:lstStyle/>
          <a:p>
            <a:pPr>
              <a:spcAft>
                <a:spcPts val="200"/>
              </a:spcAft>
              <a:defRPr sz="1100">
                <a:solidFill>
                  <a:srgbClr val="333333"/>
                </a:solidFill>
                <a:latin typeface="Calibri"/>
              </a:defRPr>
            </a:pPr>
            <a:r>
              <a:t>FASTA → 4-mer frequency vectors (256D)</a:t>
            </a:r>
          </a:p>
          <a:p>
            <a:pPr>
              <a:spcAft>
                <a:spcPts val="200"/>
              </a:spcAft>
              <a:defRPr sz="1100">
                <a:solidFill>
                  <a:srgbClr val="333333"/>
                </a:solidFill>
                <a:latin typeface="Calibri"/>
              </a:defRPr>
            </a:pPr>
            <a:r>
              <a:t>KNN classifier (k=5, cosine distance)</a:t>
            </a:r>
          </a:p>
          <a:p>
            <a:pPr>
              <a:spcAft>
                <a:spcPts val="200"/>
              </a:spcAft>
              <a:defRPr sz="1100">
                <a:solidFill>
                  <a:srgbClr val="333333"/>
                </a:solidFill>
                <a:latin typeface="Calibri"/>
              </a:defRPr>
            </a:pPr>
            <a:r>
              <a:t>92.2% cross-validation accuracy (20 groups)</a:t>
            </a:r>
          </a:p>
          <a:p>
            <a:pPr>
              <a:spcAft>
                <a:spcPts val="200"/>
              </a:spcAft>
              <a:defRPr sz="1100">
                <a:solidFill>
                  <a:srgbClr val="333333"/>
                </a:solidFill>
                <a:latin typeface="Calibri"/>
              </a:defRPr>
            </a:pPr>
            <a:r>
              <a:t>Instant inference (&lt;100ms)</a:t>
            </a:r>
          </a:p>
        </p:txBody>
      </p:sp>
      <p:sp>
        <p:nvSpPr>
          <p:cNvPr id="10" name="Left-Right Arrow 9"/>
          <p:cNvSpPr/>
          <p:nvPr/>
        </p:nvSpPr>
        <p:spPr>
          <a:xfrm>
            <a:off x="5806440" y="2560320"/>
            <a:ext cx="548640" cy="320040"/>
          </a:xfrm>
          <a:prstGeom prst="lef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920240"/>
            <a:ext cx="5029200" cy="1737360"/>
          </a:xfrm>
          <a:prstGeom prst="roundRect">
            <a:avLst/>
          </a:prstGeom>
          <a:solidFill>
            <a:srgbClr val="FFFFFF"/>
          </a:solidFill>
          <a:ln w="254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65960"/>
            <a:ext cx="4663440" cy="320040"/>
          </a:xfrm>
          <a:prstGeom prst="rect">
            <a:avLst/>
          </a:prstGeom>
          <a:noFill/>
        </p:spPr>
        <p:txBody>
          <a:bodyPr wrap="square">
            <a:spAutoFit/>
          </a:bodyPr>
          <a:lstStyle/>
          <a:p>
            <a:pPr algn="l">
              <a:defRPr sz="1400" b="1">
                <a:solidFill>
                  <a:srgbClr val="8E24AA"/>
                </a:solidFill>
                <a:latin typeface="Calibri"/>
              </a:defRPr>
            </a:pPr>
            <a:r>
              <a:t>Nucleotide Transformer (LLM)</a:t>
            </a:r>
          </a:p>
        </p:txBody>
      </p:sp>
      <p:sp>
        <p:nvSpPr>
          <p:cNvPr id="13" name="TextBox 12"/>
          <p:cNvSpPr txBox="1"/>
          <p:nvPr/>
        </p:nvSpPr>
        <p:spPr>
          <a:xfrm>
            <a:off x="6675120" y="2331720"/>
            <a:ext cx="4663440" cy="1188720"/>
          </a:xfrm>
          <a:prstGeom prst="rect">
            <a:avLst/>
          </a:prstGeom>
          <a:noFill/>
        </p:spPr>
        <p:txBody>
          <a:bodyPr wrap="square">
            <a:spAutoFit/>
          </a:bodyPr>
          <a:lstStyle/>
          <a:p>
            <a:pPr>
              <a:spcAft>
                <a:spcPts val="200"/>
              </a:spcAft>
              <a:defRPr sz="1100">
                <a:solidFill>
                  <a:srgbClr val="333333"/>
                </a:solidFill>
                <a:latin typeface="Calibri"/>
              </a:defRPr>
            </a:pPr>
            <a:r>
              <a:t>FASTA → 6-mer tokenization → Transformer</a:t>
            </a:r>
          </a:p>
          <a:p>
            <a:pPr>
              <a:spcAft>
                <a:spcPts val="200"/>
              </a:spcAft>
              <a:defRPr sz="1100">
                <a:solidFill>
                  <a:srgbClr val="333333"/>
                </a:solidFill>
                <a:latin typeface="Calibri"/>
              </a:defRPr>
            </a:pPr>
            <a:r>
              <a:t>Chunked embedding (5kb chunks, mean-pooled)</a:t>
            </a:r>
          </a:p>
          <a:p>
            <a:pPr>
              <a:spcAft>
                <a:spcPts val="200"/>
              </a:spcAft>
              <a:defRPr sz="1100">
                <a:solidFill>
                  <a:srgbClr val="333333"/>
                </a:solidFill>
                <a:latin typeface="Calibri"/>
              </a:defRPr>
            </a:pPr>
            <a:r>
              <a:t>Linear probe classifiers on frozen embeddings</a:t>
            </a:r>
          </a:p>
          <a:p>
            <a:pPr>
              <a:spcAft>
                <a:spcPts val="200"/>
              </a:spcAft>
              <a:defRPr sz="1100">
                <a:solidFill>
                  <a:srgbClr val="333333"/>
                </a:solidFill>
                <a:latin typeface="Calibri"/>
              </a:defRPr>
            </a:pPr>
            <a:r>
              <a:t>Models: 50M / 100M / 250M / 500M params</a:t>
            </a:r>
          </a:p>
        </p:txBody>
      </p:sp>
      <p:sp>
        <p:nvSpPr>
          <p:cNvPr id="14" name="Rounded Rectangle 13"/>
          <p:cNvSpPr/>
          <p:nvPr/>
        </p:nvSpPr>
        <p:spPr>
          <a:xfrm>
            <a:off x="365760" y="4206240"/>
            <a:ext cx="1828800" cy="36576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251960"/>
            <a:ext cx="1828800" cy="274320"/>
          </a:xfrm>
          <a:prstGeom prst="rect">
            <a:avLst/>
          </a:prstGeom>
          <a:noFill/>
        </p:spPr>
        <p:txBody>
          <a:bodyPr wrap="square">
            <a:spAutoFit/>
          </a:bodyPr>
          <a:lstStyle/>
          <a:p>
            <a:pPr algn="ctr">
              <a:defRPr sz="1000" b="1">
                <a:solidFill>
                  <a:srgbClr val="FFFFFF"/>
                </a:solidFill>
                <a:latin typeface="Calibri"/>
              </a:defRPr>
            </a:pPr>
            <a:r>
              <a:t>Sequence Understanding</a:t>
            </a:r>
          </a:p>
        </p:txBody>
      </p:sp>
      <p:sp>
        <p:nvSpPr>
          <p:cNvPr id="16" name="Rounded Rectangle 15"/>
          <p:cNvSpPr/>
          <p:nvPr/>
        </p:nvSpPr>
        <p:spPr>
          <a:xfrm>
            <a:off x="365760" y="4572000"/>
            <a:ext cx="1828800" cy="12801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NT captures long-range sequence</a:t>
            </a:r>
          </a:p>
          <a:p>
            <a:pPr>
              <a:spcAft>
                <a:spcPts val="200"/>
              </a:spcAft>
              <a:defRPr sz="900">
                <a:solidFill>
                  <a:srgbClr val="333333"/>
                </a:solidFill>
                <a:latin typeface="Calibri"/>
              </a:defRPr>
            </a:pPr>
            <a:r>
              <a:t>context and motif patterns</a:t>
            </a:r>
          </a:p>
          <a:p>
            <a:pPr>
              <a:spcAft>
                <a:spcPts val="200"/>
              </a:spcAft>
              <a:defRPr sz="900">
                <a:solidFill>
                  <a:srgbClr val="333333"/>
                </a:solidFill>
                <a:latin typeface="Calibri"/>
              </a:defRPr>
            </a:pPr>
            <a:r>
              <a:t>beyond simple k-mer counts</a:t>
            </a:r>
          </a:p>
        </p:txBody>
      </p:sp>
      <p:sp>
        <p:nvSpPr>
          <p:cNvPr id="18" name="Rounded Rectangle 17"/>
          <p:cNvSpPr/>
          <p:nvPr/>
        </p:nvSpPr>
        <p:spPr>
          <a:xfrm>
            <a:off x="2331720" y="4206240"/>
            <a:ext cx="1828800" cy="36576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31720" y="4251960"/>
            <a:ext cx="1828800" cy="274320"/>
          </a:xfrm>
          <a:prstGeom prst="rect">
            <a:avLst/>
          </a:prstGeom>
          <a:noFill/>
        </p:spPr>
        <p:txBody>
          <a:bodyPr wrap="square">
            <a:spAutoFit/>
          </a:bodyPr>
          <a:lstStyle/>
          <a:p>
            <a:pPr algn="ctr">
              <a:defRPr sz="1000" b="1">
                <a:solidFill>
                  <a:srgbClr val="FFFFFF"/>
                </a:solidFill>
                <a:latin typeface="Calibri"/>
              </a:defRPr>
            </a:pPr>
            <a:r>
              <a:t>Chunked Embedding</a:t>
            </a:r>
          </a:p>
        </p:txBody>
      </p:sp>
      <p:sp>
        <p:nvSpPr>
          <p:cNvPr id="20" name="Rounded Rectangle 19"/>
          <p:cNvSpPr/>
          <p:nvPr/>
        </p:nvSpPr>
        <p:spPr>
          <a:xfrm>
            <a:off x="2331720" y="4572000"/>
            <a:ext cx="1828800" cy="128016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Plasmids split into 5,000 bp</a:t>
            </a:r>
          </a:p>
          <a:p>
            <a:pPr>
              <a:spcAft>
                <a:spcPts val="200"/>
              </a:spcAft>
              <a:defRPr sz="900">
                <a:solidFill>
                  <a:srgbClr val="333333"/>
                </a:solidFill>
                <a:latin typeface="Calibri"/>
              </a:defRPr>
            </a:pPr>
            <a:r>
              <a:t>overlapping chunks (stride 2,500)</a:t>
            </a:r>
          </a:p>
          <a:p>
            <a:pPr>
              <a:spcAft>
                <a:spcPts val="200"/>
              </a:spcAft>
              <a:defRPr sz="900">
                <a:solidFill>
                  <a:srgbClr val="333333"/>
                </a:solidFill>
                <a:latin typeface="Calibri"/>
              </a:defRPr>
            </a:pPr>
            <a:r>
              <a:t>Mean-pooled across chunks</a:t>
            </a:r>
          </a:p>
        </p:txBody>
      </p:sp>
      <p:sp>
        <p:nvSpPr>
          <p:cNvPr id="22" name="Rounded Rectangle 21"/>
          <p:cNvSpPr/>
          <p:nvPr/>
        </p:nvSpPr>
        <p:spPr>
          <a:xfrm>
            <a:off x="4297680" y="4206240"/>
            <a:ext cx="1828800" cy="36576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4251960"/>
            <a:ext cx="1828800" cy="274320"/>
          </a:xfrm>
          <a:prstGeom prst="rect">
            <a:avLst/>
          </a:prstGeom>
          <a:noFill/>
        </p:spPr>
        <p:txBody>
          <a:bodyPr wrap="square">
            <a:spAutoFit/>
          </a:bodyPr>
          <a:lstStyle/>
          <a:p>
            <a:pPr algn="ctr">
              <a:defRPr sz="1000" b="1">
                <a:solidFill>
                  <a:srgbClr val="FFFFFF"/>
                </a:solidFill>
                <a:latin typeface="Calibri"/>
              </a:defRPr>
            </a:pPr>
            <a:r>
              <a:t>Inc Group Prediction</a:t>
            </a:r>
          </a:p>
        </p:txBody>
      </p:sp>
      <p:sp>
        <p:nvSpPr>
          <p:cNvPr id="24" name="Rounded Rectangle 23"/>
          <p:cNvSpPr/>
          <p:nvPr/>
        </p:nvSpPr>
        <p:spPr>
          <a:xfrm>
            <a:off x="4297680" y="4572000"/>
            <a:ext cx="1828800" cy="128016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LogisticRegression probe on</a:t>
            </a:r>
          </a:p>
          <a:p>
            <a:pPr>
              <a:spcAft>
                <a:spcPts val="200"/>
              </a:spcAft>
              <a:defRPr sz="900">
                <a:solidFill>
                  <a:srgbClr val="333333"/>
                </a:solidFill>
                <a:latin typeface="Calibri"/>
              </a:defRPr>
            </a:pPr>
            <a:r>
              <a:t>NT embeddings predicts Inc</a:t>
            </a:r>
          </a:p>
          <a:p>
            <a:pPr>
              <a:spcAft>
                <a:spcPts val="200"/>
              </a:spcAft>
              <a:defRPr sz="900">
                <a:solidFill>
                  <a:srgbClr val="333333"/>
                </a:solidFill>
                <a:latin typeface="Calibri"/>
              </a:defRPr>
            </a:pPr>
            <a:r>
              <a:t>group with CV accuracy report</a:t>
            </a:r>
          </a:p>
        </p:txBody>
      </p:sp>
      <p:sp>
        <p:nvSpPr>
          <p:cNvPr id="26" name="Rounded Rectangle 25"/>
          <p:cNvSpPr/>
          <p:nvPr/>
        </p:nvSpPr>
        <p:spPr>
          <a:xfrm>
            <a:off x="6263640" y="4206240"/>
            <a:ext cx="1828800" cy="36576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4251960"/>
            <a:ext cx="1828800" cy="274320"/>
          </a:xfrm>
          <a:prstGeom prst="rect">
            <a:avLst/>
          </a:prstGeom>
          <a:noFill/>
        </p:spPr>
        <p:txBody>
          <a:bodyPr wrap="square">
            <a:spAutoFit/>
          </a:bodyPr>
          <a:lstStyle/>
          <a:p>
            <a:pPr algn="ctr">
              <a:defRPr sz="1000" b="1">
                <a:solidFill>
                  <a:srgbClr val="FFFFFF"/>
                </a:solidFill>
                <a:latin typeface="Calibri"/>
              </a:defRPr>
            </a:pPr>
            <a:r>
              <a:t>AMR Class Prediction</a:t>
            </a:r>
          </a:p>
        </p:txBody>
      </p:sp>
      <p:sp>
        <p:nvSpPr>
          <p:cNvPr id="28" name="Rounded Rectangle 27"/>
          <p:cNvSpPr/>
          <p:nvPr/>
        </p:nvSpPr>
        <p:spPr>
          <a:xfrm>
            <a:off x="6263640" y="4572000"/>
            <a:ext cx="1828800" cy="1280160"/>
          </a:xfrm>
          <a:prstGeom prst="roundRect">
            <a:avLst/>
          </a:prstGeom>
          <a:solidFill>
            <a:srgbClr val="FFFFFF"/>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Multi-label probe predicts</a:t>
            </a:r>
          </a:p>
          <a:p>
            <a:pPr>
              <a:spcAft>
                <a:spcPts val="200"/>
              </a:spcAft>
              <a:defRPr sz="900">
                <a:solidFill>
                  <a:srgbClr val="333333"/>
                </a:solidFill>
                <a:latin typeface="Calibri"/>
              </a:defRPr>
            </a:pPr>
            <a:r>
              <a:t>AMR drug classes from</a:t>
            </a:r>
          </a:p>
          <a:p>
            <a:pPr>
              <a:spcAft>
                <a:spcPts val="200"/>
              </a:spcAft>
              <a:defRPr sz="900">
                <a:solidFill>
                  <a:srgbClr val="333333"/>
                </a:solidFill>
                <a:latin typeface="Calibri"/>
              </a:defRPr>
            </a:pPr>
            <a:r>
              <a:t>sequence composition alone</a:t>
            </a:r>
          </a:p>
        </p:txBody>
      </p:sp>
      <p:sp>
        <p:nvSpPr>
          <p:cNvPr id="30" name="Rounded Rectangle 29"/>
          <p:cNvSpPr/>
          <p:nvPr/>
        </p:nvSpPr>
        <p:spPr>
          <a:xfrm>
            <a:off x="8229600" y="4206240"/>
            <a:ext cx="1828800" cy="36576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4251960"/>
            <a:ext cx="1828800" cy="274320"/>
          </a:xfrm>
          <a:prstGeom prst="rect">
            <a:avLst/>
          </a:prstGeom>
          <a:noFill/>
        </p:spPr>
        <p:txBody>
          <a:bodyPr wrap="square">
            <a:spAutoFit/>
          </a:bodyPr>
          <a:lstStyle/>
          <a:p>
            <a:pPr algn="ctr">
              <a:defRPr sz="1000" b="1">
                <a:solidFill>
                  <a:srgbClr val="FFFFFF"/>
                </a:solidFill>
                <a:latin typeface="Calibri"/>
              </a:defRPr>
            </a:pPr>
            <a:r>
              <a:t>KNN vs NT Comparison</a:t>
            </a:r>
          </a:p>
        </p:txBody>
      </p:sp>
      <p:sp>
        <p:nvSpPr>
          <p:cNvPr id="32" name="Rounded Rectangle 31"/>
          <p:cNvSpPr/>
          <p:nvPr/>
        </p:nvSpPr>
        <p:spPr>
          <a:xfrm>
            <a:off x="8229600" y="4572000"/>
            <a:ext cx="1828800" cy="128016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Agreement rate shown in</a:t>
            </a:r>
          </a:p>
          <a:p>
            <a:pPr>
              <a:spcAft>
                <a:spcPts val="200"/>
              </a:spcAft>
              <a:defRPr sz="900">
                <a:solidFill>
                  <a:srgbClr val="333333"/>
                </a:solidFill>
                <a:latin typeface="Calibri"/>
              </a:defRPr>
            </a:pPr>
            <a:r>
              <a:t>Overview tab. Disagreements</a:t>
            </a:r>
          </a:p>
          <a:p>
            <a:pPr>
              <a:spcAft>
                <a:spcPts val="200"/>
              </a:spcAft>
              <a:defRPr sz="900">
                <a:solidFill>
                  <a:srgbClr val="333333"/>
                </a:solidFill>
                <a:latin typeface="Calibri"/>
              </a:defRPr>
            </a:pPr>
            <a:r>
              <a:t>flagged for manual review</a:t>
            </a:r>
          </a:p>
        </p:txBody>
      </p:sp>
      <p:sp>
        <p:nvSpPr>
          <p:cNvPr id="34" name="Rounded Rectangle 33"/>
          <p:cNvSpPr/>
          <p:nvPr/>
        </p:nvSpPr>
        <p:spPr>
          <a:xfrm>
            <a:off x="10195560" y="4206240"/>
            <a:ext cx="182880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95560" y="4251960"/>
            <a:ext cx="1828800" cy="274320"/>
          </a:xfrm>
          <a:prstGeom prst="rect">
            <a:avLst/>
          </a:prstGeom>
          <a:noFill/>
        </p:spPr>
        <p:txBody>
          <a:bodyPr wrap="square">
            <a:spAutoFit/>
          </a:bodyPr>
          <a:lstStyle/>
          <a:p>
            <a:pPr algn="ctr">
              <a:defRPr sz="1000" b="1">
                <a:solidFill>
                  <a:srgbClr val="FFFFFF"/>
                </a:solidFill>
                <a:latin typeface="Calibri"/>
              </a:defRPr>
            </a:pPr>
            <a:r>
              <a:t>Graceful Degradation</a:t>
            </a:r>
          </a:p>
        </p:txBody>
      </p:sp>
      <p:sp>
        <p:nvSpPr>
          <p:cNvPr id="36" name="Rounded Rectangle 35"/>
          <p:cNvSpPr/>
          <p:nvPr/>
        </p:nvSpPr>
        <p:spPr>
          <a:xfrm>
            <a:off x="10195560" y="4572000"/>
            <a:ext cx="1828800" cy="1280160"/>
          </a:xfrm>
          <a:prstGeom prst="roundRect">
            <a:avLst/>
          </a:prstGeom>
          <a:solidFill>
            <a:srgbClr val="FFFFFF"/>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41280" y="4663440"/>
            <a:ext cx="1737360" cy="1097280"/>
          </a:xfrm>
          <a:prstGeom prst="rect">
            <a:avLst/>
          </a:prstGeom>
          <a:noFill/>
        </p:spPr>
        <p:txBody>
          <a:bodyPr wrap="square">
            <a:spAutoFit/>
          </a:bodyPr>
          <a:lstStyle/>
          <a:p>
            <a:pPr>
              <a:spcAft>
                <a:spcPts val="200"/>
              </a:spcAft>
              <a:defRPr sz="900">
                <a:solidFill>
                  <a:srgbClr val="333333"/>
                </a:solidFill>
                <a:latin typeface="Calibri"/>
              </a:defRPr>
            </a:pPr>
            <a:r>
              <a:t>Fully optional — works without</a:t>
            </a:r>
          </a:p>
          <a:p>
            <a:pPr>
              <a:spcAft>
                <a:spcPts val="200"/>
              </a:spcAft>
              <a:defRPr sz="900">
                <a:solidFill>
                  <a:srgbClr val="333333"/>
                </a:solidFill>
                <a:latin typeface="Calibri"/>
              </a:defRPr>
            </a:pPr>
            <a:r>
              <a:t>transformers/torch installed.</a:t>
            </a:r>
          </a:p>
          <a:p>
            <a:pPr>
              <a:spcAft>
                <a:spcPts val="200"/>
              </a:spcAft>
              <a:defRPr sz="900">
                <a:solidFill>
                  <a:srgbClr val="333333"/>
                </a:solidFill>
                <a:latin typeface="Calibri"/>
              </a:defRPr>
            </a:pPr>
            <a:r>
              <a:t>Fallback to KNN if NT fails</a:t>
            </a:r>
          </a:p>
        </p:txBody>
      </p:sp>
      <p:sp>
        <p:nvSpPr>
          <p:cNvPr id="38" name="Rounded Rectangle 37"/>
          <p:cNvSpPr/>
          <p:nvPr/>
        </p:nvSpPr>
        <p:spPr>
          <a:xfrm>
            <a:off x="365760" y="5760720"/>
            <a:ext cx="11430000" cy="822960"/>
          </a:xfrm>
          <a:prstGeom prst="roundRect">
            <a:avLst/>
          </a:prstGeom>
          <a:solidFill>
            <a:srgbClr val="FFFFFF"/>
          </a:solidFill>
          <a:ln w="127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806440"/>
            <a:ext cx="10972800" cy="274320"/>
          </a:xfrm>
          <a:prstGeom prst="rect">
            <a:avLst/>
          </a:prstGeom>
          <a:noFill/>
        </p:spPr>
        <p:txBody>
          <a:bodyPr wrap="square">
            <a:spAutoFit/>
          </a:bodyPr>
          <a:lstStyle/>
          <a:p>
            <a:pPr algn="l">
              <a:defRPr sz="1300" b="1">
                <a:solidFill>
                  <a:srgbClr val="0D47A1"/>
                </a:solidFill>
                <a:latin typeface="Calibri"/>
              </a:defRPr>
            </a:pPr>
            <a:r>
              <a:t>Training Workflow</a:t>
            </a:r>
          </a:p>
        </p:txBody>
      </p:sp>
      <p:sp>
        <p:nvSpPr>
          <p:cNvPr id="40" name="TextBox 39"/>
          <p:cNvSpPr txBox="1"/>
          <p:nvPr/>
        </p:nvSpPr>
        <p:spPr>
          <a:xfrm>
            <a:off x="548640" y="6080760"/>
            <a:ext cx="10972800" cy="411480"/>
          </a:xfrm>
          <a:prstGeom prst="rect">
            <a:avLst/>
          </a:prstGeom>
          <a:noFill/>
        </p:spPr>
        <p:txBody>
          <a:bodyPr wrap="square">
            <a:spAutoFit/>
          </a:bodyPr>
          <a:lstStyle/>
          <a:p>
            <a:pPr algn="l">
              <a:defRPr sz="1000" b="0">
                <a:solidFill>
                  <a:srgbClr val="757575"/>
                </a:solidFill>
                <a:latin typeface="Calibri"/>
              </a:defRPr>
            </a:pPr>
            <a:r>
              <a:t>pip install transformers torch  →  python train_nt_classifier.py --model 50m  →  Extracts embeddings from training data  →  Trains Inc + AMR probes  →  Saves data/nt_inc_probe.pkl &amp; data/nt_amr_probe.pkl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Deployment &amp; Distribution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Multiple deployment options for different user environments</a:t>
            </a:r>
          </a:p>
        </p:txBody>
      </p:sp>
      <p:sp>
        <p:nvSpPr>
          <p:cNvPr id="5" name="Rounded Rectangle 4"/>
          <p:cNvSpPr/>
          <p:nvPr/>
        </p:nvSpPr>
        <p:spPr>
          <a:xfrm>
            <a:off x="365760" y="1371600"/>
            <a:ext cx="361188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17320"/>
            <a:ext cx="3611880" cy="365760"/>
          </a:xfrm>
          <a:prstGeom prst="rect">
            <a:avLst/>
          </a:prstGeom>
          <a:noFill/>
        </p:spPr>
        <p:txBody>
          <a:bodyPr wrap="square">
            <a:spAutoFit/>
          </a:bodyPr>
          <a:lstStyle/>
          <a:p>
            <a:pPr algn="ctr">
              <a:defRPr sz="1400" b="1">
                <a:solidFill>
                  <a:srgbClr val="FFFFFF"/>
                </a:solidFill>
                <a:latin typeface="Calibri"/>
              </a:defRPr>
            </a:pPr>
            <a:r>
              <a:t>One-Click Desktop Launch</a:t>
            </a:r>
          </a:p>
        </p:txBody>
      </p:sp>
      <p:sp>
        <p:nvSpPr>
          <p:cNvPr id="7" name="Rounded Rectangle 6"/>
          <p:cNvSpPr/>
          <p:nvPr/>
        </p:nvSpPr>
        <p:spPr>
          <a:xfrm>
            <a:off x="365760" y="1828800"/>
            <a:ext cx="3611880" cy="91440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20240"/>
            <a:ext cx="3429000" cy="777240"/>
          </a:xfrm>
          <a:prstGeom prst="rect">
            <a:avLst/>
          </a:prstGeom>
          <a:noFill/>
        </p:spPr>
        <p:txBody>
          <a:bodyPr wrap="square">
            <a:spAutoFit/>
          </a:bodyPr>
          <a:lstStyle/>
          <a:p>
            <a:pPr>
              <a:spcAft>
                <a:spcPts val="200"/>
              </a:spcAft>
              <a:defRPr sz="1000">
                <a:solidFill>
                  <a:srgbClr val="757575"/>
                </a:solidFill>
                <a:latin typeface="Calibri"/>
              </a:defRPr>
            </a:pPr>
            <a:r>
              <a:t>Platform-specific launchers that</a:t>
            </a:r>
          </a:p>
          <a:p>
            <a:pPr>
              <a:spcAft>
                <a:spcPts val="200"/>
              </a:spcAft>
              <a:defRPr sz="1000">
                <a:solidFill>
                  <a:srgbClr val="757575"/>
                </a:solidFill>
                <a:latin typeface="Calibri"/>
              </a:defRPr>
            </a:pPr>
            <a:r>
              <a:t>auto-install dependencies and</a:t>
            </a:r>
          </a:p>
          <a:p>
            <a:pPr>
              <a:spcAft>
                <a:spcPts val="200"/>
              </a:spcAft>
              <a:defRPr sz="1000">
                <a:solidFill>
                  <a:srgbClr val="757575"/>
                </a:solidFill>
                <a:latin typeface="Calibri"/>
              </a:defRPr>
            </a:pPr>
            <a:r>
              <a:t>launch the Streamlit web app</a:t>
            </a:r>
          </a:p>
        </p:txBody>
      </p:sp>
      <p:sp>
        <p:nvSpPr>
          <p:cNvPr id="9" name="Rounded Rectangle 8"/>
          <p:cNvSpPr/>
          <p:nvPr/>
        </p:nvSpPr>
        <p:spPr>
          <a:xfrm>
            <a:off x="365760" y="2743200"/>
            <a:ext cx="3611880" cy="210312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3429000" cy="1920240"/>
          </a:xfrm>
          <a:prstGeom prst="rect">
            <a:avLst/>
          </a:prstGeom>
          <a:noFill/>
        </p:spPr>
        <p:txBody>
          <a:bodyPr wrap="square">
            <a:spAutoFit/>
          </a:bodyPr>
          <a:lstStyle/>
          <a:p>
            <a:pPr>
              <a:spcAft>
                <a:spcPts val="200"/>
              </a:spcAft>
              <a:defRPr sz="1000">
                <a:solidFill>
                  <a:srgbClr val="333333"/>
                </a:solidFill>
                <a:latin typeface="Calibri"/>
              </a:defRPr>
            </a:pPr>
            <a:r>
              <a:t>Windows: launch_pLIN.bat (double-click)</a:t>
            </a:r>
          </a:p>
          <a:p>
            <a:pPr>
              <a:spcAft>
                <a:spcPts val="200"/>
              </a:spcAft>
              <a:defRPr sz="1000">
                <a:solidFill>
                  <a:srgbClr val="333333"/>
                </a:solidFill>
                <a:latin typeface="Calibri"/>
              </a:defRPr>
            </a:pPr>
            <a:r>
              <a:t>macOS: launch_pLIN.command (double-click)</a:t>
            </a:r>
          </a:p>
          <a:p>
            <a:pPr>
              <a:spcAft>
                <a:spcPts val="200"/>
              </a:spcAft>
              <a:defRPr sz="1000">
                <a:solidFill>
                  <a:srgbClr val="333333"/>
                </a:solidFill>
                <a:latin typeface="Calibri"/>
              </a:defRPr>
            </a:pPr>
            <a:r>
              <a:t>Linux: launch_pLIN.sh (chmod +x, run)</a:t>
            </a:r>
          </a:p>
          <a:p>
            <a:pPr>
              <a:spcAft>
                <a:spcPts val="200"/>
              </a:spcAft>
              <a:defRPr sz="1000">
                <a:solidFill>
                  <a:srgbClr val="333333"/>
                </a:solidFill>
                <a:latin typeface="Calibri"/>
              </a:defRPr>
            </a:pPr>
            <a:r>
              <a:t>Auto-creates virtual environment</a:t>
            </a:r>
          </a:p>
          <a:p>
            <a:pPr>
              <a:spcAft>
                <a:spcPts val="200"/>
              </a:spcAft>
              <a:defRPr sz="1000">
                <a:solidFill>
                  <a:srgbClr val="333333"/>
                </a:solidFill>
                <a:latin typeface="Calibri"/>
              </a:defRPr>
            </a:pPr>
            <a:r>
              <a:t>Installs all dependencies on first run</a:t>
            </a:r>
          </a:p>
          <a:p>
            <a:pPr>
              <a:spcAft>
                <a:spcPts val="200"/>
              </a:spcAft>
              <a:defRPr sz="1000">
                <a:solidFill>
                  <a:srgbClr val="333333"/>
                </a:solidFill>
                <a:latin typeface="Calibri"/>
              </a:defRPr>
            </a:pPr>
            <a:r>
              <a:t>No command-line experience required</a:t>
            </a:r>
          </a:p>
        </p:txBody>
      </p:sp>
      <p:sp>
        <p:nvSpPr>
          <p:cNvPr id="11" name="Rounded Rectangle 10"/>
          <p:cNvSpPr/>
          <p:nvPr/>
        </p:nvSpPr>
        <p:spPr>
          <a:xfrm>
            <a:off x="4251960" y="1371600"/>
            <a:ext cx="3611880" cy="45720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1417320"/>
            <a:ext cx="3611880" cy="365760"/>
          </a:xfrm>
          <a:prstGeom prst="rect">
            <a:avLst/>
          </a:prstGeom>
          <a:noFill/>
        </p:spPr>
        <p:txBody>
          <a:bodyPr wrap="square">
            <a:spAutoFit/>
          </a:bodyPr>
          <a:lstStyle/>
          <a:p>
            <a:pPr algn="ctr">
              <a:defRPr sz="1400" b="1">
                <a:solidFill>
                  <a:srgbClr val="FFFFFF"/>
                </a:solidFill>
                <a:latin typeface="Calibri"/>
              </a:defRPr>
            </a:pPr>
            <a:r>
              <a:t>Docker Container</a:t>
            </a:r>
          </a:p>
        </p:txBody>
      </p:sp>
      <p:sp>
        <p:nvSpPr>
          <p:cNvPr id="13" name="Rounded Rectangle 12"/>
          <p:cNvSpPr/>
          <p:nvPr/>
        </p:nvSpPr>
        <p:spPr>
          <a:xfrm>
            <a:off x="4251960" y="1828800"/>
            <a:ext cx="3611880" cy="91440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920240"/>
            <a:ext cx="3429000" cy="777240"/>
          </a:xfrm>
          <a:prstGeom prst="rect">
            <a:avLst/>
          </a:prstGeom>
          <a:noFill/>
        </p:spPr>
        <p:txBody>
          <a:bodyPr wrap="square">
            <a:spAutoFit/>
          </a:bodyPr>
          <a:lstStyle/>
          <a:p>
            <a:pPr>
              <a:spcAft>
                <a:spcPts val="200"/>
              </a:spcAft>
              <a:defRPr sz="1000">
                <a:solidFill>
                  <a:srgbClr val="757575"/>
                </a:solidFill>
                <a:latin typeface="Calibri"/>
              </a:defRPr>
            </a:pPr>
            <a:r>
              <a:t>Containerized deployment for</a:t>
            </a:r>
          </a:p>
          <a:p>
            <a:pPr>
              <a:spcAft>
                <a:spcPts val="200"/>
              </a:spcAft>
              <a:defRPr sz="1000">
                <a:solidFill>
                  <a:srgbClr val="757575"/>
                </a:solidFill>
                <a:latin typeface="Calibri"/>
              </a:defRPr>
            </a:pPr>
            <a:r>
              <a:t>reproducible, isolated execution</a:t>
            </a:r>
          </a:p>
          <a:p>
            <a:pPr>
              <a:spcAft>
                <a:spcPts val="200"/>
              </a:spcAft>
              <a:defRPr sz="1000">
                <a:solidFill>
                  <a:srgbClr val="757575"/>
                </a:solidFill>
                <a:latin typeface="Calibri"/>
              </a:defRPr>
            </a:pPr>
            <a:r>
              <a:t>on any cloud or server</a:t>
            </a:r>
          </a:p>
        </p:txBody>
      </p:sp>
      <p:sp>
        <p:nvSpPr>
          <p:cNvPr id="15" name="Rounded Rectangle 14"/>
          <p:cNvSpPr/>
          <p:nvPr/>
        </p:nvSpPr>
        <p:spPr>
          <a:xfrm>
            <a:off x="4251960" y="2743200"/>
            <a:ext cx="3611880" cy="210312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834640"/>
            <a:ext cx="3429000" cy="1920240"/>
          </a:xfrm>
          <a:prstGeom prst="rect">
            <a:avLst/>
          </a:prstGeom>
          <a:noFill/>
        </p:spPr>
        <p:txBody>
          <a:bodyPr wrap="square">
            <a:spAutoFit/>
          </a:bodyPr>
          <a:lstStyle/>
          <a:p>
            <a:pPr>
              <a:spcAft>
                <a:spcPts val="200"/>
              </a:spcAft>
              <a:defRPr sz="1000">
                <a:solidFill>
                  <a:srgbClr val="333333"/>
                </a:solidFill>
                <a:latin typeface="Calibri"/>
              </a:defRPr>
            </a:pPr>
            <a:r>
              <a:t>docker build -t plin .</a:t>
            </a:r>
          </a:p>
          <a:p>
            <a:pPr>
              <a:spcAft>
                <a:spcPts val="200"/>
              </a:spcAft>
              <a:defRPr sz="1000">
                <a:solidFill>
                  <a:srgbClr val="333333"/>
                </a:solidFill>
                <a:latin typeface="Calibri"/>
              </a:defRPr>
            </a:pPr>
            <a:r>
              <a:t>docker run -p 8501:8501 plin</a:t>
            </a:r>
          </a:p>
          <a:p>
            <a:pPr>
              <a:spcAft>
                <a:spcPts val="200"/>
              </a:spcAft>
              <a:defRPr sz="1000">
                <a:solidFill>
                  <a:srgbClr val="333333"/>
                </a:solidFill>
                <a:latin typeface="Calibri"/>
              </a:defRPr>
            </a:pPr>
            <a:r>
              <a:t>Docker Compose support included</a:t>
            </a:r>
          </a:p>
          <a:p>
            <a:pPr>
              <a:spcAft>
                <a:spcPts val="200"/>
              </a:spcAft>
              <a:defRPr sz="1000">
                <a:solidFill>
                  <a:srgbClr val="333333"/>
                </a:solidFill>
                <a:latin typeface="Calibri"/>
              </a:defRPr>
            </a:pPr>
            <a:r>
              <a:t>Health check endpoint built-in</a:t>
            </a:r>
          </a:p>
          <a:p>
            <a:pPr>
              <a:spcAft>
                <a:spcPts val="200"/>
              </a:spcAft>
              <a:defRPr sz="1000">
                <a:solidFill>
                  <a:srgbClr val="333333"/>
                </a:solidFill>
                <a:latin typeface="Calibri"/>
              </a:defRPr>
            </a:pPr>
            <a:r>
              <a:t>Volumes for data persistence</a:t>
            </a:r>
          </a:p>
          <a:p>
            <a:pPr>
              <a:spcAft>
                <a:spcPts val="200"/>
              </a:spcAft>
              <a:defRPr sz="1000">
                <a:solidFill>
                  <a:srgbClr val="333333"/>
                </a:solidFill>
                <a:latin typeface="Calibri"/>
              </a:defRPr>
            </a:pPr>
            <a:r>
              <a:t>Deploy to AWS, GCP, Azure, etc.</a:t>
            </a:r>
          </a:p>
        </p:txBody>
      </p:sp>
      <p:sp>
        <p:nvSpPr>
          <p:cNvPr id="17" name="Rounded Rectangle 16"/>
          <p:cNvSpPr/>
          <p:nvPr/>
        </p:nvSpPr>
        <p:spPr>
          <a:xfrm>
            <a:off x="8138160" y="1371600"/>
            <a:ext cx="3611880" cy="45720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417320"/>
            <a:ext cx="3611880" cy="365760"/>
          </a:xfrm>
          <a:prstGeom prst="rect">
            <a:avLst/>
          </a:prstGeom>
          <a:noFill/>
        </p:spPr>
        <p:txBody>
          <a:bodyPr wrap="square">
            <a:spAutoFit/>
          </a:bodyPr>
          <a:lstStyle/>
          <a:p>
            <a:pPr algn="ctr">
              <a:defRPr sz="1400" b="1">
                <a:solidFill>
                  <a:srgbClr val="FFFFFF"/>
                </a:solidFill>
                <a:latin typeface="Calibri"/>
              </a:defRPr>
            </a:pPr>
            <a:r>
              <a:t>Streamlit Community Cloud</a:t>
            </a:r>
          </a:p>
        </p:txBody>
      </p:sp>
      <p:sp>
        <p:nvSpPr>
          <p:cNvPr id="19" name="Rounded Rectangle 18"/>
          <p:cNvSpPr/>
          <p:nvPr/>
        </p:nvSpPr>
        <p:spPr>
          <a:xfrm>
            <a:off x="8138160" y="1828800"/>
            <a:ext cx="3611880" cy="91440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920240"/>
            <a:ext cx="3429000" cy="777240"/>
          </a:xfrm>
          <a:prstGeom prst="rect">
            <a:avLst/>
          </a:prstGeom>
          <a:noFill/>
        </p:spPr>
        <p:txBody>
          <a:bodyPr wrap="square">
            <a:spAutoFit/>
          </a:bodyPr>
          <a:lstStyle/>
          <a:p>
            <a:pPr>
              <a:spcAft>
                <a:spcPts val="200"/>
              </a:spcAft>
              <a:defRPr sz="1000">
                <a:solidFill>
                  <a:srgbClr val="757575"/>
                </a:solidFill>
                <a:latin typeface="Calibri"/>
              </a:defRPr>
            </a:pPr>
            <a:r>
              <a:t>Free public web app deployment</a:t>
            </a:r>
          </a:p>
          <a:p>
            <a:pPr>
              <a:spcAft>
                <a:spcPts val="200"/>
              </a:spcAft>
              <a:defRPr sz="1000">
                <a:solidFill>
                  <a:srgbClr val="757575"/>
                </a:solidFill>
                <a:latin typeface="Calibri"/>
              </a:defRPr>
            </a:pPr>
            <a:r>
              <a:t>directly from GitHub repository</a:t>
            </a:r>
          </a:p>
          <a:p>
            <a:pPr>
              <a:spcAft>
                <a:spcPts val="200"/>
              </a:spcAft>
              <a:defRPr sz="1000">
                <a:solidFill>
                  <a:srgbClr val="757575"/>
                </a:solidFill>
                <a:latin typeface="Calibri"/>
              </a:defRPr>
            </a:pPr>
            <a:r>
              <a:t>— zero infrastructure needed</a:t>
            </a:r>
          </a:p>
        </p:txBody>
      </p:sp>
      <p:sp>
        <p:nvSpPr>
          <p:cNvPr id="21" name="Rounded Rectangle 20"/>
          <p:cNvSpPr/>
          <p:nvPr/>
        </p:nvSpPr>
        <p:spPr>
          <a:xfrm>
            <a:off x="8138160" y="2743200"/>
            <a:ext cx="3611880" cy="210312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834640"/>
            <a:ext cx="3429000" cy="1920240"/>
          </a:xfrm>
          <a:prstGeom prst="rect">
            <a:avLst/>
          </a:prstGeom>
          <a:noFill/>
        </p:spPr>
        <p:txBody>
          <a:bodyPr wrap="square">
            <a:spAutoFit/>
          </a:bodyPr>
          <a:lstStyle/>
          <a:p>
            <a:pPr>
              <a:spcAft>
                <a:spcPts val="200"/>
              </a:spcAft>
              <a:defRPr sz="1000">
                <a:solidFill>
                  <a:srgbClr val="333333"/>
                </a:solidFill>
                <a:latin typeface="Calibri"/>
              </a:defRPr>
            </a:pPr>
            <a:r>
              <a:t>Deploy at share.streamlit.io</a:t>
            </a:r>
          </a:p>
          <a:p>
            <a:pPr>
              <a:spcAft>
                <a:spcPts val="200"/>
              </a:spcAft>
              <a:defRPr sz="1000">
                <a:solidFill>
                  <a:srgbClr val="333333"/>
                </a:solidFill>
                <a:latin typeface="Calibri"/>
              </a:defRPr>
            </a:pPr>
            <a:r>
              <a:t>Sign in with GitHub account</a:t>
            </a:r>
          </a:p>
          <a:p>
            <a:pPr>
              <a:spcAft>
                <a:spcPts val="200"/>
              </a:spcAft>
              <a:defRPr sz="1000">
                <a:solidFill>
                  <a:srgbClr val="333333"/>
                </a:solidFill>
                <a:latin typeface="Calibri"/>
              </a:defRPr>
            </a:pPr>
            <a:r>
              <a:t>Select repo + plin_app.py</a:t>
            </a:r>
          </a:p>
          <a:p>
            <a:pPr>
              <a:spcAft>
                <a:spcPts val="200"/>
              </a:spcAft>
              <a:defRPr sz="1000">
                <a:solidFill>
                  <a:srgbClr val="333333"/>
                </a:solidFill>
                <a:latin typeface="Calibri"/>
              </a:defRPr>
            </a:pPr>
            <a:r>
              <a:t>Public URL auto-generated</a:t>
            </a:r>
          </a:p>
          <a:p>
            <a:pPr>
              <a:spcAft>
                <a:spcPts val="200"/>
              </a:spcAft>
              <a:defRPr sz="1000">
                <a:solidFill>
                  <a:srgbClr val="333333"/>
                </a:solidFill>
                <a:latin typeface="Calibri"/>
              </a:defRPr>
            </a:pPr>
            <a:r>
              <a:t>Auto-redeploys on git push</a:t>
            </a:r>
          </a:p>
          <a:p>
            <a:pPr>
              <a:spcAft>
                <a:spcPts val="200"/>
              </a:spcAft>
              <a:defRPr sz="1000">
                <a:solidFill>
                  <a:srgbClr val="333333"/>
                </a:solidFill>
                <a:latin typeface="Calibri"/>
              </a:defRPr>
            </a:pPr>
            <a:r>
              <a:t>Free tier available</a:t>
            </a:r>
          </a:p>
        </p:txBody>
      </p:sp>
      <p:sp>
        <p:nvSpPr>
          <p:cNvPr id="23" name="Rounded Rectangle 22"/>
          <p:cNvSpPr/>
          <p:nvPr/>
        </p:nvSpPr>
        <p:spPr>
          <a:xfrm>
            <a:off x="365760" y="5120640"/>
            <a:ext cx="11430000" cy="1463040"/>
          </a:xfrm>
          <a:prstGeom prst="roundRect">
            <a:avLst/>
          </a:prstGeom>
          <a:solidFill>
            <a:srgbClr val="ECEFF1"/>
          </a:solidFill>
          <a:ln w="127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166360"/>
            <a:ext cx="10972800" cy="320040"/>
          </a:xfrm>
          <a:prstGeom prst="rect">
            <a:avLst/>
          </a:prstGeom>
          <a:noFill/>
        </p:spPr>
        <p:txBody>
          <a:bodyPr wrap="square">
            <a:spAutoFit/>
          </a:bodyPr>
          <a:lstStyle/>
          <a:p>
            <a:pPr algn="l">
              <a:defRPr sz="1400" b="1">
                <a:solidFill>
                  <a:srgbClr val="0D47A1"/>
                </a:solidFill>
                <a:latin typeface="Calibri"/>
              </a:defRPr>
            </a:pPr>
            <a:r>
              <a:t>Distribution Architecture</a:t>
            </a:r>
          </a:p>
        </p:txBody>
      </p:sp>
      <p:sp>
        <p:nvSpPr>
          <p:cNvPr id="25" name="Rounded Rectangle 24"/>
          <p:cNvSpPr/>
          <p:nvPr/>
        </p:nvSpPr>
        <p:spPr>
          <a:xfrm>
            <a:off x="548640" y="5577840"/>
            <a:ext cx="1920240" cy="32004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596128"/>
            <a:ext cx="1920240" cy="274320"/>
          </a:xfrm>
          <a:prstGeom prst="rect">
            <a:avLst/>
          </a:prstGeom>
          <a:noFill/>
        </p:spPr>
        <p:txBody>
          <a:bodyPr wrap="square">
            <a:spAutoFit/>
          </a:bodyPr>
          <a:lstStyle/>
          <a:p>
            <a:pPr algn="ctr">
              <a:defRPr sz="1000" b="1">
                <a:solidFill>
                  <a:srgbClr val="FFFFFF"/>
                </a:solidFill>
                <a:latin typeface="Calibri"/>
              </a:defRPr>
            </a:pPr>
            <a:r>
              <a:t>GitHub Repo</a:t>
            </a:r>
          </a:p>
        </p:txBody>
      </p:sp>
      <p:sp>
        <p:nvSpPr>
          <p:cNvPr id="27" name="Rounded Rectangle 26"/>
          <p:cNvSpPr/>
          <p:nvPr/>
        </p:nvSpPr>
        <p:spPr>
          <a:xfrm>
            <a:off x="548640" y="5897880"/>
            <a:ext cx="1920240" cy="594360"/>
          </a:xfrm>
          <a:prstGeom prst="roundRect">
            <a:avLst/>
          </a:prstGeom>
          <a:solidFill>
            <a:srgbClr val="FFFFFF"/>
          </a:solidFill>
          <a:ln w="127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943600"/>
            <a:ext cx="1828800" cy="502920"/>
          </a:xfrm>
          <a:prstGeom prst="rect">
            <a:avLst/>
          </a:prstGeom>
          <a:noFill/>
        </p:spPr>
        <p:txBody>
          <a:bodyPr wrap="square">
            <a:spAutoFit/>
          </a:bodyPr>
          <a:lstStyle/>
          <a:p>
            <a:pPr>
              <a:spcAft>
                <a:spcPts val="200"/>
              </a:spcAft>
              <a:defRPr sz="800">
                <a:solidFill>
                  <a:srgbClr val="333333"/>
                </a:solidFill>
                <a:latin typeface="Calibri"/>
              </a:defRPr>
            </a:pPr>
            <a:r>
              <a:t>Source code</a:t>
            </a:r>
          </a:p>
          <a:p>
            <a:pPr>
              <a:spcAft>
                <a:spcPts val="200"/>
              </a:spcAft>
              <a:defRPr sz="800">
                <a:solidFill>
                  <a:srgbClr val="333333"/>
                </a:solidFill>
                <a:latin typeface="Calibri"/>
              </a:defRPr>
            </a:pPr>
            <a:r>
              <a:t>LICENSE</a:t>
            </a:r>
          </a:p>
          <a:p>
            <a:pPr>
              <a:spcAft>
                <a:spcPts val="200"/>
              </a:spcAft>
              <a:defRPr sz="800">
                <a:solidFill>
                  <a:srgbClr val="333333"/>
                </a:solidFill>
                <a:latin typeface="Calibri"/>
              </a:defRPr>
            </a:pPr>
            <a:r>
              <a:t>CITATION.cff</a:t>
            </a:r>
          </a:p>
        </p:txBody>
      </p:sp>
      <p:sp>
        <p:nvSpPr>
          <p:cNvPr id="29" name="Right Arrow 28"/>
          <p:cNvSpPr/>
          <p:nvPr/>
        </p:nvSpPr>
        <p:spPr>
          <a:xfrm>
            <a:off x="2514600" y="598932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34640" y="5577840"/>
            <a:ext cx="1920240" cy="32004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5596128"/>
            <a:ext cx="1920240" cy="274320"/>
          </a:xfrm>
          <a:prstGeom prst="rect">
            <a:avLst/>
          </a:prstGeom>
          <a:noFill/>
        </p:spPr>
        <p:txBody>
          <a:bodyPr wrap="square">
            <a:spAutoFit/>
          </a:bodyPr>
          <a:lstStyle/>
          <a:p>
            <a:pPr algn="ctr">
              <a:defRPr sz="1000" b="1">
                <a:solidFill>
                  <a:srgbClr val="FFFFFF"/>
                </a:solidFill>
                <a:latin typeface="Calibri"/>
              </a:defRPr>
            </a:pPr>
            <a:r>
              <a:t>pip install</a:t>
            </a:r>
          </a:p>
        </p:txBody>
      </p:sp>
      <p:sp>
        <p:nvSpPr>
          <p:cNvPr id="32" name="Rounded Rectangle 31"/>
          <p:cNvSpPr/>
          <p:nvPr/>
        </p:nvSpPr>
        <p:spPr>
          <a:xfrm>
            <a:off x="2834640" y="5897880"/>
            <a:ext cx="1920240" cy="594360"/>
          </a:xfrm>
          <a:prstGeom prst="roundRect">
            <a:avLst/>
          </a:prstGeom>
          <a:solidFill>
            <a:srgbClr val="FFFFFF"/>
          </a:solidFill>
          <a:ln w="127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0360" y="5943600"/>
            <a:ext cx="1828800" cy="502920"/>
          </a:xfrm>
          <a:prstGeom prst="rect">
            <a:avLst/>
          </a:prstGeom>
          <a:noFill/>
        </p:spPr>
        <p:txBody>
          <a:bodyPr wrap="square">
            <a:spAutoFit/>
          </a:bodyPr>
          <a:lstStyle/>
          <a:p>
            <a:pPr>
              <a:spcAft>
                <a:spcPts val="200"/>
              </a:spcAft>
              <a:defRPr sz="800">
                <a:solidFill>
                  <a:srgbClr val="333333"/>
                </a:solidFill>
                <a:latin typeface="Calibri"/>
              </a:defRPr>
            </a:pPr>
            <a:r>
              <a:t>requirements.txt</a:t>
            </a:r>
          </a:p>
          <a:p>
            <a:pPr>
              <a:spcAft>
                <a:spcPts val="200"/>
              </a:spcAft>
              <a:defRPr sz="800">
                <a:solidFill>
                  <a:srgbClr val="333333"/>
                </a:solidFill>
                <a:latin typeface="Calibri"/>
              </a:defRPr>
            </a:pPr>
            <a:r>
              <a:t>Python 3.10+</a:t>
            </a:r>
          </a:p>
          <a:p>
            <a:pPr>
              <a:spcAft>
                <a:spcPts val="200"/>
              </a:spcAft>
              <a:defRPr sz="800">
                <a:solidFill>
                  <a:srgbClr val="333333"/>
                </a:solidFill>
                <a:latin typeface="Calibri"/>
              </a:defRPr>
            </a:pPr>
            <a:r>
              <a:t>venv isolation</a:t>
            </a:r>
          </a:p>
        </p:txBody>
      </p:sp>
      <p:sp>
        <p:nvSpPr>
          <p:cNvPr id="34" name="Right Arrow 33"/>
          <p:cNvSpPr/>
          <p:nvPr/>
        </p:nvSpPr>
        <p:spPr>
          <a:xfrm>
            <a:off x="4800600" y="598932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20640" y="5577840"/>
            <a:ext cx="1920240" cy="32004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0" y="5596128"/>
            <a:ext cx="1920240" cy="274320"/>
          </a:xfrm>
          <a:prstGeom prst="rect">
            <a:avLst/>
          </a:prstGeom>
          <a:noFill/>
        </p:spPr>
        <p:txBody>
          <a:bodyPr wrap="square">
            <a:spAutoFit/>
          </a:bodyPr>
          <a:lstStyle/>
          <a:p>
            <a:pPr algn="ctr">
              <a:defRPr sz="1000" b="1">
                <a:solidFill>
                  <a:srgbClr val="FFFFFF"/>
                </a:solidFill>
                <a:latin typeface="Calibri"/>
              </a:defRPr>
            </a:pPr>
            <a:r>
              <a:t>Streamlit App</a:t>
            </a:r>
          </a:p>
        </p:txBody>
      </p:sp>
      <p:sp>
        <p:nvSpPr>
          <p:cNvPr id="37" name="Rounded Rectangle 36"/>
          <p:cNvSpPr/>
          <p:nvPr/>
        </p:nvSpPr>
        <p:spPr>
          <a:xfrm>
            <a:off x="5120640" y="5897880"/>
            <a:ext cx="1920240" cy="594360"/>
          </a:xfrm>
          <a:prstGeom prst="roundRect">
            <a:avLst/>
          </a:prstGeom>
          <a:solidFill>
            <a:srgbClr val="FFFFFF"/>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66360" y="5943600"/>
            <a:ext cx="1828800" cy="502920"/>
          </a:xfrm>
          <a:prstGeom prst="rect">
            <a:avLst/>
          </a:prstGeom>
          <a:noFill/>
        </p:spPr>
        <p:txBody>
          <a:bodyPr wrap="square">
            <a:spAutoFit/>
          </a:bodyPr>
          <a:lstStyle/>
          <a:p>
            <a:pPr>
              <a:spcAft>
                <a:spcPts val="200"/>
              </a:spcAft>
              <a:defRPr sz="800">
                <a:solidFill>
                  <a:srgbClr val="333333"/>
                </a:solidFill>
                <a:latin typeface="Calibri"/>
              </a:defRPr>
            </a:pPr>
            <a:r>
              <a:t>plin_app.py</a:t>
            </a:r>
          </a:p>
          <a:p>
            <a:pPr>
              <a:spcAft>
                <a:spcPts val="200"/>
              </a:spcAft>
              <a:defRPr sz="800">
                <a:solidFill>
                  <a:srgbClr val="333333"/>
                </a:solidFill>
                <a:latin typeface="Calibri"/>
              </a:defRPr>
            </a:pPr>
            <a:r>
              <a:t>6 analysis tabs</a:t>
            </a:r>
          </a:p>
          <a:p>
            <a:pPr>
              <a:spcAft>
                <a:spcPts val="200"/>
              </a:spcAft>
              <a:defRPr sz="800">
                <a:solidFill>
                  <a:srgbClr val="333333"/>
                </a:solidFill>
                <a:latin typeface="Calibri"/>
              </a:defRPr>
            </a:pPr>
            <a:r>
              <a:t>Interactive GUI</a:t>
            </a:r>
          </a:p>
        </p:txBody>
      </p:sp>
      <p:sp>
        <p:nvSpPr>
          <p:cNvPr id="39" name="Right Arrow 38"/>
          <p:cNvSpPr/>
          <p:nvPr/>
        </p:nvSpPr>
        <p:spPr>
          <a:xfrm>
            <a:off x="7086600" y="598932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406640" y="5577840"/>
            <a:ext cx="1920240" cy="32004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0" y="5596128"/>
            <a:ext cx="1920240" cy="274320"/>
          </a:xfrm>
          <a:prstGeom prst="rect">
            <a:avLst/>
          </a:prstGeom>
          <a:noFill/>
        </p:spPr>
        <p:txBody>
          <a:bodyPr wrap="square">
            <a:spAutoFit/>
          </a:bodyPr>
          <a:lstStyle/>
          <a:p>
            <a:pPr algn="ctr">
              <a:defRPr sz="1000" b="1">
                <a:solidFill>
                  <a:srgbClr val="FFFFFF"/>
                </a:solidFill>
                <a:latin typeface="Calibri"/>
              </a:defRPr>
            </a:pPr>
            <a:r>
              <a:t>Docker Image</a:t>
            </a:r>
          </a:p>
        </p:txBody>
      </p:sp>
      <p:sp>
        <p:nvSpPr>
          <p:cNvPr id="42" name="Rounded Rectangle 41"/>
          <p:cNvSpPr/>
          <p:nvPr/>
        </p:nvSpPr>
        <p:spPr>
          <a:xfrm>
            <a:off x="7406640" y="5897880"/>
            <a:ext cx="1920240" cy="594360"/>
          </a:xfrm>
          <a:prstGeom prst="roundRect">
            <a:avLst/>
          </a:prstGeom>
          <a:solidFill>
            <a:srgbClr val="FFFFFF"/>
          </a:solidFill>
          <a:ln w="127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52360" y="5943600"/>
            <a:ext cx="1828800" cy="502920"/>
          </a:xfrm>
          <a:prstGeom prst="rect">
            <a:avLst/>
          </a:prstGeom>
          <a:noFill/>
        </p:spPr>
        <p:txBody>
          <a:bodyPr wrap="square">
            <a:spAutoFit/>
          </a:bodyPr>
          <a:lstStyle/>
          <a:p>
            <a:pPr>
              <a:spcAft>
                <a:spcPts val="200"/>
              </a:spcAft>
              <a:defRPr sz="800">
                <a:solidFill>
                  <a:srgbClr val="333333"/>
                </a:solidFill>
                <a:latin typeface="Calibri"/>
              </a:defRPr>
            </a:pPr>
            <a:r>
              <a:t>Dockerfile</a:t>
            </a:r>
          </a:p>
          <a:p>
            <a:pPr>
              <a:spcAft>
                <a:spcPts val="200"/>
              </a:spcAft>
              <a:defRPr sz="800">
                <a:solidFill>
                  <a:srgbClr val="333333"/>
                </a:solidFill>
                <a:latin typeface="Calibri"/>
              </a:defRPr>
            </a:pPr>
            <a:r>
              <a:t>Self-contained</a:t>
            </a:r>
          </a:p>
          <a:p>
            <a:pPr>
              <a:spcAft>
                <a:spcPts val="200"/>
              </a:spcAft>
              <a:defRPr sz="800">
                <a:solidFill>
                  <a:srgbClr val="333333"/>
                </a:solidFill>
                <a:latin typeface="Calibri"/>
              </a:defRPr>
            </a:pPr>
            <a:r>
              <a:t>Cloud-ready</a:t>
            </a:r>
          </a:p>
        </p:txBody>
      </p:sp>
      <p:sp>
        <p:nvSpPr>
          <p:cNvPr id="44" name="Right Arrow 43"/>
          <p:cNvSpPr/>
          <p:nvPr/>
        </p:nvSpPr>
        <p:spPr>
          <a:xfrm>
            <a:off x="9372600" y="598932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92640" y="5577840"/>
            <a:ext cx="1920240" cy="32004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92640" y="5596128"/>
            <a:ext cx="1920240" cy="274320"/>
          </a:xfrm>
          <a:prstGeom prst="rect">
            <a:avLst/>
          </a:prstGeom>
          <a:noFill/>
        </p:spPr>
        <p:txBody>
          <a:bodyPr wrap="square">
            <a:spAutoFit/>
          </a:bodyPr>
          <a:lstStyle/>
          <a:p>
            <a:pPr algn="ctr">
              <a:defRPr sz="1000" b="1">
                <a:solidFill>
                  <a:srgbClr val="FFFFFF"/>
                </a:solidFill>
                <a:latin typeface="Calibri"/>
              </a:defRPr>
            </a:pPr>
            <a:r>
              <a:t>Public Cloud</a:t>
            </a:r>
          </a:p>
        </p:txBody>
      </p:sp>
      <p:sp>
        <p:nvSpPr>
          <p:cNvPr id="47" name="Rounded Rectangle 46"/>
          <p:cNvSpPr/>
          <p:nvPr/>
        </p:nvSpPr>
        <p:spPr>
          <a:xfrm>
            <a:off x="9692640" y="5897880"/>
            <a:ext cx="1920240" cy="594360"/>
          </a:xfrm>
          <a:prstGeom prst="roundRect">
            <a:avLst/>
          </a:prstGeom>
          <a:solidFill>
            <a:srgbClr val="FFFFFF"/>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5943600"/>
            <a:ext cx="1828800" cy="502920"/>
          </a:xfrm>
          <a:prstGeom prst="rect">
            <a:avLst/>
          </a:prstGeom>
          <a:noFill/>
        </p:spPr>
        <p:txBody>
          <a:bodyPr wrap="square">
            <a:spAutoFit/>
          </a:bodyPr>
          <a:lstStyle/>
          <a:p>
            <a:pPr>
              <a:spcAft>
                <a:spcPts val="200"/>
              </a:spcAft>
              <a:defRPr sz="800">
                <a:solidFill>
                  <a:srgbClr val="333333"/>
                </a:solidFill>
                <a:latin typeface="Calibri"/>
              </a:defRPr>
            </a:pPr>
            <a:r>
              <a:t>Streamlit Cloud</a:t>
            </a:r>
          </a:p>
          <a:p>
            <a:pPr>
              <a:spcAft>
                <a:spcPts val="200"/>
              </a:spcAft>
              <a:defRPr sz="800">
                <a:solidFill>
                  <a:srgbClr val="333333"/>
                </a:solidFill>
                <a:latin typeface="Calibri"/>
              </a:defRPr>
            </a:pPr>
            <a:r>
              <a:t>Public URL</a:t>
            </a:r>
          </a:p>
          <a:p>
            <a:pPr>
              <a:spcAft>
                <a:spcPts val="200"/>
              </a:spcAft>
              <a:defRPr sz="800">
                <a:solidFill>
                  <a:srgbClr val="333333"/>
                </a:solidFill>
                <a:latin typeface="Calibri"/>
              </a:defRPr>
            </a:pPr>
            <a:r>
              <a:t>Auto-deploy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Novelty of pLIN System</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What distinguishes pLIN from existing plasmid classification approaches</a:t>
            </a:r>
          </a:p>
        </p:txBody>
      </p:sp>
      <p:sp>
        <p:nvSpPr>
          <p:cNvPr id="5" name="Rounded Rectangle 4"/>
          <p:cNvSpPr/>
          <p:nvPr/>
        </p:nvSpPr>
        <p:spPr>
          <a:xfrm>
            <a:off x="365760" y="1371600"/>
            <a:ext cx="109728" cy="86868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11155680" cy="320040"/>
          </a:xfrm>
          <a:prstGeom prst="rect">
            <a:avLst/>
          </a:prstGeom>
          <a:noFill/>
        </p:spPr>
        <p:txBody>
          <a:bodyPr wrap="square">
            <a:spAutoFit/>
          </a:bodyPr>
          <a:lstStyle/>
          <a:p>
            <a:pPr algn="l">
              <a:defRPr sz="1500" b="1">
                <a:solidFill>
                  <a:srgbClr val="1E88E5"/>
                </a:solidFill>
                <a:latin typeface="Calibri"/>
              </a:defRPr>
            </a:pPr>
            <a:r>
              <a:t>Reference-Free Classification</a:t>
            </a:r>
          </a:p>
        </p:txBody>
      </p:sp>
      <p:sp>
        <p:nvSpPr>
          <p:cNvPr id="7" name="TextBox 6"/>
          <p:cNvSpPr txBox="1"/>
          <p:nvPr/>
        </p:nvSpPr>
        <p:spPr>
          <a:xfrm>
            <a:off x="640080" y="1719072"/>
            <a:ext cx="11155680" cy="502920"/>
          </a:xfrm>
          <a:prstGeom prst="rect">
            <a:avLst/>
          </a:prstGeom>
          <a:noFill/>
        </p:spPr>
        <p:txBody>
          <a:bodyPr wrap="square">
            <a:spAutoFit/>
          </a:bodyPr>
          <a:lstStyle/>
          <a:p>
            <a:pPr algn="l">
              <a:defRPr sz="1100" b="0">
                <a:solidFill>
                  <a:srgbClr val="333333"/>
                </a:solidFill>
                <a:latin typeface="Calibri"/>
              </a:defRPr>
            </a:pPr>
            <a:r>
              <a:t>Unlike MOB-suite, PlasmidFinder, or replicon typing that rely on curated reference databases, pLIN uses intrinsic sequence composition (4-mer frequencies). New or divergent plasmids that lack known replicons are still classifiable — no database gaps.</a:t>
            </a:r>
          </a:p>
        </p:txBody>
      </p:sp>
      <p:sp>
        <p:nvSpPr>
          <p:cNvPr id="8" name="Rounded Rectangle 7"/>
          <p:cNvSpPr/>
          <p:nvPr/>
        </p:nvSpPr>
        <p:spPr>
          <a:xfrm>
            <a:off x="365760" y="2240280"/>
            <a:ext cx="109728" cy="86868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58568"/>
            <a:ext cx="11155680" cy="320040"/>
          </a:xfrm>
          <a:prstGeom prst="rect">
            <a:avLst/>
          </a:prstGeom>
          <a:noFill/>
        </p:spPr>
        <p:txBody>
          <a:bodyPr wrap="square">
            <a:spAutoFit/>
          </a:bodyPr>
          <a:lstStyle/>
          <a:p>
            <a:pPr algn="l">
              <a:defRPr sz="1500" b="1">
                <a:solidFill>
                  <a:srgbClr val="43A047"/>
                </a:solidFill>
                <a:latin typeface="Calibri"/>
              </a:defRPr>
            </a:pPr>
            <a:r>
              <a:t>Permanent, Hierarchical Codes</a:t>
            </a:r>
          </a:p>
        </p:txBody>
      </p:sp>
      <p:sp>
        <p:nvSpPr>
          <p:cNvPr id="10" name="TextBox 9"/>
          <p:cNvSpPr txBox="1"/>
          <p:nvPr/>
        </p:nvSpPr>
        <p:spPr>
          <a:xfrm>
            <a:off x="640080" y="2587752"/>
            <a:ext cx="11155680" cy="502920"/>
          </a:xfrm>
          <a:prstGeom prst="rect">
            <a:avLst/>
          </a:prstGeom>
          <a:noFill/>
        </p:spPr>
        <p:txBody>
          <a:bodyPr wrap="square">
            <a:spAutoFit/>
          </a:bodyPr>
          <a:lstStyle/>
          <a:p>
            <a:pPr algn="l">
              <a:defRPr sz="1100" b="0">
                <a:solidFill>
                  <a:srgbClr val="333333"/>
                </a:solidFill>
                <a:latin typeface="Calibri"/>
              </a:defRPr>
            </a:pPr>
            <a:r>
              <a:t>pLIN codes are stable and never change when new sequences are added. Existing plasmid typing schemes (e.g., pMLST) can reassign types as databases grow. The six-level hierarchy (L1 → L6) provides resolution at multiple scales in a single code — no existing system offers this.</a:t>
            </a:r>
          </a:p>
        </p:txBody>
      </p:sp>
      <p:sp>
        <p:nvSpPr>
          <p:cNvPr id="11" name="Rounded Rectangle 10"/>
          <p:cNvSpPr/>
          <p:nvPr/>
        </p:nvSpPr>
        <p:spPr>
          <a:xfrm>
            <a:off x="365760" y="3108960"/>
            <a:ext cx="109728" cy="86868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27248"/>
            <a:ext cx="11155680" cy="320040"/>
          </a:xfrm>
          <a:prstGeom prst="rect">
            <a:avLst/>
          </a:prstGeom>
          <a:noFill/>
        </p:spPr>
        <p:txBody>
          <a:bodyPr wrap="square">
            <a:spAutoFit/>
          </a:bodyPr>
          <a:lstStyle/>
          <a:p>
            <a:pPr algn="l">
              <a:defRPr sz="1500" b="1">
                <a:solidFill>
                  <a:srgbClr val="FB8C00"/>
                </a:solidFill>
                <a:latin typeface="Calibri"/>
              </a:defRPr>
            </a:pPr>
            <a:r>
              <a:t>Composition-Based Inc Group Detection</a:t>
            </a:r>
          </a:p>
        </p:txBody>
      </p:sp>
      <p:sp>
        <p:nvSpPr>
          <p:cNvPr id="13" name="TextBox 12"/>
          <p:cNvSpPr txBox="1"/>
          <p:nvPr/>
        </p:nvSpPr>
        <p:spPr>
          <a:xfrm>
            <a:off x="640080" y="3456432"/>
            <a:ext cx="11155680" cy="502920"/>
          </a:xfrm>
          <a:prstGeom prst="rect">
            <a:avLst/>
          </a:prstGeom>
          <a:noFill/>
        </p:spPr>
        <p:txBody>
          <a:bodyPr wrap="square">
            <a:spAutoFit/>
          </a:bodyPr>
          <a:lstStyle/>
          <a:p>
            <a:pPr algn="l">
              <a:defRPr sz="1100" b="0">
                <a:solidFill>
                  <a:srgbClr val="333333"/>
                </a:solidFill>
                <a:latin typeface="Calibri"/>
              </a:defRPr>
            </a:pPr>
            <a:r>
              <a:t>Most Inc group detection tools (PlasmidFinder, COPLA) require gene-level BLAST searches. pLIN's KNN classifier predicts Inc group from global k-mer composition alone (92% accuracy, 20 groups), enabling classification even when replicon genes are fragmented, truncated, or absent from assemblies.</a:t>
            </a:r>
          </a:p>
        </p:txBody>
      </p:sp>
      <p:sp>
        <p:nvSpPr>
          <p:cNvPr id="14" name="Rounded Rectangle 13"/>
          <p:cNvSpPr/>
          <p:nvPr/>
        </p:nvSpPr>
        <p:spPr>
          <a:xfrm>
            <a:off x="365760" y="3977639"/>
            <a:ext cx="109728" cy="86868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95927"/>
            <a:ext cx="11155680" cy="320040"/>
          </a:xfrm>
          <a:prstGeom prst="rect">
            <a:avLst/>
          </a:prstGeom>
          <a:noFill/>
        </p:spPr>
        <p:txBody>
          <a:bodyPr wrap="square">
            <a:spAutoFit/>
          </a:bodyPr>
          <a:lstStyle/>
          <a:p>
            <a:pPr algn="l">
              <a:defRPr sz="1500" b="1">
                <a:solidFill>
                  <a:srgbClr val="E53935"/>
                </a:solidFill>
                <a:latin typeface="Calibri"/>
              </a:defRPr>
            </a:pPr>
            <a:r>
              <a:t>Integrated AMR Surveillance Pipeline</a:t>
            </a:r>
          </a:p>
        </p:txBody>
      </p:sp>
      <p:sp>
        <p:nvSpPr>
          <p:cNvPr id="16" name="TextBox 15"/>
          <p:cNvSpPr txBox="1"/>
          <p:nvPr/>
        </p:nvSpPr>
        <p:spPr>
          <a:xfrm>
            <a:off x="640080" y="4325111"/>
            <a:ext cx="11155680" cy="502920"/>
          </a:xfrm>
          <a:prstGeom prst="rect">
            <a:avLst/>
          </a:prstGeom>
          <a:noFill/>
        </p:spPr>
        <p:txBody>
          <a:bodyPr wrap="square">
            <a:spAutoFit/>
          </a:bodyPr>
          <a:lstStyle/>
          <a:p>
            <a:pPr algn="l">
              <a:defRPr sz="1100" b="0">
                <a:solidFill>
                  <a:srgbClr val="333333"/>
                </a:solidFill>
                <a:latin typeface="Calibri"/>
              </a:defRPr>
            </a:pPr>
            <a:r>
              <a:t>pLIN is the first system to natively integrate plasmid hierarchical classification with AMRFinderPlus gene detection in a single automated pipeline. This enables direct mapping of resistance gene cargo onto the plasmid phylogeny — linking plasmid backbone evolution with AMR gene acquisition.</a:t>
            </a:r>
          </a:p>
        </p:txBody>
      </p:sp>
      <p:sp>
        <p:nvSpPr>
          <p:cNvPr id="17" name="Rounded Rectangle 16"/>
          <p:cNvSpPr/>
          <p:nvPr/>
        </p:nvSpPr>
        <p:spPr>
          <a:xfrm>
            <a:off x="365760" y="4846320"/>
            <a:ext cx="109728" cy="86868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864608"/>
            <a:ext cx="11155680" cy="320040"/>
          </a:xfrm>
          <a:prstGeom prst="rect">
            <a:avLst/>
          </a:prstGeom>
          <a:noFill/>
        </p:spPr>
        <p:txBody>
          <a:bodyPr wrap="square">
            <a:spAutoFit/>
          </a:bodyPr>
          <a:lstStyle/>
          <a:p>
            <a:pPr algn="l">
              <a:defRPr sz="1500" b="1">
                <a:solidFill>
                  <a:srgbClr val="8E24AA"/>
                </a:solidFill>
                <a:latin typeface="Calibri"/>
              </a:defRPr>
            </a:pPr>
            <a:r>
              <a:t>Interactive GUI with Epidemiological Intelligence</a:t>
            </a:r>
          </a:p>
        </p:txBody>
      </p:sp>
      <p:sp>
        <p:nvSpPr>
          <p:cNvPr id="19" name="TextBox 18"/>
          <p:cNvSpPr txBox="1"/>
          <p:nvPr/>
        </p:nvSpPr>
        <p:spPr>
          <a:xfrm>
            <a:off x="640080" y="5193792"/>
            <a:ext cx="11155680" cy="502920"/>
          </a:xfrm>
          <a:prstGeom prst="rect">
            <a:avLst/>
          </a:prstGeom>
          <a:noFill/>
        </p:spPr>
        <p:txBody>
          <a:bodyPr wrap="square">
            <a:spAutoFit/>
          </a:bodyPr>
          <a:lstStyle/>
          <a:p>
            <a:pPr algn="l">
              <a:defRPr sz="1100" b="0">
                <a:solidFill>
                  <a:srgbClr val="333333"/>
                </a:solidFill>
                <a:latin typeface="Calibri"/>
              </a:defRPr>
            </a:pPr>
            <a:r>
              <a:t>Unlike command-line-only tools (MOB-suite, plasmidfinder CLI), pLIN ships a Streamlit web app with upload, classification, AMR screening, cladogram visualization, mobility prediction, outbreak detection, adaptive thresholds, and multi-linkage clustering — accessible to non-bioinformaticians.</a:t>
            </a:r>
          </a:p>
        </p:txBody>
      </p:sp>
      <p:sp>
        <p:nvSpPr>
          <p:cNvPr id="20" name="Rounded Rectangle 19"/>
          <p:cNvSpPr/>
          <p:nvPr/>
        </p:nvSpPr>
        <p:spPr>
          <a:xfrm>
            <a:off x="365760" y="5715000"/>
            <a:ext cx="109728" cy="8686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733288"/>
            <a:ext cx="11155680" cy="320040"/>
          </a:xfrm>
          <a:prstGeom prst="rect">
            <a:avLst/>
          </a:prstGeom>
          <a:noFill/>
        </p:spPr>
        <p:txBody>
          <a:bodyPr wrap="square">
            <a:spAutoFit/>
          </a:bodyPr>
          <a:lstStyle/>
          <a:p>
            <a:pPr algn="l">
              <a:defRPr sz="1500" b="1">
                <a:solidFill>
                  <a:srgbClr val="009688"/>
                </a:solidFill>
                <a:latin typeface="Calibri"/>
              </a:defRPr>
            </a:pPr>
            <a:r>
              <a:t>Genomic LLM Integration (Nucleotide Transformer)</a:t>
            </a:r>
          </a:p>
        </p:txBody>
      </p:sp>
      <p:sp>
        <p:nvSpPr>
          <p:cNvPr id="22" name="TextBox 21"/>
          <p:cNvSpPr txBox="1"/>
          <p:nvPr/>
        </p:nvSpPr>
        <p:spPr>
          <a:xfrm>
            <a:off x="640080" y="6062472"/>
            <a:ext cx="11155680" cy="502920"/>
          </a:xfrm>
          <a:prstGeom prst="rect">
            <a:avLst/>
          </a:prstGeom>
          <a:noFill/>
        </p:spPr>
        <p:txBody>
          <a:bodyPr wrap="square">
            <a:spAutoFit/>
          </a:bodyPr>
          <a:lstStyle/>
          <a:p>
            <a:pPr algn="l">
              <a:defRPr sz="1100" b="0">
                <a:solidFill>
                  <a:srgbClr val="333333"/>
                </a:solidFill>
                <a:latin typeface="Calibri"/>
              </a:defRPr>
            </a:pPr>
            <a:r>
              <a:t>First plasmid classification tool to integrate a genomic foundation model (InstaDeep Nucleotide Transformer). Provides LLM-based Inc group and AMR class predictions alongside traditional KNN, enabling cross-method validation. Chunked embedding strategy handles full-length plasmids (up to 300+ kb).</a:t>
            </a:r>
          </a:p>
        </p:txBody>
      </p:sp>
      <p:sp>
        <p:nvSpPr>
          <p:cNvPr id="23" name="Rounded Rectangle 22"/>
          <p:cNvSpPr/>
          <p:nvPr/>
        </p:nvSpPr>
        <p:spPr>
          <a:xfrm>
            <a:off x="365760" y="6400800"/>
            <a:ext cx="11430000" cy="32004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19088"/>
            <a:ext cx="2560320" cy="274320"/>
          </a:xfrm>
          <a:prstGeom prst="rect">
            <a:avLst/>
          </a:prstGeom>
          <a:noFill/>
        </p:spPr>
        <p:txBody>
          <a:bodyPr wrap="square">
            <a:spAutoFit/>
          </a:bodyPr>
          <a:lstStyle/>
          <a:p>
            <a:pPr algn="ctr">
              <a:defRPr sz="1000" b="1">
                <a:solidFill>
                  <a:srgbClr val="FFFFFF"/>
                </a:solidFill>
                <a:latin typeface="Calibri"/>
              </a:defRPr>
            </a:pPr>
            <a:r>
              <a:t>Feature</a:t>
            </a:r>
          </a:p>
        </p:txBody>
      </p:sp>
      <p:sp>
        <p:nvSpPr>
          <p:cNvPr id="25" name="TextBox 24"/>
          <p:cNvSpPr txBox="1"/>
          <p:nvPr/>
        </p:nvSpPr>
        <p:spPr>
          <a:xfrm>
            <a:off x="2971799" y="6419088"/>
            <a:ext cx="2011680" cy="274320"/>
          </a:xfrm>
          <a:prstGeom prst="rect">
            <a:avLst/>
          </a:prstGeom>
          <a:noFill/>
        </p:spPr>
        <p:txBody>
          <a:bodyPr wrap="square">
            <a:spAutoFit/>
          </a:bodyPr>
          <a:lstStyle/>
          <a:p>
            <a:pPr algn="ctr">
              <a:defRPr sz="1000" b="1">
                <a:solidFill>
                  <a:srgbClr val="FFFFFF"/>
                </a:solidFill>
                <a:latin typeface="Calibri"/>
              </a:defRPr>
            </a:pPr>
            <a:r>
              <a:t>pLIN</a:t>
            </a:r>
          </a:p>
        </p:txBody>
      </p:sp>
      <p:sp>
        <p:nvSpPr>
          <p:cNvPr id="26" name="TextBox 25"/>
          <p:cNvSpPr txBox="1"/>
          <p:nvPr/>
        </p:nvSpPr>
        <p:spPr>
          <a:xfrm>
            <a:off x="4983480" y="6419088"/>
            <a:ext cx="2286000" cy="274320"/>
          </a:xfrm>
          <a:prstGeom prst="rect">
            <a:avLst/>
          </a:prstGeom>
          <a:noFill/>
        </p:spPr>
        <p:txBody>
          <a:bodyPr wrap="square">
            <a:spAutoFit/>
          </a:bodyPr>
          <a:lstStyle/>
          <a:p>
            <a:pPr algn="ctr">
              <a:defRPr sz="1000" b="1">
                <a:solidFill>
                  <a:srgbClr val="FFFFFF"/>
                </a:solidFill>
                <a:latin typeface="Calibri"/>
              </a:defRPr>
            </a:pPr>
            <a:r>
              <a:t>MOB-suite</a:t>
            </a:r>
          </a:p>
        </p:txBody>
      </p:sp>
      <p:sp>
        <p:nvSpPr>
          <p:cNvPr id="27" name="TextBox 26"/>
          <p:cNvSpPr txBox="1"/>
          <p:nvPr/>
        </p:nvSpPr>
        <p:spPr>
          <a:xfrm>
            <a:off x="7269480" y="6419088"/>
            <a:ext cx="2286000" cy="274320"/>
          </a:xfrm>
          <a:prstGeom prst="rect">
            <a:avLst/>
          </a:prstGeom>
          <a:noFill/>
        </p:spPr>
        <p:txBody>
          <a:bodyPr wrap="square">
            <a:spAutoFit/>
          </a:bodyPr>
          <a:lstStyle/>
          <a:p>
            <a:pPr algn="ctr">
              <a:defRPr sz="1000" b="1">
                <a:solidFill>
                  <a:srgbClr val="FFFFFF"/>
                </a:solidFill>
                <a:latin typeface="Calibri"/>
              </a:defRPr>
            </a:pPr>
            <a:r>
              <a:t>PlasmidFinder</a:t>
            </a:r>
          </a:p>
        </p:txBody>
      </p:sp>
      <p:sp>
        <p:nvSpPr>
          <p:cNvPr id="28" name="TextBox 27"/>
          <p:cNvSpPr txBox="1"/>
          <p:nvPr/>
        </p:nvSpPr>
        <p:spPr>
          <a:xfrm>
            <a:off x="9555480" y="6419088"/>
            <a:ext cx="2286000" cy="274320"/>
          </a:xfrm>
          <a:prstGeom prst="rect">
            <a:avLst/>
          </a:prstGeom>
          <a:noFill/>
        </p:spPr>
        <p:txBody>
          <a:bodyPr wrap="square">
            <a:spAutoFit/>
          </a:bodyPr>
          <a:lstStyle/>
          <a:p>
            <a:pPr algn="ctr">
              <a:defRPr sz="1000" b="1">
                <a:solidFill>
                  <a:srgbClr val="FFFFFF"/>
                </a:solidFill>
                <a:latin typeface="Calibri"/>
              </a:defRPr>
            </a:pPr>
            <a:r>
              <a:t>pMLST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Limitations &amp; Future Directions</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Current constraints and planned improvements</a:t>
            </a:r>
          </a:p>
        </p:txBody>
      </p:sp>
      <p:sp>
        <p:nvSpPr>
          <p:cNvPr id="5" name="TextBox 4"/>
          <p:cNvSpPr txBox="1"/>
          <p:nvPr/>
        </p:nvSpPr>
        <p:spPr>
          <a:xfrm>
            <a:off x="457200" y="1463040"/>
            <a:ext cx="5486400" cy="457200"/>
          </a:xfrm>
          <a:prstGeom prst="rect">
            <a:avLst/>
          </a:prstGeom>
          <a:noFill/>
        </p:spPr>
        <p:txBody>
          <a:bodyPr wrap="square">
            <a:spAutoFit/>
          </a:bodyPr>
          <a:lstStyle/>
          <a:p>
            <a:pPr algn="l">
              <a:defRPr sz="2000" b="1">
                <a:solidFill>
                  <a:srgbClr val="E53935"/>
                </a:solidFill>
                <a:latin typeface="Calibri"/>
              </a:defRPr>
            </a:pPr>
            <a:r>
              <a:t>Current Limitations</a:t>
            </a:r>
          </a:p>
        </p:txBody>
      </p:sp>
      <p:sp>
        <p:nvSpPr>
          <p:cNvPr id="6" name="Oval 5"/>
          <p:cNvSpPr/>
          <p:nvPr/>
        </p:nvSpPr>
        <p:spPr>
          <a:xfrm>
            <a:off x="457200" y="2011680"/>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7" name="TextBox 6"/>
          <p:cNvSpPr txBox="1"/>
          <p:nvPr/>
        </p:nvSpPr>
        <p:spPr>
          <a:xfrm>
            <a:off x="868680" y="1965960"/>
            <a:ext cx="5303520" cy="274320"/>
          </a:xfrm>
          <a:prstGeom prst="rect">
            <a:avLst/>
          </a:prstGeom>
          <a:noFill/>
        </p:spPr>
        <p:txBody>
          <a:bodyPr wrap="square">
            <a:spAutoFit/>
          </a:bodyPr>
          <a:lstStyle/>
          <a:p>
            <a:pPr algn="l">
              <a:defRPr sz="1200" b="1">
                <a:solidFill>
                  <a:srgbClr val="E53935"/>
                </a:solidFill>
                <a:latin typeface="Calibri"/>
              </a:defRPr>
            </a:pPr>
            <a:r>
              <a:t>Uneven Inc Group Class Sizes</a:t>
            </a:r>
          </a:p>
        </p:txBody>
      </p:sp>
      <p:sp>
        <p:nvSpPr>
          <p:cNvPr id="8" name="TextBox 7"/>
          <p:cNvSpPr txBox="1"/>
          <p:nvPr/>
        </p:nvSpPr>
        <p:spPr>
          <a:xfrm>
            <a:off x="868680" y="2240280"/>
            <a:ext cx="5303520" cy="457200"/>
          </a:xfrm>
          <a:prstGeom prst="rect">
            <a:avLst/>
          </a:prstGeom>
          <a:noFill/>
        </p:spPr>
        <p:txBody>
          <a:bodyPr wrap="square">
            <a:spAutoFit/>
          </a:bodyPr>
          <a:lstStyle/>
          <a:p>
            <a:pPr algn="l">
              <a:defRPr sz="900" b="0">
                <a:solidFill>
                  <a:srgbClr val="333333"/>
                </a:solidFill>
                <a:latin typeface="Calibri"/>
              </a:defRPr>
            </a:pPr>
            <a:r>
              <a:t>Classifier covers 20 Inc groups but with uneven training data: IncFII has 4,629 samples while IncFIBK has only 11. Smaller classes may have lower per-class accuracy. Balanced augmentation is needed for underrepresented groups.</a:t>
            </a:r>
          </a:p>
        </p:txBody>
      </p:sp>
      <p:sp>
        <p:nvSpPr>
          <p:cNvPr id="9" name="Oval 8"/>
          <p:cNvSpPr/>
          <p:nvPr/>
        </p:nvSpPr>
        <p:spPr>
          <a:xfrm>
            <a:off x="457200" y="2761488"/>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10" name="TextBox 9"/>
          <p:cNvSpPr txBox="1"/>
          <p:nvPr/>
        </p:nvSpPr>
        <p:spPr>
          <a:xfrm>
            <a:off x="868680" y="2715768"/>
            <a:ext cx="5303520" cy="274320"/>
          </a:xfrm>
          <a:prstGeom prst="rect">
            <a:avLst/>
          </a:prstGeom>
          <a:noFill/>
        </p:spPr>
        <p:txBody>
          <a:bodyPr wrap="square">
            <a:spAutoFit/>
          </a:bodyPr>
          <a:lstStyle/>
          <a:p>
            <a:pPr algn="l">
              <a:defRPr sz="1200" b="1">
                <a:solidFill>
                  <a:srgbClr val="E53935"/>
                </a:solidFill>
                <a:latin typeface="Calibri"/>
              </a:defRPr>
            </a:pPr>
            <a:r>
              <a:t>Composition-Only Features</a:t>
            </a:r>
          </a:p>
        </p:txBody>
      </p:sp>
      <p:sp>
        <p:nvSpPr>
          <p:cNvPr id="11" name="TextBox 10"/>
          <p:cNvSpPr txBox="1"/>
          <p:nvPr/>
        </p:nvSpPr>
        <p:spPr>
          <a:xfrm>
            <a:off x="868680" y="2990088"/>
            <a:ext cx="5303520" cy="457200"/>
          </a:xfrm>
          <a:prstGeom prst="rect">
            <a:avLst/>
          </a:prstGeom>
          <a:noFill/>
        </p:spPr>
        <p:txBody>
          <a:bodyPr wrap="square">
            <a:spAutoFit/>
          </a:bodyPr>
          <a:lstStyle/>
          <a:p>
            <a:pPr algn="l">
              <a:defRPr sz="900" b="0">
                <a:solidFill>
                  <a:srgbClr val="333333"/>
                </a:solidFill>
                <a:latin typeface="Calibri"/>
              </a:defRPr>
            </a:pPr>
            <a:r>
              <a:t>4-mer frequency captures global sequence composition but ignores gene content, synteny, and structural rearrangements. Two plasmids with similar base composition but different gene cargo may receive similar pLIN codes at coarse levels.</a:t>
            </a:r>
          </a:p>
        </p:txBody>
      </p:sp>
      <p:sp>
        <p:nvSpPr>
          <p:cNvPr id="12" name="Oval 11"/>
          <p:cNvSpPr/>
          <p:nvPr/>
        </p:nvSpPr>
        <p:spPr>
          <a:xfrm>
            <a:off x="457200" y="3511296"/>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13" name="TextBox 12"/>
          <p:cNvSpPr txBox="1"/>
          <p:nvPr/>
        </p:nvSpPr>
        <p:spPr>
          <a:xfrm>
            <a:off x="868680" y="3465576"/>
            <a:ext cx="5303520" cy="274320"/>
          </a:xfrm>
          <a:prstGeom prst="rect">
            <a:avLst/>
          </a:prstGeom>
          <a:noFill/>
        </p:spPr>
        <p:txBody>
          <a:bodyPr wrap="square">
            <a:spAutoFit/>
          </a:bodyPr>
          <a:lstStyle/>
          <a:p>
            <a:pPr algn="l">
              <a:defRPr sz="1200" b="1">
                <a:solidFill>
                  <a:srgbClr val="E53935"/>
                </a:solidFill>
                <a:latin typeface="Calibri"/>
              </a:defRPr>
            </a:pPr>
            <a:r>
              <a:t>Linkage Method Sensitivity</a:t>
            </a:r>
          </a:p>
        </p:txBody>
      </p:sp>
      <p:sp>
        <p:nvSpPr>
          <p:cNvPr id="14" name="TextBox 13"/>
          <p:cNvSpPr txBox="1"/>
          <p:nvPr/>
        </p:nvSpPr>
        <p:spPr>
          <a:xfrm>
            <a:off x="868680" y="3739896"/>
            <a:ext cx="5303520" cy="457200"/>
          </a:xfrm>
          <a:prstGeom prst="rect">
            <a:avLst/>
          </a:prstGeom>
          <a:noFill/>
        </p:spPr>
        <p:txBody>
          <a:bodyPr wrap="square">
            <a:spAutoFit/>
          </a:bodyPr>
          <a:lstStyle/>
          <a:p>
            <a:pPr algn="l">
              <a:defRPr sz="900" b="0">
                <a:solidFill>
                  <a:srgbClr val="333333"/>
                </a:solidFill>
                <a:latin typeface="Calibri"/>
              </a:defRPr>
            </a:pPr>
            <a:r>
              <a:t>Single-linkage clustering (default) can produce chain-like clusters. While the tool supports complete, average, and weighted linkage as alternatives, the pLIN thresholds were originally calibrated for single-linkage — using other methods may require re-calibration.</a:t>
            </a:r>
          </a:p>
        </p:txBody>
      </p:sp>
      <p:sp>
        <p:nvSpPr>
          <p:cNvPr id="15" name="Oval 14"/>
          <p:cNvSpPr/>
          <p:nvPr/>
        </p:nvSpPr>
        <p:spPr>
          <a:xfrm>
            <a:off x="457200" y="4261103"/>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16" name="TextBox 15"/>
          <p:cNvSpPr txBox="1"/>
          <p:nvPr/>
        </p:nvSpPr>
        <p:spPr>
          <a:xfrm>
            <a:off x="868680" y="4215383"/>
            <a:ext cx="5303520" cy="274320"/>
          </a:xfrm>
          <a:prstGeom prst="rect">
            <a:avLst/>
          </a:prstGeom>
          <a:noFill/>
        </p:spPr>
        <p:txBody>
          <a:bodyPr wrap="square">
            <a:spAutoFit/>
          </a:bodyPr>
          <a:lstStyle/>
          <a:p>
            <a:pPr algn="l">
              <a:defRPr sz="1200" b="1">
                <a:solidFill>
                  <a:srgbClr val="E53935"/>
                </a:solidFill>
                <a:latin typeface="Calibri"/>
              </a:defRPr>
            </a:pPr>
            <a:r>
              <a:t>No Fragmented Assembly Handling</a:t>
            </a:r>
          </a:p>
        </p:txBody>
      </p:sp>
      <p:sp>
        <p:nvSpPr>
          <p:cNvPr id="17" name="TextBox 16"/>
          <p:cNvSpPr txBox="1"/>
          <p:nvPr/>
        </p:nvSpPr>
        <p:spPr>
          <a:xfrm>
            <a:off x="868680" y="4489703"/>
            <a:ext cx="5303520" cy="457200"/>
          </a:xfrm>
          <a:prstGeom prst="rect">
            <a:avLst/>
          </a:prstGeom>
          <a:noFill/>
        </p:spPr>
        <p:txBody>
          <a:bodyPr wrap="square">
            <a:spAutoFit/>
          </a:bodyPr>
          <a:lstStyle/>
          <a:p>
            <a:pPr algn="l">
              <a:defRPr sz="900" b="0">
                <a:solidFill>
                  <a:srgbClr val="333333"/>
                </a:solidFill>
                <a:latin typeface="Calibri"/>
              </a:defRPr>
            </a:pPr>
            <a:r>
              <a:t>pLIN expects complete or near-complete plasmid sequences. Short contigs from fragmented assemblies will have noisy k-mer profiles, reducing classification accuracy. No scaffolding or multi-contig plasmid reconstruction is performed.</a:t>
            </a:r>
          </a:p>
        </p:txBody>
      </p:sp>
      <p:sp>
        <p:nvSpPr>
          <p:cNvPr id="18" name="Oval 17"/>
          <p:cNvSpPr/>
          <p:nvPr/>
        </p:nvSpPr>
        <p:spPr>
          <a:xfrm>
            <a:off x="457200" y="5010912"/>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19" name="TextBox 18"/>
          <p:cNvSpPr txBox="1"/>
          <p:nvPr/>
        </p:nvSpPr>
        <p:spPr>
          <a:xfrm>
            <a:off x="868680" y="4965192"/>
            <a:ext cx="5303520" cy="274320"/>
          </a:xfrm>
          <a:prstGeom prst="rect">
            <a:avLst/>
          </a:prstGeom>
          <a:noFill/>
        </p:spPr>
        <p:txBody>
          <a:bodyPr wrap="square">
            <a:spAutoFit/>
          </a:bodyPr>
          <a:lstStyle/>
          <a:p>
            <a:pPr algn="l">
              <a:defRPr sz="1200" b="1">
                <a:solidFill>
                  <a:srgbClr val="E53935"/>
                </a:solidFill>
                <a:latin typeface="Calibri"/>
              </a:defRPr>
            </a:pPr>
            <a:r>
              <a:t>CRISPR Host Inference Depends on DB</a:t>
            </a:r>
          </a:p>
        </p:txBody>
      </p:sp>
      <p:sp>
        <p:nvSpPr>
          <p:cNvPr id="20" name="TextBox 19"/>
          <p:cNvSpPr txBox="1"/>
          <p:nvPr/>
        </p:nvSpPr>
        <p:spPr>
          <a:xfrm>
            <a:off x="868680" y="5239512"/>
            <a:ext cx="5303520" cy="457200"/>
          </a:xfrm>
          <a:prstGeom prst="rect">
            <a:avLst/>
          </a:prstGeom>
          <a:noFill/>
        </p:spPr>
        <p:txBody>
          <a:bodyPr wrap="square">
            <a:spAutoFit/>
          </a:bodyPr>
          <a:lstStyle/>
          <a:p>
            <a:pPr algn="l">
              <a:defRPr sz="900" b="0">
                <a:solidFill>
                  <a:srgbClr val="333333"/>
                </a:solidFill>
                <a:latin typeface="Calibri"/>
              </a:defRPr>
            </a:pPr>
            <a:r>
              <a:t>CRISPR-based host prediction quality depends on completeness of the host genome database and CRISPR array presence. Hosts lacking CRISPR systems will not be detected. Reference DB mode requires the 72,556-plasmid sequences.fasta file.</a:t>
            </a:r>
          </a:p>
        </p:txBody>
      </p:sp>
      <p:sp>
        <p:nvSpPr>
          <p:cNvPr id="21" name="Oval 20"/>
          <p:cNvSpPr/>
          <p:nvPr/>
        </p:nvSpPr>
        <p:spPr>
          <a:xfrm>
            <a:off x="457200" y="5760720"/>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a:t>
            </a:r>
          </a:p>
        </p:txBody>
      </p:sp>
      <p:sp>
        <p:nvSpPr>
          <p:cNvPr id="22" name="TextBox 21"/>
          <p:cNvSpPr txBox="1"/>
          <p:nvPr/>
        </p:nvSpPr>
        <p:spPr>
          <a:xfrm>
            <a:off x="868680" y="5715000"/>
            <a:ext cx="5303520" cy="274320"/>
          </a:xfrm>
          <a:prstGeom prst="rect">
            <a:avLst/>
          </a:prstGeom>
          <a:noFill/>
        </p:spPr>
        <p:txBody>
          <a:bodyPr wrap="square">
            <a:spAutoFit/>
          </a:bodyPr>
          <a:lstStyle/>
          <a:p>
            <a:pPr algn="l">
              <a:defRPr sz="1200" b="1">
                <a:solidFill>
                  <a:srgbClr val="E53935"/>
                </a:solidFill>
                <a:latin typeface="Calibri"/>
              </a:defRPr>
            </a:pPr>
            <a:r>
              <a:t>No Real-Time Database Updates</a:t>
            </a:r>
          </a:p>
        </p:txBody>
      </p:sp>
      <p:sp>
        <p:nvSpPr>
          <p:cNvPr id="23" name="TextBox 22"/>
          <p:cNvSpPr txBox="1"/>
          <p:nvPr/>
        </p:nvSpPr>
        <p:spPr>
          <a:xfrm>
            <a:off x="868680" y="5989320"/>
            <a:ext cx="5303520" cy="457200"/>
          </a:xfrm>
          <a:prstGeom prst="rect">
            <a:avLst/>
          </a:prstGeom>
          <a:noFill/>
        </p:spPr>
        <p:txBody>
          <a:bodyPr wrap="square">
            <a:spAutoFit/>
          </a:bodyPr>
          <a:lstStyle/>
          <a:p>
            <a:pPr algn="l">
              <a:defRPr sz="900" b="0">
                <a:solidFill>
                  <a:srgbClr val="333333"/>
                </a:solidFill>
                <a:latin typeface="Calibri"/>
              </a:defRPr>
            </a:pPr>
            <a:r>
              <a:t>The KNN classifier uses a static training set. New plasmid submissions to GenBank/RefSeq are not automatically incorporated. Periodic retraining is needed to maintain accuracy as novel plasmid lineages emerge.</a:t>
            </a:r>
          </a:p>
        </p:txBody>
      </p:sp>
      <p:sp>
        <p:nvSpPr>
          <p:cNvPr id="24" name="TextBox 23"/>
          <p:cNvSpPr txBox="1"/>
          <p:nvPr/>
        </p:nvSpPr>
        <p:spPr>
          <a:xfrm>
            <a:off x="6400800" y="1463040"/>
            <a:ext cx="5486400" cy="457200"/>
          </a:xfrm>
          <a:prstGeom prst="rect">
            <a:avLst/>
          </a:prstGeom>
          <a:noFill/>
        </p:spPr>
        <p:txBody>
          <a:bodyPr wrap="square">
            <a:spAutoFit/>
          </a:bodyPr>
          <a:lstStyle/>
          <a:p>
            <a:pPr algn="l">
              <a:defRPr sz="2000" b="1">
                <a:solidFill>
                  <a:srgbClr val="43A047"/>
                </a:solidFill>
                <a:latin typeface="Calibri"/>
              </a:defRPr>
            </a:pPr>
            <a:r>
              <a:t>Future Directions</a:t>
            </a:r>
          </a:p>
        </p:txBody>
      </p:sp>
      <p:sp>
        <p:nvSpPr>
          <p:cNvPr id="25" name="Right Arrow 24"/>
          <p:cNvSpPr/>
          <p:nvPr/>
        </p:nvSpPr>
        <p:spPr>
          <a:xfrm>
            <a:off x="6400800" y="2057400"/>
            <a:ext cx="320040" cy="228600"/>
          </a:xfrm>
          <a:prstGeom prst="rightArrow">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1965960"/>
            <a:ext cx="4846320" cy="274320"/>
          </a:xfrm>
          <a:prstGeom prst="rect">
            <a:avLst/>
          </a:prstGeom>
          <a:noFill/>
        </p:spPr>
        <p:txBody>
          <a:bodyPr wrap="square">
            <a:spAutoFit/>
          </a:bodyPr>
          <a:lstStyle/>
          <a:p>
            <a:pPr algn="l">
              <a:defRPr sz="1200" b="1">
                <a:solidFill>
                  <a:srgbClr val="43A047"/>
                </a:solidFill>
                <a:latin typeface="Calibri"/>
              </a:defRPr>
            </a:pPr>
            <a:r>
              <a:t>Balance Inc Group Training</a:t>
            </a:r>
          </a:p>
        </p:txBody>
      </p:sp>
      <p:sp>
        <p:nvSpPr>
          <p:cNvPr id="27" name="TextBox 26"/>
          <p:cNvSpPr txBox="1"/>
          <p:nvPr/>
        </p:nvSpPr>
        <p:spPr>
          <a:xfrm>
            <a:off x="6858000" y="2240280"/>
            <a:ext cx="4846320" cy="457200"/>
          </a:xfrm>
          <a:prstGeom prst="rect">
            <a:avLst/>
          </a:prstGeom>
          <a:noFill/>
        </p:spPr>
        <p:txBody>
          <a:bodyPr wrap="square">
            <a:spAutoFit/>
          </a:bodyPr>
          <a:lstStyle/>
          <a:p>
            <a:pPr algn="l">
              <a:defRPr sz="900" b="0">
                <a:solidFill>
                  <a:srgbClr val="333333"/>
                </a:solidFill>
                <a:latin typeface="Calibri"/>
              </a:defRPr>
            </a:pPr>
            <a:r>
              <a:t>Expand underrepresented groups (IncFIBK, ColE, IncI2) with targeted data collection. Target: 30+ Inc groups, 20,000+ balanced training sequences.</a:t>
            </a:r>
          </a:p>
        </p:txBody>
      </p:sp>
      <p:sp>
        <p:nvSpPr>
          <p:cNvPr id="28" name="Right Arrow 27"/>
          <p:cNvSpPr/>
          <p:nvPr/>
        </p:nvSpPr>
        <p:spPr>
          <a:xfrm>
            <a:off x="6400800" y="2807208"/>
            <a:ext cx="320040" cy="22860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715768"/>
            <a:ext cx="4846320" cy="274320"/>
          </a:xfrm>
          <a:prstGeom prst="rect">
            <a:avLst/>
          </a:prstGeom>
          <a:noFill/>
        </p:spPr>
        <p:txBody>
          <a:bodyPr wrap="square">
            <a:spAutoFit/>
          </a:bodyPr>
          <a:lstStyle/>
          <a:p>
            <a:pPr algn="l">
              <a:defRPr sz="1200" b="1">
                <a:solidFill>
                  <a:srgbClr val="1E88E5"/>
                </a:solidFill>
                <a:latin typeface="Calibri"/>
              </a:defRPr>
            </a:pPr>
            <a:r>
              <a:t>Hybrid Features</a:t>
            </a:r>
          </a:p>
        </p:txBody>
      </p:sp>
      <p:sp>
        <p:nvSpPr>
          <p:cNvPr id="30" name="TextBox 29"/>
          <p:cNvSpPr txBox="1"/>
          <p:nvPr/>
        </p:nvSpPr>
        <p:spPr>
          <a:xfrm>
            <a:off x="6858000" y="2990088"/>
            <a:ext cx="4846320" cy="457200"/>
          </a:xfrm>
          <a:prstGeom prst="rect">
            <a:avLst/>
          </a:prstGeom>
          <a:noFill/>
        </p:spPr>
        <p:txBody>
          <a:bodyPr wrap="square">
            <a:spAutoFit/>
          </a:bodyPr>
          <a:lstStyle/>
          <a:p>
            <a:pPr algn="l">
              <a:defRPr sz="900" b="0">
                <a:solidFill>
                  <a:srgbClr val="333333"/>
                </a:solidFill>
                <a:latin typeface="Calibri"/>
              </a:defRPr>
            </a:pPr>
            <a:r>
              <a:t>Combine k-mer composition with gene presence/absence and synteny features for higher-resolution classification at fine levels (E, F).</a:t>
            </a:r>
          </a:p>
        </p:txBody>
      </p:sp>
      <p:sp>
        <p:nvSpPr>
          <p:cNvPr id="31" name="Right Arrow 30"/>
          <p:cNvSpPr/>
          <p:nvPr/>
        </p:nvSpPr>
        <p:spPr>
          <a:xfrm>
            <a:off x="6400800" y="3557016"/>
            <a:ext cx="320040" cy="228600"/>
          </a:xfrm>
          <a:prstGeom prst="rightArrow">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3465576"/>
            <a:ext cx="4846320" cy="274320"/>
          </a:xfrm>
          <a:prstGeom prst="rect">
            <a:avLst/>
          </a:prstGeom>
          <a:noFill/>
        </p:spPr>
        <p:txBody>
          <a:bodyPr wrap="square">
            <a:spAutoFit/>
          </a:bodyPr>
          <a:lstStyle/>
          <a:p>
            <a:pPr algn="l">
              <a:defRPr sz="1200" b="1">
                <a:solidFill>
                  <a:srgbClr val="FB8C00"/>
                </a:solidFill>
                <a:latin typeface="Calibri"/>
              </a:defRPr>
            </a:pPr>
            <a:r>
              <a:t>Threshold Cross-Validation</a:t>
            </a:r>
          </a:p>
        </p:txBody>
      </p:sp>
      <p:sp>
        <p:nvSpPr>
          <p:cNvPr id="33" name="TextBox 32"/>
          <p:cNvSpPr txBox="1"/>
          <p:nvPr/>
        </p:nvSpPr>
        <p:spPr>
          <a:xfrm>
            <a:off x="6858000" y="3739896"/>
            <a:ext cx="4846320" cy="457200"/>
          </a:xfrm>
          <a:prstGeom prst="rect">
            <a:avLst/>
          </a:prstGeom>
          <a:noFill/>
        </p:spPr>
        <p:txBody>
          <a:bodyPr wrap="square">
            <a:spAutoFit/>
          </a:bodyPr>
          <a:lstStyle/>
          <a:p>
            <a:pPr algn="l">
              <a:defRPr sz="900" b="0">
                <a:solidFill>
                  <a:srgbClr val="333333"/>
                </a:solidFill>
                <a:latin typeface="Calibri"/>
              </a:defRPr>
            </a:pPr>
            <a:r>
              <a:t>Systematically validate adaptive thresholds across all 20 Inc groups. Benchmark linkage methods against known plasmid phylogenies.</a:t>
            </a:r>
          </a:p>
        </p:txBody>
      </p:sp>
      <p:sp>
        <p:nvSpPr>
          <p:cNvPr id="34" name="Right Arrow 33"/>
          <p:cNvSpPr/>
          <p:nvPr/>
        </p:nvSpPr>
        <p:spPr>
          <a:xfrm>
            <a:off x="6400800" y="4306823"/>
            <a:ext cx="320040" cy="228600"/>
          </a:xfrm>
          <a:prstGeom prst="rightArrow">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4215383"/>
            <a:ext cx="4846320" cy="274320"/>
          </a:xfrm>
          <a:prstGeom prst="rect">
            <a:avLst/>
          </a:prstGeom>
          <a:noFill/>
        </p:spPr>
        <p:txBody>
          <a:bodyPr wrap="square">
            <a:spAutoFit/>
          </a:bodyPr>
          <a:lstStyle/>
          <a:p>
            <a:pPr algn="l">
              <a:defRPr sz="1200" b="1">
                <a:solidFill>
                  <a:srgbClr val="8E24AA"/>
                </a:solidFill>
                <a:latin typeface="Calibri"/>
              </a:defRPr>
            </a:pPr>
            <a:r>
              <a:t>Metagenomic Support</a:t>
            </a:r>
          </a:p>
        </p:txBody>
      </p:sp>
      <p:sp>
        <p:nvSpPr>
          <p:cNvPr id="36" name="TextBox 35"/>
          <p:cNvSpPr txBox="1"/>
          <p:nvPr/>
        </p:nvSpPr>
        <p:spPr>
          <a:xfrm>
            <a:off x="6858000" y="4489703"/>
            <a:ext cx="4846320" cy="457200"/>
          </a:xfrm>
          <a:prstGeom prst="rect">
            <a:avLst/>
          </a:prstGeom>
          <a:noFill/>
        </p:spPr>
        <p:txBody>
          <a:bodyPr wrap="square">
            <a:spAutoFit/>
          </a:bodyPr>
          <a:lstStyle/>
          <a:p>
            <a:pPr algn="l">
              <a:defRPr sz="900" b="0">
                <a:solidFill>
                  <a:srgbClr val="333333"/>
                </a:solidFill>
                <a:latin typeface="Calibri"/>
              </a:defRPr>
            </a:pPr>
            <a:r>
              <a:t>Handle multi-contig plasmid bins from metagenomic assemblies. Integrate with plasmid prediction tools (PlasFlow, MOB-recon).</a:t>
            </a:r>
          </a:p>
        </p:txBody>
      </p:sp>
      <p:sp>
        <p:nvSpPr>
          <p:cNvPr id="37" name="Right Arrow 36"/>
          <p:cNvSpPr/>
          <p:nvPr/>
        </p:nvSpPr>
        <p:spPr>
          <a:xfrm>
            <a:off x="6400800" y="5056632"/>
            <a:ext cx="32004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4965192"/>
            <a:ext cx="4846320" cy="274320"/>
          </a:xfrm>
          <a:prstGeom prst="rect">
            <a:avLst/>
          </a:prstGeom>
          <a:noFill/>
        </p:spPr>
        <p:txBody>
          <a:bodyPr wrap="square">
            <a:spAutoFit/>
          </a:bodyPr>
          <a:lstStyle/>
          <a:p>
            <a:pPr algn="l">
              <a:defRPr sz="1200" b="1">
                <a:solidFill>
                  <a:srgbClr val="009688"/>
                </a:solidFill>
                <a:latin typeface="Calibri"/>
              </a:defRPr>
            </a:pPr>
            <a:r>
              <a:t>Online Database &amp; API</a:t>
            </a:r>
          </a:p>
        </p:txBody>
      </p:sp>
      <p:sp>
        <p:nvSpPr>
          <p:cNvPr id="39" name="TextBox 38"/>
          <p:cNvSpPr txBox="1"/>
          <p:nvPr/>
        </p:nvSpPr>
        <p:spPr>
          <a:xfrm>
            <a:off x="6858000" y="5239512"/>
            <a:ext cx="4846320" cy="457200"/>
          </a:xfrm>
          <a:prstGeom prst="rect">
            <a:avLst/>
          </a:prstGeom>
          <a:noFill/>
        </p:spPr>
        <p:txBody>
          <a:bodyPr wrap="square">
            <a:spAutoFit/>
          </a:bodyPr>
          <a:lstStyle/>
          <a:p>
            <a:pPr algn="l">
              <a:defRPr sz="900" b="0">
                <a:solidFill>
                  <a:srgbClr val="333333"/>
                </a:solidFill>
                <a:latin typeface="Calibri"/>
              </a:defRPr>
            </a:pPr>
            <a:r>
              <a:t>Web database for pLIN code lookups and new sequence submission. REST API for programmatic access and LIMS integration.</a:t>
            </a:r>
          </a:p>
        </p:txBody>
      </p:sp>
      <p:sp>
        <p:nvSpPr>
          <p:cNvPr id="40" name="Right Arrow 39"/>
          <p:cNvSpPr/>
          <p:nvPr/>
        </p:nvSpPr>
        <p:spPr>
          <a:xfrm>
            <a:off x="6400800" y="5806440"/>
            <a:ext cx="320040" cy="228600"/>
          </a:xfrm>
          <a:prstGeom prst="rightArrow">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0" y="5715000"/>
            <a:ext cx="4846320" cy="274320"/>
          </a:xfrm>
          <a:prstGeom prst="rect">
            <a:avLst/>
          </a:prstGeom>
          <a:noFill/>
        </p:spPr>
        <p:txBody>
          <a:bodyPr wrap="square">
            <a:spAutoFit/>
          </a:bodyPr>
          <a:lstStyle/>
          <a:p>
            <a:pPr algn="l">
              <a:defRPr sz="1200" b="1">
                <a:solidFill>
                  <a:srgbClr val="E53935"/>
                </a:solidFill>
                <a:latin typeface="Calibri"/>
              </a:defRPr>
            </a:pPr>
            <a:r>
              <a:t>Multi-Hospital Outbreak Tracking</a:t>
            </a:r>
          </a:p>
        </p:txBody>
      </p:sp>
      <p:sp>
        <p:nvSpPr>
          <p:cNvPr id="42" name="TextBox 41"/>
          <p:cNvSpPr txBox="1"/>
          <p:nvPr/>
        </p:nvSpPr>
        <p:spPr>
          <a:xfrm>
            <a:off x="6858000" y="5989320"/>
            <a:ext cx="4846320" cy="457200"/>
          </a:xfrm>
          <a:prstGeom prst="rect">
            <a:avLst/>
          </a:prstGeom>
          <a:noFill/>
        </p:spPr>
        <p:txBody>
          <a:bodyPr wrap="square">
            <a:spAutoFit/>
          </a:bodyPr>
          <a:lstStyle/>
          <a:p>
            <a:pPr algn="l">
              <a:defRPr sz="900" b="0">
                <a:solidFill>
                  <a:srgbClr val="333333"/>
                </a:solidFill>
                <a:latin typeface="Calibri"/>
              </a:defRPr>
            </a:pPr>
            <a:r>
              <a:t>Extend outbreak detection to cross-institutional datasets. Integrate with epidemiological metadata for spatial-temporal tracking.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DRAGNOME Buddy — AI Assistant</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Local LLM-powered chatbot for plasmid biology Q&amp;A</a:t>
            </a:r>
          </a:p>
        </p:txBody>
      </p:sp>
      <p:sp>
        <p:nvSpPr>
          <p:cNvPr id="5" name="TextBox 4"/>
          <p:cNvSpPr txBox="1"/>
          <p:nvPr/>
        </p:nvSpPr>
        <p:spPr>
          <a:xfrm>
            <a:off x="457200" y="1463040"/>
            <a:ext cx="5486400" cy="365760"/>
          </a:xfrm>
          <a:prstGeom prst="rect">
            <a:avLst/>
          </a:prstGeom>
          <a:noFill/>
        </p:spPr>
        <p:txBody>
          <a:bodyPr wrap="square">
            <a:spAutoFit/>
          </a:bodyPr>
          <a:lstStyle/>
          <a:p>
            <a:pPr algn="l">
              <a:defRPr sz="1800" b="1">
                <a:solidFill>
                  <a:srgbClr val="0D47A1"/>
                </a:solidFill>
                <a:latin typeface="Calibri"/>
              </a:defRPr>
            </a:pPr>
            <a:r>
              <a:t>How It Works</a:t>
            </a:r>
          </a:p>
        </p:txBody>
      </p:sp>
      <p:sp>
        <p:nvSpPr>
          <p:cNvPr id="6" name="Rounded Rectangle 5"/>
          <p:cNvSpPr/>
          <p:nvPr/>
        </p:nvSpPr>
        <p:spPr>
          <a:xfrm>
            <a:off x="457200" y="1920240"/>
            <a:ext cx="5029200" cy="914400"/>
          </a:xfrm>
          <a:prstGeom prst="roundRect">
            <a:avLst/>
          </a:prstGeom>
          <a:solidFill>
            <a:srgbClr val="BBDEFB"/>
          </a:solidFill>
          <a:ln w="254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57400"/>
            <a:ext cx="4663440" cy="274320"/>
          </a:xfrm>
          <a:prstGeom prst="rect">
            <a:avLst/>
          </a:prstGeom>
          <a:noFill/>
        </p:spPr>
        <p:txBody>
          <a:bodyPr wrap="square">
            <a:spAutoFit/>
          </a:bodyPr>
          <a:lstStyle/>
          <a:p>
            <a:pPr algn="l">
              <a:defRPr sz="1400" b="1">
                <a:solidFill>
                  <a:srgbClr val="0D47A1"/>
                </a:solidFill>
                <a:latin typeface="Calibri"/>
              </a:defRPr>
            </a:pPr>
            <a:r>
              <a:t>User Question</a:t>
            </a:r>
          </a:p>
        </p:txBody>
      </p:sp>
      <p:sp>
        <p:nvSpPr>
          <p:cNvPr id="8" name="TextBox 7"/>
          <p:cNvSpPr txBox="1"/>
          <p:nvPr/>
        </p:nvSpPr>
        <p:spPr>
          <a:xfrm>
            <a:off x="640080" y="2331720"/>
            <a:ext cx="4663440" cy="457200"/>
          </a:xfrm>
          <a:prstGeom prst="rect">
            <a:avLst/>
          </a:prstGeom>
          <a:noFill/>
        </p:spPr>
        <p:txBody>
          <a:bodyPr wrap="square">
            <a:spAutoFit/>
          </a:bodyPr>
          <a:lstStyle/>
          <a:p>
            <a:pPr algn="l">
              <a:defRPr sz="1100" b="0">
                <a:solidFill>
                  <a:srgbClr val="333333"/>
                </a:solidFill>
                <a:latin typeface="Calibri"/>
              </a:defRPr>
            </a:pPr>
            <a:r>
              <a:t>Natural language query about</a:t>
            </a:r>
            <a:br/>
            <a:r>
              <a:t>plasmids or analysis results</a:t>
            </a:r>
          </a:p>
        </p:txBody>
      </p:sp>
      <p:sp>
        <p:nvSpPr>
          <p:cNvPr id="9" name="Down Arrow 8"/>
          <p:cNvSpPr/>
          <p:nvPr/>
        </p:nvSpPr>
        <p:spPr>
          <a:xfrm>
            <a:off x="2743200" y="2834640"/>
            <a:ext cx="365760" cy="182880"/>
          </a:xfrm>
          <a:prstGeom prst="downArrow">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3017520"/>
            <a:ext cx="5029200" cy="914400"/>
          </a:xfrm>
          <a:prstGeom prst="roundRect">
            <a:avLst/>
          </a:prstGeom>
          <a:solidFill>
            <a:srgbClr val="E8F5E9"/>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54680"/>
            <a:ext cx="4663440" cy="274320"/>
          </a:xfrm>
          <a:prstGeom prst="rect">
            <a:avLst/>
          </a:prstGeom>
          <a:noFill/>
        </p:spPr>
        <p:txBody>
          <a:bodyPr wrap="square">
            <a:spAutoFit/>
          </a:bodyPr>
          <a:lstStyle/>
          <a:p>
            <a:pPr algn="l">
              <a:defRPr sz="1400" b="1">
                <a:solidFill>
                  <a:srgbClr val="43A047"/>
                </a:solidFill>
                <a:latin typeface="Calibri"/>
              </a:defRPr>
            </a:pPr>
            <a:r>
              <a:t>Context Builder</a:t>
            </a:r>
          </a:p>
        </p:txBody>
      </p:sp>
      <p:sp>
        <p:nvSpPr>
          <p:cNvPr id="12" name="TextBox 11"/>
          <p:cNvSpPr txBox="1"/>
          <p:nvPr/>
        </p:nvSpPr>
        <p:spPr>
          <a:xfrm>
            <a:off x="640080" y="3429000"/>
            <a:ext cx="4663440" cy="457200"/>
          </a:xfrm>
          <a:prstGeom prst="rect">
            <a:avLst/>
          </a:prstGeom>
          <a:noFill/>
        </p:spPr>
        <p:txBody>
          <a:bodyPr wrap="square">
            <a:spAutoFit/>
          </a:bodyPr>
          <a:lstStyle/>
          <a:p>
            <a:pPr algn="l">
              <a:defRPr sz="1100" b="0">
                <a:solidFill>
                  <a:srgbClr val="333333"/>
                </a:solidFill>
                <a:latin typeface="Calibri"/>
              </a:defRPr>
            </a:pPr>
            <a:r>
              <a:t>Extracts analysis data:</a:t>
            </a:r>
            <a:br/>
            <a:r>
              <a:t>pLIN codes, Inc groups, AMR,</a:t>
            </a:r>
            <a:br/>
            <a:r>
              <a:t>mobility, outbreaks</a:t>
            </a:r>
          </a:p>
        </p:txBody>
      </p:sp>
      <p:sp>
        <p:nvSpPr>
          <p:cNvPr id="13" name="Down Arrow 12"/>
          <p:cNvSpPr/>
          <p:nvPr/>
        </p:nvSpPr>
        <p:spPr>
          <a:xfrm>
            <a:off x="2743200" y="3931920"/>
            <a:ext cx="365760" cy="182880"/>
          </a:xfrm>
          <a:prstGeom prst="downArrow">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 y="4114800"/>
            <a:ext cx="5029200" cy="914400"/>
          </a:xfrm>
          <a:prstGeom prst="roundRect">
            <a:avLst/>
          </a:prstGeom>
          <a:solidFill>
            <a:srgbClr val="FFF3E0"/>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51960"/>
            <a:ext cx="4663440" cy="274320"/>
          </a:xfrm>
          <a:prstGeom prst="rect">
            <a:avLst/>
          </a:prstGeom>
          <a:noFill/>
        </p:spPr>
        <p:txBody>
          <a:bodyPr wrap="square">
            <a:spAutoFit/>
          </a:bodyPr>
          <a:lstStyle/>
          <a:p>
            <a:pPr algn="l">
              <a:defRPr sz="1400" b="1">
                <a:solidFill>
                  <a:srgbClr val="FB8C00"/>
                </a:solidFill>
                <a:latin typeface="Calibri"/>
              </a:defRPr>
            </a:pPr>
            <a:r>
              <a:t>Ollama LLM</a:t>
            </a:r>
          </a:p>
        </p:txBody>
      </p:sp>
      <p:sp>
        <p:nvSpPr>
          <p:cNvPr id="16" name="TextBox 15"/>
          <p:cNvSpPr txBox="1"/>
          <p:nvPr/>
        </p:nvSpPr>
        <p:spPr>
          <a:xfrm>
            <a:off x="640080" y="4526280"/>
            <a:ext cx="4663440" cy="457200"/>
          </a:xfrm>
          <a:prstGeom prst="rect">
            <a:avLst/>
          </a:prstGeom>
          <a:noFill/>
        </p:spPr>
        <p:txBody>
          <a:bodyPr wrap="square">
            <a:spAutoFit/>
          </a:bodyPr>
          <a:lstStyle/>
          <a:p>
            <a:pPr algn="l">
              <a:defRPr sz="1100" b="0">
                <a:solidFill>
                  <a:srgbClr val="333333"/>
                </a:solidFill>
                <a:latin typeface="Calibri"/>
              </a:defRPr>
            </a:pPr>
            <a:r>
              <a:t>Local model (llama3.2, mistral)</a:t>
            </a:r>
            <a:br/>
            <a:r>
              <a:t>No API keys, data stays local</a:t>
            </a:r>
          </a:p>
        </p:txBody>
      </p:sp>
      <p:sp>
        <p:nvSpPr>
          <p:cNvPr id="17" name="Down Arrow 16"/>
          <p:cNvSpPr/>
          <p:nvPr/>
        </p:nvSpPr>
        <p:spPr>
          <a:xfrm>
            <a:off x="2743200" y="5029200"/>
            <a:ext cx="365760" cy="182880"/>
          </a:xfrm>
          <a:prstGeom prst="downArrow">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5212079"/>
            <a:ext cx="5029200" cy="914400"/>
          </a:xfrm>
          <a:prstGeom prst="roundRect">
            <a:avLst/>
          </a:prstGeom>
          <a:solidFill>
            <a:srgbClr val="E3F2FD"/>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349239"/>
            <a:ext cx="4663440" cy="274320"/>
          </a:xfrm>
          <a:prstGeom prst="rect">
            <a:avLst/>
          </a:prstGeom>
          <a:noFill/>
        </p:spPr>
        <p:txBody>
          <a:bodyPr wrap="square">
            <a:spAutoFit/>
          </a:bodyPr>
          <a:lstStyle/>
          <a:p>
            <a:pPr algn="l">
              <a:defRPr sz="1400" b="1">
                <a:solidFill>
                  <a:srgbClr val="1E88E5"/>
                </a:solidFill>
                <a:latin typeface="Calibri"/>
              </a:defRPr>
            </a:pPr>
            <a:r>
              <a:t>Streamed Response</a:t>
            </a:r>
          </a:p>
        </p:txBody>
      </p:sp>
      <p:sp>
        <p:nvSpPr>
          <p:cNvPr id="20" name="TextBox 19"/>
          <p:cNvSpPr txBox="1"/>
          <p:nvPr/>
        </p:nvSpPr>
        <p:spPr>
          <a:xfrm>
            <a:off x="640080" y="5623559"/>
            <a:ext cx="4663440" cy="457200"/>
          </a:xfrm>
          <a:prstGeom prst="rect">
            <a:avLst/>
          </a:prstGeom>
          <a:noFill/>
        </p:spPr>
        <p:txBody>
          <a:bodyPr wrap="square">
            <a:spAutoFit/>
          </a:bodyPr>
          <a:lstStyle/>
          <a:p>
            <a:pPr algn="l">
              <a:defRPr sz="1100" b="0">
                <a:solidFill>
                  <a:srgbClr val="333333"/>
                </a:solidFill>
                <a:latin typeface="Calibri"/>
              </a:defRPr>
            </a:pPr>
            <a:r>
              <a:t>Real-time answer with</a:t>
            </a:r>
            <a:br/>
            <a:r>
              <a:t>context-aware explanations</a:t>
            </a:r>
          </a:p>
        </p:txBody>
      </p:sp>
      <p:sp>
        <p:nvSpPr>
          <p:cNvPr id="21" name="TextBox 20"/>
          <p:cNvSpPr txBox="1"/>
          <p:nvPr/>
        </p:nvSpPr>
        <p:spPr>
          <a:xfrm>
            <a:off x="5943600" y="1463040"/>
            <a:ext cx="5943600" cy="365760"/>
          </a:xfrm>
          <a:prstGeom prst="rect">
            <a:avLst/>
          </a:prstGeom>
          <a:noFill/>
        </p:spPr>
        <p:txBody>
          <a:bodyPr wrap="square">
            <a:spAutoFit/>
          </a:bodyPr>
          <a:lstStyle/>
          <a:p>
            <a:pPr algn="l">
              <a:defRPr sz="1800" b="1">
                <a:solidFill>
                  <a:srgbClr val="0D47A1"/>
                </a:solidFill>
                <a:latin typeface="Calibri"/>
              </a:defRPr>
            </a:pPr>
            <a:r>
              <a:t>Key Features</a:t>
            </a:r>
          </a:p>
        </p:txBody>
      </p:sp>
      <p:sp>
        <p:nvSpPr>
          <p:cNvPr id="22" name="Oval 21"/>
          <p:cNvSpPr/>
          <p:nvPr/>
        </p:nvSpPr>
        <p:spPr>
          <a:xfrm>
            <a:off x="5943600" y="2011680"/>
            <a:ext cx="182880" cy="18288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1920240"/>
            <a:ext cx="5303520" cy="274320"/>
          </a:xfrm>
          <a:prstGeom prst="rect">
            <a:avLst/>
          </a:prstGeom>
          <a:noFill/>
        </p:spPr>
        <p:txBody>
          <a:bodyPr wrap="square">
            <a:spAutoFit/>
          </a:bodyPr>
          <a:lstStyle/>
          <a:p>
            <a:pPr algn="l">
              <a:defRPr sz="1300" b="1">
                <a:solidFill>
                  <a:srgbClr val="43A047"/>
                </a:solidFill>
                <a:latin typeface="Calibri"/>
              </a:defRPr>
            </a:pPr>
            <a:r>
              <a:t>Privacy-First</a:t>
            </a:r>
          </a:p>
        </p:txBody>
      </p:sp>
      <p:sp>
        <p:nvSpPr>
          <p:cNvPr id="24" name="TextBox 23"/>
          <p:cNvSpPr txBox="1"/>
          <p:nvPr/>
        </p:nvSpPr>
        <p:spPr>
          <a:xfrm>
            <a:off x="6263640" y="2240280"/>
            <a:ext cx="5303520" cy="457200"/>
          </a:xfrm>
          <a:prstGeom prst="rect">
            <a:avLst/>
          </a:prstGeom>
          <a:noFill/>
        </p:spPr>
        <p:txBody>
          <a:bodyPr wrap="square">
            <a:spAutoFit/>
          </a:bodyPr>
          <a:lstStyle/>
          <a:p>
            <a:pPr algn="l">
              <a:defRPr sz="1100" b="0">
                <a:solidFill>
                  <a:srgbClr val="333333"/>
                </a:solidFill>
                <a:latin typeface="Calibri"/>
              </a:defRPr>
            </a:pPr>
            <a:r>
              <a:t>Runs 100% locally via Ollama — no data leaves your machine</a:t>
            </a:r>
          </a:p>
        </p:txBody>
      </p:sp>
      <p:sp>
        <p:nvSpPr>
          <p:cNvPr id="25" name="Oval 24"/>
          <p:cNvSpPr/>
          <p:nvPr/>
        </p:nvSpPr>
        <p:spPr>
          <a:xfrm>
            <a:off x="5943600" y="2880360"/>
            <a:ext cx="182880" cy="1828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2788920"/>
            <a:ext cx="5303520" cy="274320"/>
          </a:xfrm>
          <a:prstGeom prst="rect">
            <a:avLst/>
          </a:prstGeom>
          <a:noFill/>
        </p:spPr>
        <p:txBody>
          <a:bodyPr wrap="square">
            <a:spAutoFit/>
          </a:bodyPr>
          <a:lstStyle/>
          <a:p>
            <a:pPr algn="l">
              <a:defRPr sz="1300" b="1">
                <a:solidFill>
                  <a:srgbClr val="1E88E5"/>
                </a:solidFill>
                <a:latin typeface="Calibri"/>
              </a:defRPr>
            </a:pPr>
            <a:r>
              <a:t>Context-Aware</a:t>
            </a:r>
          </a:p>
        </p:txBody>
      </p:sp>
      <p:sp>
        <p:nvSpPr>
          <p:cNvPr id="27" name="TextBox 26"/>
          <p:cNvSpPr txBox="1"/>
          <p:nvPr/>
        </p:nvSpPr>
        <p:spPr>
          <a:xfrm>
            <a:off x="6263640" y="3108960"/>
            <a:ext cx="5303520" cy="457200"/>
          </a:xfrm>
          <a:prstGeom prst="rect">
            <a:avLst/>
          </a:prstGeom>
          <a:noFill/>
        </p:spPr>
        <p:txBody>
          <a:bodyPr wrap="square">
            <a:spAutoFit/>
          </a:bodyPr>
          <a:lstStyle/>
          <a:p>
            <a:pPr algn="l">
              <a:defRPr sz="1100" b="0">
                <a:solidFill>
                  <a:srgbClr val="333333"/>
                </a:solidFill>
                <a:latin typeface="Calibri"/>
              </a:defRPr>
            </a:pPr>
            <a:r>
              <a:t>Understands your analysis: Inc groups, AMR genes, outbreaks</a:t>
            </a:r>
          </a:p>
        </p:txBody>
      </p:sp>
      <p:sp>
        <p:nvSpPr>
          <p:cNvPr id="28" name="Oval 27"/>
          <p:cNvSpPr/>
          <p:nvPr/>
        </p:nvSpPr>
        <p:spPr>
          <a:xfrm>
            <a:off x="5943600" y="3749040"/>
            <a:ext cx="182880" cy="18288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3657600"/>
            <a:ext cx="5303520" cy="274320"/>
          </a:xfrm>
          <a:prstGeom prst="rect">
            <a:avLst/>
          </a:prstGeom>
          <a:noFill/>
        </p:spPr>
        <p:txBody>
          <a:bodyPr wrap="square">
            <a:spAutoFit/>
          </a:bodyPr>
          <a:lstStyle/>
          <a:p>
            <a:pPr algn="l">
              <a:defRPr sz="1300" b="1">
                <a:solidFill>
                  <a:srgbClr val="FB8C00"/>
                </a:solidFill>
                <a:latin typeface="Calibri"/>
              </a:defRPr>
            </a:pPr>
            <a:r>
              <a:t>Multiple Models</a:t>
            </a:r>
          </a:p>
        </p:txBody>
      </p:sp>
      <p:sp>
        <p:nvSpPr>
          <p:cNvPr id="30" name="TextBox 29"/>
          <p:cNvSpPr txBox="1"/>
          <p:nvPr/>
        </p:nvSpPr>
        <p:spPr>
          <a:xfrm>
            <a:off x="6263640" y="3977640"/>
            <a:ext cx="5303520" cy="457200"/>
          </a:xfrm>
          <a:prstGeom prst="rect">
            <a:avLst/>
          </a:prstGeom>
          <a:noFill/>
        </p:spPr>
        <p:txBody>
          <a:bodyPr wrap="square">
            <a:spAutoFit/>
          </a:bodyPr>
          <a:lstStyle/>
          <a:p>
            <a:pPr algn="l">
              <a:defRPr sz="1100" b="0">
                <a:solidFill>
                  <a:srgbClr val="333333"/>
                </a:solidFill>
                <a:latin typeface="Calibri"/>
              </a:defRPr>
            </a:pPr>
            <a:r>
              <a:t>Choose: llama3.2, mistral, mixtral, phi3, gemma2</a:t>
            </a:r>
          </a:p>
        </p:txBody>
      </p:sp>
      <p:sp>
        <p:nvSpPr>
          <p:cNvPr id="31" name="Oval 30"/>
          <p:cNvSpPr/>
          <p:nvPr/>
        </p:nvSpPr>
        <p:spPr>
          <a:xfrm>
            <a:off x="5943600" y="4617719"/>
            <a:ext cx="182880" cy="18288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526279"/>
            <a:ext cx="5303520" cy="274320"/>
          </a:xfrm>
          <a:prstGeom prst="rect">
            <a:avLst/>
          </a:prstGeom>
          <a:noFill/>
        </p:spPr>
        <p:txBody>
          <a:bodyPr wrap="square">
            <a:spAutoFit/>
          </a:bodyPr>
          <a:lstStyle/>
          <a:p>
            <a:pPr algn="l">
              <a:defRPr sz="1300" b="1">
                <a:solidFill>
                  <a:srgbClr val="8E24AA"/>
                </a:solidFill>
                <a:latin typeface="Calibri"/>
              </a:defRPr>
            </a:pPr>
            <a:r>
              <a:t>Streaming Chat</a:t>
            </a:r>
          </a:p>
        </p:txBody>
      </p:sp>
      <p:sp>
        <p:nvSpPr>
          <p:cNvPr id="33" name="TextBox 32"/>
          <p:cNvSpPr txBox="1"/>
          <p:nvPr/>
        </p:nvSpPr>
        <p:spPr>
          <a:xfrm>
            <a:off x="6263640" y="4846319"/>
            <a:ext cx="5303520" cy="457200"/>
          </a:xfrm>
          <a:prstGeom prst="rect">
            <a:avLst/>
          </a:prstGeom>
          <a:noFill/>
        </p:spPr>
        <p:txBody>
          <a:bodyPr wrap="square">
            <a:spAutoFit/>
          </a:bodyPr>
          <a:lstStyle/>
          <a:p>
            <a:pPr algn="l">
              <a:defRPr sz="1100" b="0">
                <a:solidFill>
                  <a:srgbClr val="333333"/>
                </a:solidFill>
                <a:latin typeface="Calibri"/>
              </a:defRPr>
            </a:pPr>
            <a:r>
              <a:t>Real-time response streaming for smooth UX</a:t>
            </a:r>
          </a:p>
        </p:txBody>
      </p:sp>
      <p:sp>
        <p:nvSpPr>
          <p:cNvPr id="34" name="Oval 33"/>
          <p:cNvSpPr/>
          <p:nvPr/>
        </p:nvSpPr>
        <p:spPr>
          <a:xfrm>
            <a:off x="5943600" y="5486400"/>
            <a:ext cx="182880" cy="1828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5394960"/>
            <a:ext cx="5303520" cy="274320"/>
          </a:xfrm>
          <a:prstGeom prst="rect">
            <a:avLst/>
          </a:prstGeom>
          <a:noFill/>
        </p:spPr>
        <p:txBody>
          <a:bodyPr wrap="square">
            <a:spAutoFit/>
          </a:bodyPr>
          <a:lstStyle/>
          <a:p>
            <a:pPr algn="l">
              <a:defRPr sz="1300" b="1">
                <a:solidFill>
                  <a:srgbClr val="009688"/>
                </a:solidFill>
                <a:latin typeface="Calibri"/>
              </a:defRPr>
            </a:pPr>
            <a:r>
              <a:t>Suggested Prompts</a:t>
            </a:r>
          </a:p>
        </p:txBody>
      </p:sp>
      <p:sp>
        <p:nvSpPr>
          <p:cNvPr id="36" name="TextBox 35"/>
          <p:cNvSpPr txBox="1"/>
          <p:nvPr/>
        </p:nvSpPr>
        <p:spPr>
          <a:xfrm>
            <a:off x="6263640" y="5715000"/>
            <a:ext cx="5303520" cy="457200"/>
          </a:xfrm>
          <a:prstGeom prst="rect">
            <a:avLst/>
          </a:prstGeom>
          <a:noFill/>
        </p:spPr>
        <p:txBody>
          <a:bodyPr wrap="square">
            <a:spAutoFit/>
          </a:bodyPr>
          <a:lstStyle/>
          <a:p>
            <a:pPr algn="l">
              <a:defRPr sz="1100" b="0">
                <a:solidFill>
                  <a:srgbClr val="333333"/>
                </a:solidFill>
                <a:latin typeface="Calibri"/>
              </a:defRPr>
            </a:pPr>
            <a:r>
              <a:t>Pre-written questions to get started quickly</a:t>
            </a:r>
          </a:p>
        </p:txBody>
      </p:sp>
      <p:sp>
        <p:nvSpPr>
          <p:cNvPr id="37" name="Rounded Rectangle 36"/>
          <p:cNvSpPr/>
          <p:nvPr/>
        </p:nvSpPr>
        <p:spPr>
          <a:xfrm>
            <a:off x="5943600" y="5486400"/>
            <a:ext cx="5760720" cy="1097280"/>
          </a:xfrm>
          <a:prstGeom prst="roundRect">
            <a:avLst/>
          </a:prstGeom>
          <a:solidFill>
            <a:srgbClr val="F3E5F5"/>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5577840"/>
            <a:ext cx="5486400" cy="274320"/>
          </a:xfrm>
          <a:prstGeom prst="rect">
            <a:avLst/>
          </a:prstGeom>
          <a:noFill/>
        </p:spPr>
        <p:txBody>
          <a:bodyPr wrap="square">
            <a:spAutoFit/>
          </a:bodyPr>
          <a:lstStyle/>
          <a:p>
            <a:pPr algn="l">
              <a:defRPr sz="1200" b="1">
                <a:solidFill>
                  <a:srgbClr val="8E24AA"/>
                </a:solidFill>
                <a:latin typeface="Calibri"/>
              </a:defRPr>
            </a:pPr>
            <a:r>
              <a:t>Example Questions:</a:t>
            </a:r>
          </a:p>
        </p:txBody>
      </p:sp>
      <p:sp>
        <p:nvSpPr>
          <p:cNvPr id="39" name="TextBox 38"/>
          <p:cNvSpPr txBox="1"/>
          <p:nvPr/>
        </p:nvSpPr>
        <p:spPr>
          <a:xfrm>
            <a:off x="6126480" y="5852160"/>
            <a:ext cx="5394960" cy="640080"/>
          </a:xfrm>
          <a:prstGeom prst="rect">
            <a:avLst/>
          </a:prstGeom>
          <a:noFill/>
        </p:spPr>
        <p:txBody>
          <a:bodyPr wrap="square">
            <a:spAutoFit/>
          </a:bodyPr>
          <a:lstStyle/>
          <a:p>
            <a:pPr algn="l">
              <a:defRPr sz="1000" b="0">
                <a:solidFill>
                  <a:srgbClr val="333333"/>
                </a:solidFill>
                <a:latin typeface="Calibri"/>
              </a:defRPr>
            </a:pPr>
            <a:r>
              <a:t>"Summarize my results" • "Which plasmids are high-risk?" • "Explain the AMR genes found"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Unknown/Novel Inc Type Detection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Confidence-based flagging prevents misclassification</a:t>
            </a:r>
          </a:p>
        </p:txBody>
      </p:sp>
      <p:sp>
        <p:nvSpPr>
          <p:cNvPr id="5" name="Rounded Rectangle 4"/>
          <p:cNvSpPr/>
          <p:nvPr/>
        </p:nvSpPr>
        <p:spPr>
          <a:xfrm>
            <a:off x="457200" y="1463040"/>
            <a:ext cx="5486400" cy="1280160"/>
          </a:xfrm>
          <a:prstGeom prst="roundRect">
            <a:avLst/>
          </a:prstGeom>
          <a:solidFill>
            <a:srgbClr val="FFEBEE"/>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120640" cy="274320"/>
          </a:xfrm>
          <a:prstGeom prst="rect">
            <a:avLst/>
          </a:prstGeom>
          <a:noFill/>
        </p:spPr>
        <p:txBody>
          <a:bodyPr wrap="square">
            <a:spAutoFit/>
          </a:bodyPr>
          <a:lstStyle/>
          <a:p>
            <a:pPr algn="l">
              <a:defRPr sz="1400" b="1">
                <a:solidFill>
                  <a:srgbClr val="E53935"/>
                </a:solidFill>
                <a:latin typeface="Calibri"/>
              </a:defRPr>
            </a:pPr>
            <a:r>
              <a:t>The Problem</a:t>
            </a:r>
          </a:p>
        </p:txBody>
      </p:sp>
      <p:sp>
        <p:nvSpPr>
          <p:cNvPr id="7" name="TextBox 6"/>
          <p:cNvSpPr txBox="1"/>
          <p:nvPr/>
        </p:nvSpPr>
        <p:spPr>
          <a:xfrm>
            <a:off x="640080" y="1874519"/>
            <a:ext cx="5120640" cy="822960"/>
          </a:xfrm>
          <a:prstGeom prst="rect">
            <a:avLst/>
          </a:prstGeom>
          <a:noFill/>
        </p:spPr>
        <p:txBody>
          <a:bodyPr wrap="square">
            <a:spAutoFit/>
          </a:bodyPr>
          <a:lstStyle/>
          <a:p>
            <a:pPr algn="l">
              <a:defRPr sz="1100" b="0">
                <a:solidFill>
                  <a:srgbClr val="333333"/>
                </a:solidFill>
                <a:latin typeface="Calibri"/>
              </a:defRPr>
            </a:pPr>
            <a:r>
              <a:t>KNN always assigns to the nearest class, even if the match is poor.</a:t>
            </a:r>
            <a:br/>
            <a:r>
              <a:t>Plasmids with Inc types not in training data (IncL, IncU, novel)</a:t>
            </a:r>
            <a:br/>
            <a:r>
              <a:t>get misclassified with no warning.</a:t>
            </a:r>
          </a:p>
        </p:txBody>
      </p:sp>
      <p:sp>
        <p:nvSpPr>
          <p:cNvPr id="8" name="Rounded Rectangle 7"/>
          <p:cNvSpPr/>
          <p:nvPr/>
        </p:nvSpPr>
        <p:spPr>
          <a:xfrm>
            <a:off x="457200" y="2926080"/>
            <a:ext cx="5486400" cy="1280160"/>
          </a:xfrm>
          <a:prstGeom prst="roundRect">
            <a:avLst/>
          </a:prstGeom>
          <a:solidFill>
            <a:srgbClr val="E8F5E9"/>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5120640" cy="274320"/>
          </a:xfrm>
          <a:prstGeom prst="rect">
            <a:avLst/>
          </a:prstGeom>
          <a:noFill/>
        </p:spPr>
        <p:txBody>
          <a:bodyPr wrap="square">
            <a:spAutoFit/>
          </a:bodyPr>
          <a:lstStyle/>
          <a:p>
            <a:pPr algn="l">
              <a:defRPr sz="1400" b="1">
                <a:solidFill>
                  <a:srgbClr val="43A047"/>
                </a:solidFill>
                <a:latin typeface="Calibri"/>
              </a:defRPr>
            </a:pPr>
            <a:r>
              <a:t>The Solution</a:t>
            </a:r>
          </a:p>
        </p:txBody>
      </p:sp>
      <p:sp>
        <p:nvSpPr>
          <p:cNvPr id="10" name="TextBox 9"/>
          <p:cNvSpPr txBox="1"/>
          <p:nvPr/>
        </p:nvSpPr>
        <p:spPr>
          <a:xfrm>
            <a:off x="640080" y="3337560"/>
            <a:ext cx="5120640" cy="822960"/>
          </a:xfrm>
          <a:prstGeom prst="rect">
            <a:avLst/>
          </a:prstGeom>
          <a:noFill/>
        </p:spPr>
        <p:txBody>
          <a:bodyPr wrap="square">
            <a:spAutoFit/>
          </a:bodyPr>
          <a:lstStyle/>
          <a:p>
            <a:pPr algn="l">
              <a:defRPr sz="1100" b="0">
                <a:solidFill>
                  <a:srgbClr val="333333"/>
                </a:solidFill>
                <a:latin typeface="Calibri"/>
              </a:defRPr>
            </a:pPr>
            <a:r>
              <a:t>Confidence threshold (40%): predictions below this are flagged</a:t>
            </a:r>
            <a:br/>
            <a:r>
              <a:t>as "Unknown/Novel" instead of being forced into a wrong class.</a:t>
            </a:r>
            <a:br/>
            <a:r>
              <a:t>Top 5 nearest candidates shown for manual verification.</a:t>
            </a:r>
          </a:p>
        </p:txBody>
      </p:sp>
      <p:sp>
        <p:nvSpPr>
          <p:cNvPr id="11" name="TextBox 10"/>
          <p:cNvSpPr txBox="1"/>
          <p:nvPr/>
        </p:nvSpPr>
        <p:spPr>
          <a:xfrm>
            <a:off x="457200" y="4480560"/>
            <a:ext cx="5486400" cy="274320"/>
          </a:xfrm>
          <a:prstGeom prst="rect">
            <a:avLst/>
          </a:prstGeom>
          <a:noFill/>
        </p:spPr>
        <p:txBody>
          <a:bodyPr wrap="square">
            <a:spAutoFit/>
          </a:bodyPr>
          <a:lstStyle/>
          <a:p>
            <a:pPr algn="l">
              <a:defRPr sz="1400" b="1">
                <a:solidFill>
                  <a:srgbClr val="0D47A1"/>
                </a:solidFill>
                <a:latin typeface="Calibri"/>
              </a:defRPr>
            </a:pPr>
            <a:r>
              <a:t>Classification Flow</a:t>
            </a:r>
          </a:p>
        </p:txBody>
      </p:sp>
      <p:sp>
        <p:nvSpPr>
          <p:cNvPr id="12" name="Rounded Rectangle 11"/>
          <p:cNvSpPr/>
          <p:nvPr/>
        </p:nvSpPr>
        <p:spPr>
          <a:xfrm>
            <a:off x="457200" y="4846320"/>
            <a:ext cx="1645920" cy="548640"/>
          </a:xfrm>
          <a:prstGeom prst="roundRect">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983480"/>
            <a:ext cx="1645920" cy="274320"/>
          </a:xfrm>
          <a:prstGeom prst="rect">
            <a:avLst/>
          </a:prstGeom>
          <a:noFill/>
        </p:spPr>
        <p:txBody>
          <a:bodyPr wrap="square">
            <a:spAutoFit/>
          </a:bodyPr>
          <a:lstStyle/>
          <a:p>
            <a:pPr algn="ctr">
              <a:defRPr sz="1000" b="1">
                <a:solidFill>
                  <a:srgbClr val="FFFFFF"/>
                </a:solidFill>
                <a:latin typeface="Calibri"/>
              </a:defRPr>
            </a:pPr>
            <a:r>
              <a:t>Query Sequence</a:t>
            </a:r>
          </a:p>
        </p:txBody>
      </p:sp>
      <p:sp>
        <p:nvSpPr>
          <p:cNvPr id="14" name="Right Arrow 13"/>
          <p:cNvSpPr/>
          <p:nvPr/>
        </p:nvSpPr>
        <p:spPr>
          <a:xfrm>
            <a:off x="2103120" y="4983480"/>
            <a:ext cx="182880" cy="274320"/>
          </a:xfrm>
          <a:prstGeom prst="rightArrow">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86000" y="4846320"/>
            <a:ext cx="1645920" cy="54864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4983480"/>
            <a:ext cx="1645920" cy="274320"/>
          </a:xfrm>
          <a:prstGeom prst="rect">
            <a:avLst/>
          </a:prstGeom>
          <a:noFill/>
        </p:spPr>
        <p:txBody>
          <a:bodyPr wrap="square">
            <a:spAutoFit/>
          </a:bodyPr>
          <a:lstStyle/>
          <a:p>
            <a:pPr algn="ctr">
              <a:defRPr sz="1000" b="1">
                <a:solidFill>
                  <a:srgbClr val="FFFFFF"/>
                </a:solidFill>
                <a:latin typeface="Calibri"/>
              </a:defRPr>
            </a:pPr>
            <a:r>
              <a:t>KNN Classifier</a:t>
            </a:r>
          </a:p>
        </p:txBody>
      </p:sp>
      <p:sp>
        <p:nvSpPr>
          <p:cNvPr id="17" name="Right Arrow 16"/>
          <p:cNvSpPr/>
          <p:nvPr/>
        </p:nvSpPr>
        <p:spPr>
          <a:xfrm>
            <a:off x="3931920" y="498348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0" y="4846320"/>
            <a:ext cx="1645920" cy="54864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4983480"/>
            <a:ext cx="1645920" cy="274320"/>
          </a:xfrm>
          <a:prstGeom prst="rect">
            <a:avLst/>
          </a:prstGeom>
          <a:noFill/>
        </p:spPr>
        <p:txBody>
          <a:bodyPr wrap="square">
            <a:spAutoFit/>
          </a:bodyPr>
          <a:lstStyle/>
          <a:p>
            <a:pPr algn="ctr">
              <a:defRPr sz="1000" b="1">
                <a:solidFill>
                  <a:srgbClr val="FFFFFF"/>
                </a:solidFill>
                <a:latin typeface="Calibri"/>
              </a:defRPr>
            </a:pPr>
            <a:r>
              <a:t>Confidence Check</a:t>
            </a:r>
          </a:p>
        </p:txBody>
      </p:sp>
      <p:sp>
        <p:nvSpPr>
          <p:cNvPr id="20" name="TextBox 19"/>
          <p:cNvSpPr txBox="1"/>
          <p:nvPr/>
        </p:nvSpPr>
        <p:spPr>
          <a:xfrm>
            <a:off x="4846320" y="4709160"/>
            <a:ext cx="1371600" cy="274320"/>
          </a:xfrm>
          <a:prstGeom prst="rect">
            <a:avLst/>
          </a:prstGeom>
          <a:noFill/>
        </p:spPr>
        <p:txBody>
          <a:bodyPr wrap="square">
            <a:spAutoFit/>
          </a:bodyPr>
          <a:lstStyle/>
          <a:p>
            <a:pPr algn="l">
              <a:defRPr sz="1100" b="1">
                <a:solidFill>
                  <a:srgbClr val="43A047"/>
                </a:solidFill>
                <a:latin typeface="Calibri"/>
              </a:defRPr>
            </a:pPr>
            <a:r>
              <a:t>≥40%</a:t>
            </a:r>
          </a:p>
        </p:txBody>
      </p:sp>
      <p:sp>
        <p:nvSpPr>
          <p:cNvPr id="21" name="Rounded Rectangle 20"/>
          <p:cNvSpPr/>
          <p:nvPr/>
        </p:nvSpPr>
        <p:spPr>
          <a:xfrm>
            <a:off x="4846320" y="4983480"/>
            <a:ext cx="1371600" cy="45720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5074920"/>
            <a:ext cx="1371600" cy="274320"/>
          </a:xfrm>
          <a:prstGeom prst="rect">
            <a:avLst/>
          </a:prstGeom>
          <a:noFill/>
        </p:spPr>
        <p:txBody>
          <a:bodyPr wrap="square">
            <a:spAutoFit/>
          </a:bodyPr>
          <a:lstStyle/>
          <a:p>
            <a:pPr algn="ctr">
              <a:defRPr sz="1000" b="1">
                <a:solidFill>
                  <a:srgbClr val="FFFFFF"/>
                </a:solidFill>
                <a:latin typeface="Calibri"/>
              </a:defRPr>
            </a:pPr>
            <a:r>
              <a:t>Assigned Inc</a:t>
            </a:r>
          </a:p>
        </p:txBody>
      </p:sp>
      <p:sp>
        <p:nvSpPr>
          <p:cNvPr id="23" name="TextBox 22"/>
          <p:cNvSpPr txBox="1"/>
          <p:nvPr/>
        </p:nvSpPr>
        <p:spPr>
          <a:xfrm>
            <a:off x="4846320" y="5532120"/>
            <a:ext cx="1371600" cy="274320"/>
          </a:xfrm>
          <a:prstGeom prst="rect">
            <a:avLst/>
          </a:prstGeom>
          <a:noFill/>
        </p:spPr>
        <p:txBody>
          <a:bodyPr wrap="square">
            <a:spAutoFit/>
          </a:bodyPr>
          <a:lstStyle/>
          <a:p>
            <a:pPr algn="l">
              <a:defRPr sz="1100" b="1">
                <a:solidFill>
                  <a:srgbClr val="E53935"/>
                </a:solidFill>
                <a:latin typeface="Calibri"/>
              </a:defRPr>
            </a:pPr>
            <a:r>
              <a:t>&lt;40%</a:t>
            </a:r>
          </a:p>
        </p:txBody>
      </p:sp>
      <p:sp>
        <p:nvSpPr>
          <p:cNvPr id="24" name="Rounded Rectangle 23"/>
          <p:cNvSpPr/>
          <p:nvPr/>
        </p:nvSpPr>
        <p:spPr>
          <a:xfrm>
            <a:off x="4846320" y="5806440"/>
            <a:ext cx="1371600" cy="45720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5897880"/>
            <a:ext cx="1371600" cy="274320"/>
          </a:xfrm>
          <a:prstGeom prst="rect">
            <a:avLst/>
          </a:prstGeom>
          <a:noFill/>
        </p:spPr>
        <p:txBody>
          <a:bodyPr wrap="square">
            <a:spAutoFit/>
          </a:bodyPr>
          <a:lstStyle/>
          <a:p>
            <a:pPr algn="ctr">
              <a:defRPr sz="1000" b="1">
                <a:solidFill>
                  <a:srgbClr val="FFFFFF"/>
                </a:solidFill>
                <a:latin typeface="Calibri"/>
              </a:defRPr>
            </a:pPr>
            <a:r>
              <a:t>Unknown/Novel</a:t>
            </a:r>
          </a:p>
        </p:txBody>
      </p:sp>
      <p:sp>
        <p:nvSpPr>
          <p:cNvPr id="26" name="TextBox 25"/>
          <p:cNvSpPr txBox="1"/>
          <p:nvPr/>
        </p:nvSpPr>
        <p:spPr>
          <a:xfrm>
            <a:off x="6400800" y="1463040"/>
            <a:ext cx="5486400" cy="365760"/>
          </a:xfrm>
          <a:prstGeom prst="rect">
            <a:avLst/>
          </a:prstGeom>
          <a:noFill/>
        </p:spPr>
        <p:txBody>
          <a:bodyPr wrap="square">
            <a:spAutoFit/>
          </a:bodyPr>
          <a:lstStyle/>
          <a:p>
            <a:pPr algn="l">
              <a:defRPr sz="1800" b="1">
                <a:solidFill>
                  <a:srgbClr val="0D47A1"/>
                </a:solidFill>
                <a:latin typeface="Calibri"/>
              </a:defRPr>
            </a:pPr>
            <a:r>
              <a:t>Output Example</a:t>
            </a:r>
          </a:p>
        </p:txBody>
      </p:sp>
      <p:sp>
        <p:nvSpPr>
          <p:cNvPr id="27" name="Rounded Rectangle 26"/>
          <p:cNvSpPr/>
          <p:nvPr/>
        </p:nvSpPr>
        <p:spPr>
          <a:xfrm>
            <a:off x="6400800" y="1920240"/>
            <a:ext cx="5486400" cy="2560320"/>
          </a:xfrm>
          <a:prstGeom prst="roundRect">
            <a:avLst/>
          </a:prstGeom>
          <a:solidFill>
            <a:srgbClr val="ECEFF1"/>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920240"/>
            <a:ext cx="5486400" cy="36576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1965960"/>
            <a:ext cx="1097280" cy="274320"/>
          </a:xfrm>
          <a:prstGeom prst="rect">
            <a:avLst/>
          </a:prstGeom>
          <a:noFill/>
        </p:spPr>
        <p:txBody>
          <a:bodyPr wrap="square">
            <a:spAutoFit/>
          </a:bodyPr>
          <a:lstStyle/>
          <a:p>
            <a:pPr algn="ctr">
              <a:defRPr sz="1000" b="1">
                <a:solidFill>
                  <a:srgbClr val="FFFFFF"/>
                </a:solidFill>
                <a:latin typeface="Calibri"/>
              </a:defRPr>
            </a:pPr>
            <a:r>
              <a:t>Plasmid</a:t>
            </a:r>
          </a:p>
        </p:txBody>
      </p:sp>
      <p:sp>
        <p:nvSpPr>
          <p:cNvPr id="30" name="TextBox 29"/>
          <p:cNvSpPr txBox="1"/>
          <p:nvPr/>
        </p:nvSpPr>
        <p:spPr>
          <a:xfrm>
            <a:off x="7589520" y="1965960"/>
            <a:ext cx="1097280" cy="274320"/>
          </a:xfrm>
          <a:prstGeom prst="rect">
            <a:avLst/>
          </a:prstGeom>
          <a:noFill/>
        </p:spPr>
        <p:txBody>
          <a:bodyPr wrap="square">
            <a:spAutoFit/>
          </a:bodyPr>
          <a:lstStyle/>
          <a:p>
            <a:pPr algn="ctr">
              <a:defRPr sz="1000" b="1">
                <a:solidFill>
                  <a:srgbClr val="FFFFFF"/>
                </a:solidFill>
                <a:latin typeface="Calibri"/>
              </a:defRPr>
            </a:pPr>
            <a:r>
              <a:t>Inc Type</a:t>
            </a:r>
          </a:p>
        </p:txBody>
      </p:sp>
      <p:sp>
        <p:nvSpPr>
          <p:cNvPr id="31" name="TextBox 30"/>
          <p:cNvSpPr txBox="1"/>
          <p:nvPr/>
        </p:nvSpPr>
        <p:spPr>
          <a:xfrm>
            <a:off x="8686800" y="1965960"/>
            <a:ext cx="640080" cy="274320"/>
          </a:xfrm>
          <a:prstGeom prst="rect">
            <a:avLst/>
          </a:prstGeom>
          <a:noFill/>
        </p:spPr>
        <p:txBody>
          <a:bodyPr wrap="square">
            <a:spAutoFit/>
          </a:bodyPr>
          <a:lstStyle/>
          <a:p>
            <a:pPr algn="ctr">
              <a:defRPr sz="1000" b="1">
                <a:solidFill>
                  <a:srgbClr val="FFFFFF"/>
                </a:solidFill>
                <a:latin typeface="Calibri"/>
              </a:defRPr>
            </a:pPr>
            <a:r>
              <a:t>Conf.</a:t>
            </a:r>
          </a:p>
        </p:txBody>
      </p:sp>
      <p:sp>
        <p:nvSpPr>
          <p:cNvPr id="32" name="TextBox 31"/>
          <p:cNvSpPr txBox="1"/>
          <p:nvPr/>
        </p:nvSpPr>
        <p:spPr>
          <a:xfrm>
            <a:off x="9326880" y="1965960"/>
            <a:ext cx="2651760" cy="274320"/>
          </a:xfrm>
          <a:prstGeom prst="rect">
            <a:avLst/>
          </a:prstGeom>
          <a:noFill/>
        </p:spPr>
        <p:txBody>
          <a:bodyPr wrap="square">
            <a:spAutoFit/>
          </a:bodyPr>
          <a:lstStyle/>
          <a:p>
            <a:pPr algn="ctr">
              <a:defRPr sz="1000" b="1">
                <a:solidFill>
                  <a:srgbClr val="FFFFFF"/>
                </a:solidFill>
                <a:latin typeface="Calibri"/>
              </a:defRPr>
            </a:pPr>
            <a:r>
              <a:t>Top 5 Candidates</a:t>
            </a:r>
          </a:p>
        </p:txBody>
      </p:sp>
      <p:sp>
        <p:nvSpPr>
          <p:cNvPr id="33" name="Rounded Rectangle 32"/>
          <p:cNvSpPr/>
          <p:nvPr/>
        </p:nvSpPr>
        <p:spPr>
          <a:xfrm>
            <a:off x="6400800" y="2331720"/>
            <a:ext cx="548640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2423160"/>
            <a:ext cx="1097280" cy="228600"/>
          </a:xfrm>
          <a:prstGeom prst="rect">
            <a:avLst/>
          </a:prstGeom>
          <a:noFill/>
        </p:spPr>
        <p:txBody>
          <a:bodyPr wrap="square">
            <a:spAutoFit/>
          </a:bodyPr>
          <a:lstStyle/>
          <a:p>
            <a:pPr algn="ctr">
              <a:defRPr sz="900" b="0">
                <a:solidFill>
                  <a:srgbClr val="333333"/>
                </a:solidFill>
                <a:latin typeface="Calibri"/>
              </a:defRPr>
            </a:pPr>
            <a:r>
              <a:t>pBR322</a:t>
            </a:r>
          </a:p>
        </p:txBody>
      </p:sp>
      <p:sp>
        <p:nvSpPr>
          <p:cNvPr id="35" name="TextBox 34"/>
          <p:cNvSpPr txBox="1"/>
          <p:nvPr/>
        </p:nvSpPr>
        <p:spPr>
          <a:xfrm>
            <a:off x="7589520" y="2423160"/>
            <a:ext cx="1097280" cy="228600"/>
          </a:xfrm>
          <a:prstGeom prst="rect">
            <a:avLst/>
          </a:prstGeom>
          <a:noFill/>
        </p:spPr>
        <p:txBody>
          <a:bodyPr wrap="square">
            <a:spAutoFit/>
          </a:bodyPr>
          <a:lstStyle/>
          <a:p>
            <a:pPr algn="ctr">
              <a:defRPr sz="900" b="0">
                <a:solidFill>
                  <a:srgbClr val="333333"/>
                </a:solidFill>
                <a:latin typeface="Calibri"/>
              </a:defRPr>
            </a:pPr>
            <a:r>
              <a:t>IncFII</a:t>
            </a:r>
          </a:p>
        </p:txBody>
      </p:sp>
      <p:sp>
        <p:nvSpPr>
          <p:cNvPr id="36" name="TextBox 35"/>
          <p:cNvSpPr txBox="1"/>
          <p:nvPr/>
        </p:nvSpPr>
        <p:spPr>
          <a:xfrm>
            <a:off x="8686800" y="2423160"/>
            <a:ext cx="640080" cy="228600"/>
          </a:xfrm>
          <a:prstGeom prst="rect">
            <a:avLst/>
          </a:prstGeom>
          <a:noFill/>
        </p:spPr>
        <p:txBody>
          <a:bodyPr wrap="square">
            <a:spAutoFit/>
          </a:bodyPr>
          <a:lstStyle/>
          <a:p>
            <a:pPr algn="ctr">
              <a:defRPr sz="900" b="0">
                <a:solidFill>
                  <a:srgbClr val="43A047"/>
                </a:solidFill>
                <a:latin typeface="Calibri"/>
              </a:defRPr>
            </a:pPr>
            <a:r>
              <a:t>92%</a:t>
            </a:r>
          </a:p>
        </p:txBody>
      </p:sp>
      <p:sp>
        <p:nvSpPr>
          <p:cNvPr id="37" name="TextBox 36"/>
          <p:cNvSpPr txBox="1"/>
          <p:nvPr/>
        </p:nvSpPr>
        <p:spPr>
          <a:xfrm>
            <a:off x="9326880" y="2423160"/>
            <a:ext cx="2651760" cy="228600"/>
          </a:xfrm>
          <a:prstGeom prst="rect">
            <a:avLst/>
          </a:prstGeom>
          <a:noFill/>
        </p:spPr>
        <p:txBody>
          <a:bodyPr wrap="square">
            <a:spAutoFit/>
          </a:bodyPr>
          <a:lstStyle/>
          <a:p>
            <a:pPr algn="ctr">
              <a:defRPr sz="900" b="0">
                <a:solidFill>
                  <a:srgbClr val="333333"/>
                </a:solidFill>
                <a:latin typeface="Calibri"/>
              </a:defRPr>
            </a:pPr>
            <a:r>
              <a:t>IncFII (92%), IncN (5%), IncX1 (2%)...</a:t>
            </a:r>
          </a:p>
        </p:txBody>
      </p:sp>
      <p:sp>
        <p:nvSpPr>
          <p:cNvPr id="38" name="Rounded Rectangle 37"/>
          <p:cNvSpPr/>
          <p:nvPr/>
        </p:nvSpPr>
        <p:spPr>
          <a:xfrm>
            <a:off x="6400800" y="2788920"/>
            <a:ext cx="5486400" cy="4114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92240" y="2880360"/>
            <a:ext cx="1097280" cy="228600"/>
          </a:xfrm>
          <a:prstGeom prst="rect">
            <a:avLst/>
          </a:prstGeom>
          <a:noFill/>
        </p:spPr>
        <p:txBody>
          <a:bodyPr wrap="square">
            <a:spAutoFit/>
          </a:bodyPr>
          <a:lstStyle/>
          <a:p>
            <a:pPr algn="ctr">
              <a:defRPr sz="900" b="0">
                <a:solidFill>
                  <a:srgbClr val="333333"/>
                </a:solidFill>
                <a:latin typeface="Calibri"/>
              </a:defRPr>
            </a:pPr>
            <a:r>
              <a:t>pXYZ_novel</a:t>
            </a:r>
          </a:p>
        </p:txBody>
      </p:sp>
      <p:sp>
        <p:nvSpPr>
          <p:cNvPr id="40" name="TextBox 39"/>
          <p:cNvSpPr txBox="1"/>
          <p:nvPr/>
        </p:nvSpPr>
        <p:spPr>
          <a:xfrm>
            <a:off x="7589520" y="2880360"/>
            <a:ext cx="1097280" cy="228600"/>
          </a:xfrm>
          <a:prstGeom prst="rect">
            <a:avLst/>
          </a:prstGeom>
          <a:noFill/>
        </p:spPr>
        <p:txBody>
          <a:bodyPr wrap="square">
            <a:spAutoFit/>
          </a:bodyPr>
          <a:lstStyle/>
          <a:p>
            <a:pPr algn="ctr">
              <a:defRPr sz="900" b="0">
                <a:solidFill>
                  <a:srgbClr val="E53935"/>
                </a:solidFill>
                <a:latin typeface="Calibri"/>
              </a:defRPr>
            </a:pPr>
            <a:r>
              <a:t>Unknown</a:t>
            </a:r>
          </a:p>
        </p:txBody>
      </p:sp>
      <p:sp>
        <p:nvSpPr>
          <p:cNvPr id="41" name="TextBox 40"/>
          <p:cNvSpPr txBox="1"/>
          <p:nvPr/>
        </p:nvSpPr>
        <p:spPr>
          <a:xfrm>
            <a:off x="8686800" y="2880360"/>
            <a:ext cx="640080" cy="228600"/>
          </a:xfrm>
          <a:prstGeom prst="rect">
            <a:avLst/>
          </a:prstGeom>
          <a:noFill/>
        </p:spPr>
        <p:txBody>
          <a:bodyPr wrap="square">
            <a:spAutoFit/>
          </a:bodyPr>
          <a:lstStyle/>
          <a:p>
            <a:pPr algn="ctr">
              <a:defRPr sz="900" b="0">
                <a:solidFill>
                  <a:srgbClr val="E53935"/>
                </a:solidFill>
                <a:latin typeface="Calibri"/>
              </a:defRPr>
            </a:pPr>
            <a:r>
              <a:t>35%</a:t>
            </a:r>
          </a:p>
        </p:txBody>
      </p:sp>
      <p:sp>
        <p:nvSpPr>
          <p:cNvPr id="42" name="TextBox 41"/>
          <p:cNvSpPr txBox="1"/>
          <p:nvPr/>
        </p:nvSpPr>
        <p:spPr>
          <a:xfrm>
            <a:off x="9326880" y="2880360"/>
            <a:ext cx="2651760" cy="228600"/>
          </a:xfrm>
          <a:prstGeom prst="rect">
            <a:avLst/>
          </a:prstGeom>
          <a:noFill/>
        </p:spPr>
        <p:txBody>
          <a:bodyPr wrap="square">
            <a:spAutoFit/>
          </a:bodyPr>
          <a:lstStyle/>
          <a:p>
            <a:pPr algn="ctr">
              <a:defRPr sz="900" b="0">
                <a:solidFill>
                  <a:srgbClr val="333333"/>
                </a:solidFill>
                <a:latin typeface="Calibri"/>
              </a:defRPr>
            </a:pPr>
            <a:r>
              <a:t>IncFII (35%), IncN (28%), IncX1 (18%)...</a:t>
            </a:r>
          </a:p>
        </p:txBody>
      </p:sp>
      <p:sp>
        <p:nvSpPr>
          <p:cNvPr id="43" name="Rounded Rectangle 42"/>
          <p:cNvSpPr/>
          <p:nvPr/>
        </p:nvSpPr>
        <p:spPr>
          <a:xfrm>
            <a:off x="6400800" y="3246120"/>
            <a:ext cx="5486400" cy="4114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3337560"/>
            <a:ext cx="1097280" cy="228600"/>
          </a:xfrm>
          <a:prstGeom prst="rect">
            <a:avLst/>
          </a:prstGeom>
          <a:noFill/>
        </p:spPr>
        <p:txBody>
          <a:bodyPr wrap="square">
            <a:spAutoFit/>
          </a:bodyPr>
          <a:lstStyle/>
          <a:p>
            <a:pPr algn="ctr">
              <a:defRPr sz="900" b="0">
                <a:solidFill>
                  <a:srgbClr val="333333"/>
                </a:solidFill>
                <a:latin typeface="Calibri"/>
              </a:defRPr>
            </a:pPr>
            <a:r>
              <a:t>pABC_low</a:t>
            </a:r>
          </a:p>
        </p:txBody>
      </p:sp>
      <p:sp>
        <p:nvSpPr>
          <p:cNvPr id="45" name="TextBox 44"/>
          <p:cNvSpPr txBox="1"/>
          <p:nvPr/>
        </p:nvSpPr>
        <p:spPr>
          <a:xfrm>
            <a:off x="7589520" y="3337560"/>
            <a:ext cx="1097280" cy="228600"/>
          </a:xfrm>
          <a:prstGeom prst="rect">
            <a:avLst/>
          </a:prstGeom>
          <a:noFill/>
        </p:spPr>
        <p:txBody>
          <a:bodyPr wrap="square">
            <a:spAutoFit/>
          </a:bodyPr>
          <a:lstStyle/>
          <a:p>
            <a:pPr algn="ctr">
              <a:defRPr sz="900" b="0">
                <a:solidFill>
                  <a:srgbClr val="E53935"/>
                </a:solidFill>
                <a:latin typeface="Calibri"/>
              </a:defRPr>
            </a:pPr>
            <a:r>
              <a:t>Unknown</a:t>
            </a:r>
          </a:p>
        </p:txBody>
      </p:sp>
      <p:sp>
        <p:nvSpPr>
          <p:cNvPr id="46" name="TextBox 45"/>
          <p:cNvSpPr txBox="1"/>
          <p:nvPr/>
        </p:nvSpPr>
        <p:spPr>
          <a:xfrm>
            <a:off x="8686800" y="3337560"/>
            <a:ext cx="640080" cy="228600"/>
          </a:xfrm>
          <a:prstGeom prst="rect">
            <a:avLst/>
          </a:prstGeom>
          <a:noFill/>
        </p:spPr>
        <p:txBody>
          <a:bodyPr wrap="square">
            <a:spAutoFit/>
          </a:bodyPr>
          <a:lstStyle/>
          <a:p>
            <a:pPr algn="ctr">
              <a:defRPr sz="900" b="0">
                <a:solidFill>
                  <a:srgbClr val="FB8C00"/>
                </a:solidFill>
                <a:latin typeface="Calibri"/>
              </a:defRPr>
            </a:pPr>
            <a:r>
              <a:t>41%</a:t>
            </a:r>
          </a:p>
        </p:txBody>
      </p:sp>
      <p:sp>
        <p:nvSpPr>
          <p:cNvPr id="47" name="TextBox 46"/>
          <p:cNvSpPr txBox="1"/>
          <p:nvPr/>
        </p:nvSpPr>
        <p:spPr>
          <a:xfrm>
            <a:off x="9326880" y="3337560"/>
            <a:ext cx="2651760" cy="228600"/>
          </a:xfrm>
          <a:prstGeom prst="rect">
            <a:avLst/>
          </a:prstGeom>
          <a:noFill/>
        </p:spPr>
        <p:txBody>
          <a:bodyPr wrap="square">
            <a:spAutoFit/>
          </a:bodyPr>
          <a:lstStyle/>
          <a:p>
            <a:pPr algn="ctr">
              <a:defRPr sz="900" b="0">
                <a:solidFill>
                  <a:srgbClr val="333333"/>
                </a:solidFill>
                <a:latin typeface="Calibri"/>
              </a:defRPr>
            </a:pPr>
            <a:r>
              <a:t>IncN (41%), IncFII (30%), IncX (15%)...</a:t>
            </a:r>
          </a:p>
        </p:txBody>
      </p:sp>
      <p:sp>
        <p:nvSpPr>
          <p:cNvPr id="48" name="TextBox 47"/>
          <p:cNvSpPr txBox="1"/>
          <p:nvPr/>
        </p:nvSpPr>
        <p:spPr>
          <a:xfrm>
            <a:off x="6400800" y="4572000"/>
            <a:ext cx="5486400" cy="365760"/>
          </a:xfrm>
          <a:prstGeom prst="rect">
            <a:avLst/>
          </a:prstGeom>
          <a:noFill/>
        </p:spPr>
        <p:txBody>
          <a:bodyPr wrap="square">
            <a:spAutoFit/>
          </a:bodyPr>
          <a:lstStyle/>
          <a:p>
            <a:pPr algn="l">
              <a:defRPr sz="1400" b="1">
                <a:solidFill>
                  <a:srgbClr val="0D47A1"/>
                </a:solidFill>
                <a:latin typeface="Calibri"/>
              </a:defRPr>
            </a:pPr>
            <a:r>
              <a:t>Benefits</a:t>
            </a:r>
          </a:p>
        </p:txBody>
      </p:sp>
      <p:sp>
        <p:nvSpPr>
          <p:cNvPr id="49" name="TextBox 48"/>
          <p:cNvSpPr txBox="1"/>
          <p:nvPr/>
        </p:nvSpPr>
        <p:spPr>
          <a:xfrm>
            <a:off x="6583680" y="4937760"/>
            <a:ext cx="2286000" cy="228600"/>
          </a:xfrm>
          <a:prstGeom prst="rect">
            <a:avLst/>
          </a:prstGeom>
          <a:noFill/>
        </p:spPr>
        <p:txBody>
          <a:bodyPr wrap="square">
            <a:spAutoFit/>
          </a:bodyPr>
          <a:lstStyle/>
          <a:p>
            <a:pPr algn="l">
              <a:defRPr sz="1000" b="1">
                <a:solidFill>
                  <a:srgbClr val="43A047"/>
                </a:solidFill>
                <a:latin typeface="Calibri"/>
              </a:defRPr>
            </a:pPr>
            <a:r>
              <a:t>✓ Honest uncertainty</a:t>
            </a:r>
          </a:p>
        </p:txBody>
      </p:sp>
      <p:sp>
        <p:nvSpPr>
          <p:cNvPr id="50" name="TextBox 49"/>
          <p:cNvSpPr txBox="1"/>
          <p:nvPr/>
        </p:nvSpPr>
        <p:spPr>
          <a:xfrm>
            <a:off x="8869680" y="4937760"/>
            <a:ext cx="2926080" cy="228600"/>
          </a:xfrm>
          <a:prstGeom prst="rect">
            <a:avLst/>
          </a:prstGeom>
          <a:noFill/>
        </p:spPr>
        <p:txBody>
          <a:bodyPr wrap="square">
            <a:spAutoFit/>
          </a:bodyPr>
          <a:lstStyle/>
          <a:p>
            <a:pPr algn="l">
              <a:defRPr sz="1000" b="0">
                <a:solidFill>
                  <a:srgbClr val="333333"/>
                </a:solidFill>
                <a:latin typeface="Calibri"/>
              </a:defRPr>
            </a:pPr>
            <a:r>
              <a:t>Tool admits when it doesn't know</a:t>
            </a:r>
          </a:p>
        </p:txBody>
      </p:sp>
      <p:sp>
        <p:nvSpPr>
          <p:cNvPr id="51" name="TextBox 50"/>
          <p:cNvSpPr txBox="1"/>
          <p:nvPr/>
        </p:nvSpPr>
        <p:spPr>
          <a:xfrm>
            <a:off x="6583680" y="5349240"/>
            <a:ext cx="2286000" cy="228600"/>
          </a:xfrm>
          <a:prstGeom prst="rect">
            <a:avLst/>
          </a:prstGeom>
          <a:noFill/>
        </p:spPr>
        <p:txBody>
          <a:bodyPr wrap="square">
            <a:spAutoFit/>
          </a:bodyPr>
          <a:lstStyle/>
          <a:p>
            <a:pPr algn="l">
              <a:defRPr sz="1000" b="1">
                <a:solidFill>
                  <a:srgbClr val="43A047"/>
                </a:solidFill>
                <a:latin typeface="Calibri"/>
              </a:defRPr>
            </a:pPr>
            <a:r>
              <a:t>✓ Prevents misclassification</a:t>
            </a:r>
          </a:p>
        </p:txBody>
      </p:sp>
      <p:sp>
        <p:nvSpPr>
          <p:cNvPr id="52" name="TextBox 51"/>
          <p:cNvSpPr txBox="1"/>
          <p:nvPr/>
        </p:nvSpPr>
        <p:spPr>
          <a:xfrm>
            <a:off x="8869680" y="5349240"/>
            <a:ext cx="2926080" cy="228600"/>
          </a:xfrm>
          <a:prstGeom prst="rect">
            <a:avLst/>
          </a:prstGeom>
          <a:noFill/>
        </p:spPr>
        <p:txBody>
          <a:bodyPr wrap="square">
            <a:spAutoFit/>
          </a:bodyPr>
          <a:lstStyle/>
          <a:p>
            <a:pPr algn="l">
              <a:defRPr sz="1000" b="0">
                <a:solidFill>
                  <a:srgbClr val="333333"/>
                </a:solidFill>
                <a:latin typeface="Calibri"/>
              </a:defRPr>
            </a:pPr>
            <a:r>
              <a:t>No more wrong Inc assignments</a:t>
            </a:r>
          </a:p>
        </p:txBody>
      </p:sp>
      <p:sp>
        <p:nvSpPr>
          <p:cNvPr id="53" name="TextBox 52"/>
          <p:cNvSpPr txBox="1"/>
          <p:nvPr/>
        </p:nvSpPr>
        <p:spPr>
          <a:xfrm>
            <a:off x="6583680" y="5760720"/>
            <a:ext cx="2286000" cy="228600"/>
          </a:xfrm>
          <a:prstGeom prst="rect">
            <a:avLst/>
          </a:prstGeom>
          <a:noFill/>
        </p:spPr>
        <p:txBody>
          <a:bodyPr wrap="square">
            <a:spAutoFit/>
          </a:bodyPr>
          <a:lstStyle/>
          <a:p>
            <a:pPr algn="l">
              <a:defRPr sz="1000" b="1">
                <a:solidFill>
                  <a:srgbClr val="43A047"/>
                </a:solidFill>
                <a:latin typeface="Calibri"/>
              </a:defRPr>
            </a:pPr>
            <a:r>
              <a:t>✓ Top 5 candidates</a:t>
            </a:r>
          </a:p>
        </p:txBody>
      </p:sp>
      <p:sp>
        <p:nvSpPr>
          <p:cNvPr id="54" name="TextBox 53"/>
          <p:cNvSpPr txBox="1"/>
          <p:nvPr/>
        </p:nvSpPr>
        <p:spPr>
          <a:xfrm>
            <a:off x="8869680" y="5760720"/>
            <a:ext cx="2926080" cy="228600"/>
          </a:xfrm>
          <a:prstGeom prst="rect">
            <a:avLst/>
          </a:prstGeom>
          <a:noFill/>
        </p:spPr>
        <p:txBody>
          <a:bodyPr wrap="square">
            <a:spAutoFit/>
          </a:bodyPr>
          <a:lstStyle/>
          <a:p>
            <a:pPr algn="l">
              <a:defRPr sz="1000" b="0">
                <a:solidFill>
                  <a:srgbClr val="333333"/>
                </a:solidFill>
                <a:latin typeface="Calibri"/>
              </a:defRPr>
            </a:pPr>
            <a:r>
              <a:t>Guides manual verification</a:t>
            </a:r>
          </a:p>
        </p:txBody>
      </p:sp>
      <p:sp>
        <p:nvSpPr>
          <p:cNvPr id="55" name="TextBox 54"/>
          <p:cNvSpPr txBox="1"/>
          <p:nvPr/>
        </p:nvSpPr>
        <p:spPr>
          <a:xfrm>
            <a:off x="6583680" y="6172200"/>
            <a:ext cx="2286000" cy="228600"/>
          </a:xfrm>
          <a:prstGeom prst="rect">
            <a:avLst/>
          </a:prstGeom>
          <a:noFill/>
        </p:spPr>
        <p:txBody>
          <a:bodyPr wrap="square">
            <a:spAutoFit/>
          </a:bodyPr>
          <a:lstStyle/>
          <a:p>
            <a:pPr algn="l">
              <a:defRPr sz="1000" b="1">
                <a:solidFill>
                  <a:srgbClr val="43A047"/>
                </a:solidFill>
                <a:latin typeface="Calibri"/>
              </a:defRPr>
            </a:pPr>
            <a:r>
              <a:t>✓ Actionable warnings</a:t>
            </a:r>
          </a:p>
        </p:txBody>
      </p:sp>
      <p:sp>
        <p:nvSpPr>
          <p:cNvPr id="56" name="TextBox 55"/>
          <p:cNvSpPr txBox="1"/>
          <p:nvPr/>
        </p:nvSpPr>
        <p:spPr>
          <a:xfrm>
            <a:off x="8869680" y="6172200"/>
            <a:ext cx="2926080" cy="228600"/>
          </a:xfrm>
          <a:prstGeom prst="rect">
            <a:avLst/>
          </a:prstGeom>
          <a:noFill/>
        </p:spPr>
        <p:txBody>
          <a:bodyPr wrap="square">
            <a:spAutoFit/>
          </a:bodyPr>
          <a:lstStyle/>
          <a:p>
            <a:pPr algn="l">
              <a:defRPr sz="1000" b="0">
                <a:solidFill>
                  <a:srgbClr val="333333"/>
                </a:solidFill>
                <a:latin typeface="Calibri"/>
              </a:defRPr>
            </a:pPr>
            <a:r>
              <a:t>Suggests PlasmidFinder for verification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Complete Feature Summary</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All capabilities of the pLIN classification system</a:t>
            </a:r>
          </a:p>
        </p:txBody>
      </p:sp>
      <p:sp>
        <p:nvSpPr>
          <p:cNvPr id="5" name="Rounded Rectangle 4"/>
          <p:cNvSpPr/>
          <p:nvPr/>
        </p:nvSpPr>
        <p:spPr>
          <a:xfrm>
            <a:off x="365760" y="1463040"/>
            <a:ext cx="2743200" cy="11430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00200"/>
            <a:ext cx="2743200" cy="320040"/>
          </a:xfrm>
          <a:prstGeom prst="rect">
            <a:avLst/>
          </a:prstGeom>
          <a:noFill/>
        </p:spPr>
        <p:txBody>
          <a:bodyPr wrap="square">
            <a:spAutoFit/>
          </a:bodyPr>
          <a:lstStyle/>
          <a:p>
            <a:pPr algn="ctr">
              <a:defRPr sz="1200" b="1">
                <a:solidFill>
                  <a:srgbClr val="FFFFFF"/>
                </a:solidFill>
                <a:latin typeface="Calibri"/>
              </a:defRPr>
            </a:pPr>
            <a:r>
              <a:t>pLIN Classification</a:t>
            </a:r>
          </a:p>
        </p:txBody>
      </p:sp>
      <p:sp>
        <p:nvSpPr>
          <p:cNvPr id="7" name="TextBox 6"/>
          <p:cNvSpPr txBox="1"/>
          <p:nvPr/>
        </p:nvSpPr>
        <p:spPr>
          <a:xfrm>
            <a:off x="365760" y="1965960"/>
            <a:ext cx="2743200" cy="548640"/>
          </a:xfrm>
          <a:prstGeom prst="rect">
            <a:avLst/>
          </a:prstGeom>
          <a:noFill/>
        </p:spPr>
        <p:txBody>
          <a:bodyPr wrap="square">
            <a:spAutoFit/>
          </a:bodyPr>
          <a:lstStyle/>
          <a:p>
            <a:pPr algn="ctr">
              <a:defRPr sz="1000" b="0">
                <a:solidFill>
                  <a:srgbClr val="E0E0E0"/>
                </a:solidFill>
                <a:latin typeface="Calibri"/>
              </a:defRPr>
            </a:pPr>
            <a:r>
              <a:t>6-level hierarchical codes</a:t>
            </a:r>
            <a:br/>
            <a:r>
              <a:t>(L1→L6)</a:t>
            </a:r>
          </a:p>
        </p:txBody>
      </p:sp>
      <p:sp>
        <p:nvSpPr>
          <p:cNvPr id="8" name="Rounded Rectangle 7"/>
          <p:cNvSpPr/>
          <p:nvPr/>
        </p:nvSpPr>
        <p:spPr>
          <a:xfrm>
            <a:off x="3291840" y="1463040"/>
            <a:ext cx="2743200" cy="11430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600200"/>
            <a:ext cx="2743200" cy="320040"/>
          </a:xfrm>
          <a:prstGeom prst="rect">
            <a:avLst/>
          </a:prstGeom>
          <a:noFill/>
        </p:spPr>
        <p:txBody>
          <a:bodyPr wrap="square">
            <a:spAutoFit/>
          </a:bodyPr>
          <a:lstStyle/>
          <a:p>
            <a:pPr algn="ctr">
              <a:defRPr sz="1200" b="1">
                <a:solidFill>
                  <a:srgbClr val="FFFFFF"/>
                </a:solidFill>
                <a:latin typeface="Calibri"/>
              </a:defRPr>
            </a:pPr>
            <a:r>
              <a:t>Inc Auto-Detection</a:t>
            </a:r>
          </a:p>
        </p:txBody>
      </p:sp>
      <p:sp>
        <p:nvSpPr>
          <p:cNvPr id="10" name="TextBox 9"/>
          <p:cNvSpPr txBox="1"/>
          <p:nvPr/>
        </p:nvSpPr>
        <p:spPr>
          <a:xfrm>
            <a:off x="3291840" y="1965960"/>
            <a:ext cx="2743200" cy="548640"/>
          </a:xfrm>
          <a:prstGeom prst="rect">
            <a:avLst/>
          </a:prstGeom>
          <a:noFill/>
        </p:spPr>
        <p:txBody>
          <a:bodyPr wrap="square">
            <a:spAutoFit/>
          </a:bodyPr>
          <a:lstStyle/>
          <a:p>
            <a:pPr algn="ctr">
              <a:defRPr sz="1000" b="0">
                <a:solidFill>
                  <a:srgbClr val="E0E0E0"/>
                </a:solidFill>
                <a:latin typeface="Calibri"/>
              </a:defRPr>
            </a:pPr>
            <a:r>
              <a:t>KNN classifier, 92.2%</a:t>
            </a:r>
            <a:br/>
            <a:r>
              <a:t>accuracy, 20 Inc groups</a:t>
            </a:r>
          </a:p>
        </p:txBody>
      </p:sp>
      <p:sp>
        <p:nvSpPr>
          <p:cNvPr id="11" name="Rounded Rectangle 10"/>
          <p:cNvSpPr/>
          <p:nvPr/>
        </p:nvSpPr>
        <p:spPr>
          <a:xfrm>
            <a:off x="6217920" y="1463040"/>
            <a:ext cx="2743200" cy="114300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600200"/>
            <a:ext cx="2743200" cy="320040"/>
          </a:xfrm>
          <a:prstGeom prst="rect">
            <a:avLst/>
          </a:prstGeom>
          <a:noFill/>
        </p:spPr>
        <p:txBody>
          <a:bodyPr wrap="square">
            <a:spAutoFit/>
          </a:bodyPr>
          <a:lstStyle/>
          <a:p>
            <a:pPr algn="ctr">
              <a:defRPr sz="1200" b="1">
                <a:solidFill>
                  <a:srgbClr val="FFFFFF"/>
                </a:solidFill>
                <a:latin typeface="Calibri"/>
              </a:defRPr>
            </a:pPr>
            <a:r>
              <a:t>AMRFinderPlus</a:t>
            </a:r>
          </a:p>
        </p:txBody>
      </p:sp>
      <p:sp>
        <p:nvSpPr>
          <p:cNvPr id="13" name="TextBox 12"/>
          <p:cNvSpPr txBox="1"/>
          <p:nvPr/>
        </p:nvSpPr>
        <p:spPr>
          <a:xfrm>
            <a:off x="6217920" y="1965960"/>
            <a:ext cx="2743200" cy="548640"/>
          </a:xfrm>
          <a:prstGeom prst="rect">
            <a:avLst/>
          </a:prstGeom>
          <a:noFill/>
        </p:spPr>
        <p:txBody>
          <a:bodyPr wrap="square">
            <a:spAutoFit/>
          </a:bodyPr>
          <a:lstStyle/>
          <a:p>
            <a:pPr algn="ctr">
              <a:defRPr sz="1000" b="0">
                <a:solidFill>
                  <a:srgbClr val="E0E0E0"/>
                </a:solidFill>
                <a:latin typeface="Calibri"/>
              </a:defRPr>
            </a:pPr>
            <a:r>
              <a:t>AMR/stress/virulence</a:t>
            </a:r>
            <a:br/>
            <a:r>
              <a:t>gene detection</a:t>
            </a:r>
          </a:p>
        </p:txBody>
      </p:sp>
      <p:sp>
        <p:nvSpPr>
          <p:cNvPr id="14" name="Rounded Rectangle 13"/>
          <p:cNvSpPr/>
          <p:nvPr/>
        </p:nvSpPr>
        <p:spPr>
          <a:xfrm>
            <a:off x="9144000" y="1463040"/>
            <a:ext cx="2743200" cy="1143000"/>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600200"/>
            <a:ext cx="2743200" cy="320040"/>
          </a:xfrm>
          <a:prstGeom prst="rect">
            <a:avLst/>
          </a:prstGeom>
          <a:noFill/>
        </p:spPr>
        <p:txBody>
          <a:bodyPr wrap="square">
            <a:spAutoFit/>
          </a:bodyPr>
          <a:lstStyle/>
          <a:p>
            <a:pPr algn="ctr">
              <a:defRPr sz="1200" b="1">
                <a:solidFill>
                  <a:srgbClr val="FFFFFF"/>
                </a:solidFill>
                <a:latin typeface="Calibri"/>
              </a:defRPr>
            </a:pPr>
            <a:r>
              <a:t>Prodigal Annotation</a:t>
            </a:r>
          </a:p>
        </p:txBody>
      </p:sp>
      <p:sp>
        <p:nvSpPr>
          <p:cNvPr id="16" name="TextBox 15"/>
          <p:cNvSpPr txBox="1"/>
          <p:nvPr/>
        </p:nvSpPr>
        <p:spPr>
          <a:xfrm>
            <a:off x="9144000" y="1965960"/>
            <a:ext cx="2743200" cy="548640"/>
          </a:xfrm>
          <a:prstGeom prst="rect">
            <a:avLst/>
          </a:prstGeom>
          <a:noFill/>
        </p:spPr>
        <p:txBody>
          <a:bodyPr wrap="square">
            <a:spAutoFit/>
          </a:bodyPr>
          <a:lstStyle/>
          <a:p>
            <a:pPr algn="ctr">
              <a:defRPr sz="1000" b="0">
                <a:solidFill>
                  <a:srgbClr val="E0E0E0"/>
                </a:solidFill>
                <a:latin typeface="Calibri"/>
              </a:defRPr>
            </a:pPr>
            <a:r>
              <a:t>Full ORF prediction,</a:t>
            </a:r>
            <a:br/>
            <a:r>
              <a:t>coding density stats</a:t>
            </a:r>
          </a:p>
        </p:txBody>
      </p:sp>
      <p:sp>
        <p:nvSpPr>
          <p:cNvPr id="17" name="Rounded Rectangle 16"/>
          <p:cNvSpPr/>
          <p:nvPr/>
        </p:nvSpPr>
        <p:spPr>
          <a:xfrm>
            <a:off x="365760" y="2743200"/>
            <a:ext cx="2743200" cy="114300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880360"/>
            <a:ext cx="2743200" cy="320040"/>
          </a:xfrm>
          <a:prstGeom prst="rect">
            <a:avLst/>
          </a:prstGeom>
          <a:noFill/>
        </p:spPr>
        <p:txBody>
          <a:bodyPr wrap="square">
            <a:spAutoFit/>
          </a:bodyPr>
          <a:lstStyle/>
          <a:p>
            <a:pPr algn="ctr">
              <a:defRPr sz="1200" b="1">
                <a:solidFill>
                  <a:srgbClr val="FFFFFF"/>
                </a:solidFill>
                <a:latin typeface="Calibri"/>
              </a:defRPr>
            </a:pPr>
            <a:r>
              <a:t>Mobility Prediction</a:t>
            </a:r>
          </a:p>
        </p:txBody>
      </p:sp>
      <p:sp>
        <p:nvSpPr>
          <p:cNvPr id="19" name="TextBox 18"/>
          <p:cNvSpPr txBox="1"/>
          <p:nvPr/>
        </p:nvSpPr>
        <p:spPr>
          <a:xfrm>
            <a:off x="365760" y="3246120"/>
            <a:ext cx="2743200" cy="548640"/>
          </a:xfrm>
          <a:prstGeom prst="rect">
            <a:avLst/>
          </a:prstGeom>
          <a:noFill/>
        </p:spPr>
        <p:txBody>
          <a:bodyPr wrap="square">
            <a:spAutoFit/>
          </a:bodyPr>
          <a:lstStyle/>
          <a:p>
            <a:pPr algn="ctr">
              <a:defRPr sz="1000" b="0">
                <a:solidFill>
                  <a:srgbClr val="E0E0E0"/>
                </a:solidFill>
                <a:latin typeface="Calibri"/>
              </a:defRPr>
            </a:pPr>
            <a:r>
              <a:t>MOBsuite + AMRFinderPlus</a:t>
            </a:r>
            <a:br/>
            <a:r>
              <a:t>3-tier cascade</a:t>
            </a:r>
          </a:p>
        </p:txBody>
      </p:sp>
      <p:sp>
        <p:nvSpPr>
          <p:cNvPr id="20" name="Rounded Rectangle 19"/>
          <p:cNvSpPr/>
          <p:nvPr/>
        </p:nvSpPr>
        <p:spPr>
          <a:xfrm>
            <a:off x="3291840" y="2743200"/>
            <a:ext cx="2743200" cy="114300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2880360"/>
            <a:ext cx="2743200" cy="320040"/>
          </a:xfrm>
          <a:prstGeom prst="rect">
            <a:avLst/>
          </a:prstGeom>
          <a:noFill/>
        </p:spPr>
        <p:txBody>
          <a:bodyPr wrap="square">
            <a:spAutoFit/>
          </a:bodyPr>
          <a:lstStyle/>
          <a:p>
            <a:pPr algn="ctr">
              <a:defRPr sz="1200" b="1">
                <a:solidFill>
                  <a:srgbClr val="FFFFFF"/>
                </a:solidFill>
                <a:latin typeface="Calibri"/>
              </a:defRPr>
            </a:pPr>
            <a:r>
              <a:t>Outbreak Detection</a:t>
            </a:r>
          </a:p>
        </p:txBody>
      </p:sp>
      <p:sp>
        <p:nvSpPr>
          <p:cNvPr id="22" name="TextBox 21"/>
          <p:cNvSpPr txBox="1"/>
          <p:nvPr/>
        </p:nvSpPr>
        <p:spPr>
          <a:xfrm>
            <a:off x="3291840" y="3246120"/>
            <a:ext cx="2743200" cy="548640"/>
          </a:xfrm>
          <a:prstGeom prst="rect">
            <a:avLst/>
          </a:prstGeom>
          <a:noFill/>
        </p:spPr>
        <p:txBody>
          <a:bodyPr wrap="square">
            <a:spAutoFit/>
          </a:bodyPr>
          <a:lstStyle/>
          <a:p>
            <a:pPr algn="ctr">
              <a:defRPr sz="1000" b="0">
                <a:solidFill>
                  <a:srgbClr val="E0E0E0"/>
                </a:solidFill>
                <a:latin typeface="Calibri"/>
              </a:defRPr>
            </a:pPr>
            <a:r>
              <a:t>Strain + AMR profile</a:t>
            </a:r>
            <a:br/>
            <a:r>
              <a:t>cluster identification</a:t>
            </a:r>
          </a:p>
        </p:txBody>
      </p:sp>
      <p:sp>
        <p:nvSpPr>
          <p:cNvPr id="23" name="Rounded Rectangle 22"/>
          <p:cNvSpPr/>
          <p:nvPr/>
        </p:nvSpPr>
        <p:spPr>
          <a:xfrm>
            <a:off x="6217920" y="2743200"/>
            <a:ext cx="2743200" cy="114300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2880360"/>
            <a:ext cx="2743200" cy="320040"/>
          </a:xfrm>
          <a:prstGeom prst="rect">
            <a:avLst/>
          </a:prstGeom>
          <a:noFill/>
        </p:spPr>
        <p:txBody>
          <a:bodyPr wrap="square">
            <a:spAutoFit/>
          </a:bodyPr>
          <a:lstStyle/>
          <a:p>
            <a:pPr algn="ctr">
              <a:defRPr sz="1200" b="1">
                <a:solidFill>
                  <a:srgbClr val="FFFFFF"/>
                </a:solidFill>
                <a:latin typeface="Calibri"/>
              </a:defRPr>
            </a:pPr>
            <a:r>
              <a:t>CRISPR Host Inference</a:t>
            </a:r>
          </a:p>
        </p:txBody>
      </p:sp>
      <p:sp>
        <p:nvSpPr>
          <p:cNvPr id="25" name="TextBox 24"/>
          <p:cNvSpPr txBox="1"/>
          <p:nvPr/>
        </p:nvSpPr>
        <p:spPr>
          <a:xfrm>
            <a:off x="6217920" y="3246120"/>
            <a:ext cx="2743200" cy="548640"/>
          </a:xfrm>
          <a:prstGeom prst="rect">
            <a:avLst/>
          </a:prstGeom>
          <a:noFill/>
        </p:spPr>
        <p:txBody>
          <a:bodyPr wrap="square">
            <a:spAutoFit/>
          </a:bodyPr>
          <a:lstStyle/>
          <a:p>
            <a:pPr algn="ctr">
              <a:defRPr sz="1000" b="0">
                <a:solidFill>
                  <a:srgbClr val="E0E0E0"/>
                </a:solidFill>
                <a:latin typeface="Calibri"/>
              </a:defRPr>
            </a:pPr>
            <a:r>
              <a:t>Spacer-based plasmid-host</a:t>
            </a:r>
            <a:br/>
            <a:r>
              <a:t>softmax probability</a:t>
            </a:r>
          </a:p>
        </p:txBody>
      </p:sp>
      <p:sp>
        <p:nvSpPr>
          <p:cNvPr id="26" name="Rounded Rectangle 25"/>
          <p:cNvSpPr/>
          <p:nvPr/>
        </p:nvSpPr>
        <p:spPr>
          <a:xfrm>
            <a:off x="9144000" y="2743200"/>
            <a:ext cx="2743200" cy="114300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2880360"/>
            <a:ext cx="2743200" cy="320040"/>
          </a:xfrm>
          <a:prstGeom prst="rect">
            <a:avLst/>
          </a:prstGeom>
          <a:noFill/>
        </p:spPr>
        <p:txBody>
          <a:bodyPr wrap="square">
            <a:spAutoFit/>
          </a:bodyPr>
          <a:lstStyle/>
          <a:p>
            <a:pPr algn="ctr">
              <a:defRPr sz="1200" b="1">
                <a:solidFill>
                  <a:srgbClr val="FFFFFF"/>
                </a:solidFill>
                <a:latin typeface="Calibri"/>
              </a:defRPr>
            </a:pPr>
            <a:r>
              <a:t>Adaptive Thresholds</a:t>
            </a:r>
          </a:p>
        </p:txBody>
      </p:sp>
      <p:sp>
        <p:nvSpPr>
          <p:cNvPr id="28" name="TextBox 27"/>
          <p:cNvSpPr txBox="1"/>
          <p:nvPr/>
        </p:nvSpPr>
        <p:spPr>
          <a:xfrm>
            <a:off x="9144000" y="3246120"/>
            <a:ext cx="2743200" cy="548640"/>
          </a:xfrm>
          <a:prstGeom prst="rect">
            <a:avLst/>
          </a:prstGeom>
          <a:noFill/>
        </p:spPr>
        <p:txBody>
          <a:bodyPr wrap="square">
            <a:spAutoFit/>
          </a:bodyPr>
          <a:lstStyle/>
          <a:p>
            <a:pPr algn="ctr">
              <a:defRPr sz="1000" b="0">
                <a:solidFill>
                  <a:srgbClr val="E0E0E0"/>
                </a:solidFill>
                <a:latin typeface="Calibri"/>
              </a:defRPr>
            </a:pPr>
            <a:r>
              <a:t>Per-Inc calibrated</a:t>
            </a:r>
            <a:br/>
            <a:r>
              <a:t>distance thresholds</a:t>
            </a:r>
          </a:p>
        </p:txBody>
      </p:sp>
      <p:sp>
        <p:nvSpPr>
          <p:cNvPr id="29" name="Rounded Rectangle 28"/>
          <p:cNvSpPr/>
          <p:nvPr/>
        </p:nvSpPr>
        <p:spPr>
          <a:xfrm>
            <a:off x="365760" y="4023360"/>
            <a:ext cx="2743200" cy="114300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160520"/>
            <a:ext cx="2743200" cy="320040"/>
          </a:xfrm>
          <a:prstGeom prst="rect">
            <a:avLst/>
          </a:prstGeom>
          <a:noFill/>
        </p:spPr>
        <p:txBody>
          <a:bodyPr wrap="square">
            <a:spAutoFit/>
          </a:bodyPr>
          <a:lstStyle/>
          <a:p>
            <a:pPr algn="ctr">
              <a:defRPr sz="1200" b="1">
                <a:solidFill>
                  <a:srgbClr val="FFFFFF"/>
                </a:solidFill>
                <a:latin typeface="Calibri"/>
              </a:defRPr>
            </a:pPr>
            <a:r>
              <a:t>Nucleotide Transformer</a:t>
            </a:r>
          </a:p>
        </p:txBody>
      </p:sp>
      <p:sp>
        <p:nvSpPr>
          <p:cNvPr id="31" name="TextBox 30"/>
          <p:cNvSpPr txBox="1"/>
          <p:nvPr/>
        </p:nvSpPr>
        <p:spPr>
          <a:xfrm>
            <a:off x="365760" y="4526280"/>
            <a:ext cx="2743200" cy="548640"/>
          </a:xfrm>
          <a:prstGeom prst="rect">
            <a:avLst/>
          </a:prstGeom>
          <a:noFill/>
        </p:spPr>
        <p:txBody>
          <a:bodyPr wrap="square">
            <a:spAutoFit/>
          </a:bodyPr>
          <a:lstStyle/>
          <a:p>
            <a:pPr algn="ctr">
              <a:defRPr sz="1000" b="0">
                <a:solidFill>
                  <a:srgbClr val="E0E0E0"/>
                </a:solidFill>
                <a:latin typeface="Calibri"/>
              </a:defRPr>
            </a:pPr>
            <a:r>
              <a:t>LLM-based Inc/AMR</a:t>
            </a:r>
            <a:br/>
            <a:r>
              <a:t>prediction (optional)</a:t>
            </a:r>
          </a:p>
        </p:txBody>
      </p:sp>
      <p:sp>
        <p:nvSpPr>
          <p:cNvPr id="32" name="Rounded Rectangle 31"/>
          <p:cNvSpPr/>
          <p:nvPr/>
        </p:nvSpPr>
        <p:spPr>
          <a:xfrm>
            <a:off x="3291840" y="4023360"/>
            <a:ext cx="2743200" cy="114300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1840" y="4160520"/>
            <a:ext cx="2743200" cy="320040"/>
          </a:xfrm>
          <a:prstGeom prst="rect">
            <a:avLst/>
          </a:prstGeom>
          <a:noFill/>
        </p:spPr>
        <p:txBody>
          <a:bodyPr wrap="square">
            <a:spAutoFit/>
          </a:bodyPr>
          <a:lstStyle/>
          <a:p>
            <a:pPr algn="ctr">
              <a:defRPr sz="1200" b="1">
                <a:solidFill>
                  <a:srgbClr val="FFFFFF"/>
                </a:solidFill>
                <a:latin typeface="Calibri"/>
              </a:defRPr>
            </a:pPr>
            <a:r>
              <a:t>DRAGNOME Buddy</a:t>
            </a:r>
          </a:p>
        </p:txBody>
      </p:sp>
      <p:sp>
        <p:nvSpPr>
          <p:cNvPr id="34" name="TextBox 33"/>
          <p:cNvSpPr txBox="1"/>
          <p:nvPr/>
        </p:nvSpPr>
        <p:spPr>
          <a:xfrm>
            <a:off x="3291840" y="4526280"/>
            <a:ext cx="2743200" cy="548640"/>
          </a:xfrm>
          <a:prstGeom prst="rect">
            <a:avLst/>
          </a:prstGeom>
          <a:noFill/>
        </p:spPr>
        <p:txBody>
          <a:bodyPr wrap="square">
            <a:spAutoFit/>
          </a:bodyPr>
          <a:lstStyle/>
          <a:p>
            <a:pPr algn="ctr">
              <a:defRPr sz="1000" b="0">
                <a:solidFill>
                  <a:srgbClr val="E0E0E0"/>
                </a:solidFill>
                <a:latin typeface="Calibri"/>
              </a:defRPr>
            </a:pPr>
            <a:r>
              <a:t>AI chatbot for Q&amp;A</a:t>
            </a:r>
            <a:br/>
            <a:r>
              <a:t>via local Ollama</a:t>
            </a:r>
          </a:p>
        </p:txBody>
      </p:sp>
      <p:sp>
        <p:nvSpPr>
          <p:cNvPr id="35" name="Rounded Rectangle 34"/>
          <p:cNvSpPr/>
          <p:nvPr/>
        </p:nvSpPr>
        <p:spPr>
          <a:xfrm>
            <a:off x="6217920" y="4023360"/>
            <a:ext cx="2743200" cy="1143000"/>
          </a:xfrm>
          <a:prstGeom prst="round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4160520"/>
            <a:ext cx="2743200" cy="320040"/>
          </a:xfrm>
          <a:prstGeom prst="rect">
            <a:avLst/>
          </a:prstGeom>
          <a:noFill/>
        </p:spPr>
        <p:txBody>
          <a:bodyPr wrap="square">
            <a:spAutoFit/>
          </a:bodyPr>
          <a:lstStyle/>
          <a:p>
            <a:pPr algn="ctr">
              <a:defRPr sz="1200" b="1">
                <a:solidFill>
                  <a:srgbClr val="FFFFFF"/>
                </a:solidFill>
                <a:latin typeface="Calibri"/>
              </a:defRPr>
            </a:pPr>
            <a:r>
              <a:t>Unknown Detection</a:t>
            </a:r>
          </a:p>
        </p:txBody>
      </p:sp>
      <p:sp>
        <p:nvSpPr>
          <p:cNvPr id="37" name="TextBox 36"/>
          <p:cNvSpPr txBox="1"/>
          <p:nvPr/>
        </p:nvSpPr>
        <p:spPr>
          <a:xfrm>
            <a:off x="6217920" y="4526280"/>
            <a:ext cx="2743200" cy="548640"/>
          </a:xfrm>
          <a:prstGeom prst="rect">
            <a:avLst/>
          </a:prstGeom>
          <a:noFill/>
        </p:spPr>
        <p:txBody>
          <a:bodyPr wrap="square">
            <a:spAutoFit/>
          </a:bodyPr>
          <a:lstStyle/>
          <a:p>
            <a:pPr algn="ctr">
              <a:defRPr sz="1000" b="0">
                <a:solidFill>
                  <a:srgbClr val="E0E0E0"/>
                </a:solidFill>
                <a:latin typeface="Calibri"/>
              </a:defRPr>
            </a:pPr>
            <a:r>
              <a:t>Low-confidence flagging</a:t>
            </a:r>
            <a:br/>
            <a:r>
              <a:t>+ top 5 candidates</a:t>
            </a:r>
          </a:p>
        </p:txBody>
      </p:sp>
      <p:sp>
        <p:nvSpPr>
          <p:cNvPr id="38" name="Rounded Rectangle 37"/>
          <p:cNvSpPr/>
          <p:nvPr/>
        </p:nvSpPr>
        <p:spPr>
          <a:xfrm>
            <a:off x="9144000" y="4023360"/>
            <a:ext cx="2743200" cy="11430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0" y="4160520"/>
            <a:ext cx="2743200" cy="320040"/>
          </a:xfrm>
          <a:prstGeom prst="rect">
            <a:avLst/>
          </a:prstGeom>
          <a:noFill/>
        </p:spPr>
        <p:txBody>
          <a:bodyPr wrap="square">
            <a:spAutoFit/>
          </a:bodyPr>
          <a:lstStyle/>
          <a:p>
            <a:pPr algn="ctr">
              <a:defRPr sz="1200" b="1">
                <a:solidFill>
                  <a:srgbClr val="FFFFFF"/>
                </a:solidFill>
                <a:latin typeface="Calibri"/>
              </a:defRPr>
            </a:pPr>
            <a:r>
              <a:t>Context-Aware AI</a:t>
            </a:r>
          </a:p>
        </p:txBody>
      </p:sp>
      <p:sp>
        <p:nvSpPr>
          <p:cNvPr id="40" name="TextBox 39"/>
          <p:cNvSpPr txBox="1"/>
          <p:nvPr/>
        </p:nvSpPr>
        <p:spPr>
          <a:xfrm>
            <a:off x="9144000" y="4526280"/>
            <a:ext cx="2743200" cy="548640"/>
          </a:xfrm>
          <a:prstGeom prst="rect">
            <a:avLst/>
          </a:prstGeom>
          <a:noFill/>
        </p:spPr>
        <p:txBody>
          <a:bodyPr wrap="square">
            <a:spAutoFit/>
          </a:bodyPr>
          <a:lstStyle/>
          <a:p>
            <a:pPr algn="ctr">
              <a:defRPr sz="1000" b="0">
                <a:solidFill>
                  <a:srgbClr val="E0E0E0"/>
                </a:solidFill>
                <a:latin typeface="Calibri"/>
              </a:defRPr>
            </a:pPr>
            <a:r>
              <a:t>Analysis results feed</a:t>
            </a:r>
            <a:br/>
            <a:r>
              <a:t>into LLM responses</a:t>
            </a:r>
          </a:p>
        </p:txBody>
      </p:sp>
      <p:sp>
        <p:nvSpPr>
          <p:cNvPr id="41" name="Rounded Rectangle 40"/>
          <p:cNvSpPr/>
          <p:nvPr/>
        </p:nvSpPr>
        <p:spPr>
          <a:xfrm>
            <a:off x="365760" y="5303519"/>
            <a:ext cx="2743200" cy="1143000"/>
          </a:xfrm>
          <a:prstGeom prst="round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5440679"/>
            <a:ext cx="2743200" cy="320040"/>
          </a:xfrm>
          <a:prstGeom prst="rect">
            <a:avLst/>
          </a:prstGeom>
          <a:noFill/>
        </p:spPr>
        <p:txBody>
          <a:bodyPr wrap="square">
            <a:spAutoFit/>
          </a:bodyPr>
          <a:lstStyle/>
          <a:p>
            <a:pPr algn="ctr">
              <a:defRPr sz="1200" b="1">
                <a:solidFill>
                  <a:srgbClr val="FFFFFF"/>
                </a:solidFill>
                <a:latin typeface="Calibri"/>
              </a:defRPr>
            </a:pPr>
            <a:r>
              <a:t>Streamlit GUI</a:t>
            </a:r>
          </a:p>
        </p:txBody>
      </p:sp>
      <p:sp>
        <p:nvSpPr>
          <p:cNvPr id="43" name="TextBox 42"/>
          <p:cNvSpPr txBox="1"/>
          <p:nvPr/>
        </p:nvSpPr>
        <p:spPr>
          <a:xfrm>
            <a:off x="365760" y="5806439"/>
            <a:ext cx="2743200" cy="548640"/>
          </a:xfrm>
          <a:prstGeom prst="rect">
            <a:avLst/>
          </a:prstGeom>
          <a:noFill/>
        </p:spPr>
        <p:txBody>
          <a:bodyPr wrap="square">
            <a:spAutoFit/>
          </a:bodyPr>
          <a:lstStyle/>
          <a:p>
            <a:pPr algn="ctr">
              <a:defRPr sz="1000" b="0">
                <a:solidFill>
                  <a:srgbClr val="E0E0E0"/>
                </a:solidFill>
                <a:latin typeface="Calibri"/>
              </a:defRPr>
            </a:pPr>
            <a:r>
              <a:t>8-tab web interface</a:t>
            </a:r>
            <a:br/>
            <a:r>
              <a:t>no CLI required</a:t>
            </a:r>
          </a:p>
        </p:txBody>
      </p:sp>
      <p:sp>
        <p:nvSpPr>
          <p:cNvPr id="44" name="Rounded Rectangle 43"/>
          <p:cNvSpPr/>
          <p:nvPr/>
        </p:nvSpPr>
        <p:spPr>
          <a:xfrm>
            <a:off x="3291840" y="5303519"/>
            <a:ext cx="2743200" cy="114300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1840" y="5440679"/>
            <a:ext cx="2743200" cy="320040"/>
          </a:xfrm>
          <a:prstGeom prst="rect">
            <a:avLst/>
          </a:prstGeom>
          <a:noFill/>
        </p:spPr>
        <p:txBody>
          <a:bodyPr wrap="square">
            <a:spAutoFit/>
          </a:bodyPr>
          <a:lstStyle/>
          <a:p>
            <a:pPr algn="ctr">
              <a:defRPr sz="1200" b="1">
                <a:solidFill>
                  <a:srgbClr val="FFFFFF"/>
                </a:solidFill>
                <a:latin typeface="Calibri"/>
              </a:defRPr>
            </a:pPr>
            <a:r>
              <a:t>Docker Support</a:t>
            </a:r>
          </a:p>
        </p:txBody>
      </p:sp>
      <p:sp>
        <p:nvSpPr>
          <p:cNvPr id="46" name="TextBox 45"/>
          <p:cNvSpPr txBox="1"/>
          <p:nvPr/>
        </p:nvSpPr>
        <p:spPr>
          <a:xfrm>
            <a:off x="3291840" y="5806439"/>
            <a:ext cx="2743200" cy="548640"/>
          </a:xfrm>
          <a:prstGeom prst="rect">
            <a:avLst/>
          </a:prstGeom>
          <a:noFill/>
        </p:spPr>
        <p:txBody>
          <a:bodyPr wrap="square">
            <a:spAutoFit/>
          </a:bodyPr>
          <a:lstStyle/>
          <a:p>
            <a:pPr algn="ctr">
              <a:defRPr sz="1000" b="0">
                <a:solidFill>
                  <a:srgbClr val="E0E0E0"/>
                </a:solidFill>
                <a:latin typeface="Calibri"/>
              </a:defRPr>
            </a:pPr>
            <a:r>
              <a:t>Containerized deployment</a:t>
            </a:r>
            <a:br/>
            <a:r>
              <a:t>for servers</a:t>
            </a:r>
          </a:p>
        </p:txBody>
      </p:sp>
      <p:sp>
        <p:nvSpPr>
          <p:cNvPr id="47" name="Rounded Rectangle 46"/>
          <p:cNvSpPr/>
          <p:nvPr/>
        </p:nvSpPr>
        <p:spPr>
          <a:xfrm>
            <a:off x="6217920" y="5303519"/>
            <a:ext cx="2743200" cy="114300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0" y="5440679"/>
            <a:ext cx="2743200" cy="320040"/>
          </a:xfrm>
          <a:prstGeom prst="rect">
            <a:avLst/>
          </a:prstGeom>
          <a:noFill/>
        </p:spPr>
        <p:txBody>
          <a:bodyPr wrap="square">
            <a:spAutoFit/>
          </a:bodyPr>
          <a:lstStyle/>
          <a:p>
            <a:pPr algn="ctr">
              <a:defRPr sz="1200" b="1">
                <a:solidFill>
                  <a:srgbClr val="FFFFFF"/>
                </a:solidFill>
                <a:latin typeface="Calibri"/>
              </a:defRPr>
            </a:pPr>
            <a:r>
              <a:t>One-Click Launch</a:t>
            </a:r>
          </a:p>
        </p:txBody>
      </p:sp>
      <p:sp>
        <p:nvSpPr>
          <p:cNvPr id="49" name="TextBox 48"/>
          <p:cNvSpPr txBox="1"/>
          <p:nvPr/>
        </p:nvSpPr>
        <p:spPr>
          <a:xfrm>
            <a:off x="6217920" y="5806439"/>
            <a:ext cx="2743200" cy="548640"/>
          </a:xfrm>
          <a:prstGeom prst="rect">
            <a:avLst/>
          </a:prstGeom>
          <a:noFill/>
        </p:spPr>
        <p:txBody>
          <a:bodyPr wrap="square">
            <a:spAutoFit/>
          </a:bodyPr>
          <a:lstStyle/>
          <a:p>
            <a:pPr algn="ctr">
              <a:defRPr sz="1000" b="0">
                <a:solidFill>
                  <a:srgbClr val="E0E0E0"/>
                </a:solidFill>
                <a:latin typeface="Calibri"/>
              </a:defRPr>
            </a:pPr>
            <a:r>
              <a:t>Windows/macOS/Linux</a:t>
            </a:r>
            <a:br/>
            <a:r>
              <a:t>auto-setup launchers</a:t>
            </a:r>
          </a:p>
        </p:txBody>
      </p:sp>
      <p:sp>
        <p:nvSpPr>
          <p:cNvPr id="50" name="Rounded Rectangle 49"/>
          <p:cNvSpPr/>
          <p:nvPr/>
        </p:nvSpPr>
        <p:spPr>
          <a:xfrm>
            <a:off x="9144000" y="5303519"/>
            <a:ext cx="2743200" cy="1143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0" y="5440679"/>
            <a:ext cx="2743200" cy="320040"/>
          </a:xfrm>
          <a:prstGeom prst="rect">
            <a:avLst/>
          </a:prstGeom>
          <a:noFill/>
        </p:spPr>
        <p:txBody>
          <a:bodyPr wrap="square">
            <a:spAutoFit/>
          </a:bodyPr>
          <a:lstStyle/>
          <a:p>
            <a:pPr algn="ctr">
              <a:defRPr sz="1200" b="1">
                <a:solidFill>
                  <a:srgbClr val="FFFFFF"/>
                </a:solidFill>
                <a:latin typeface="Calibri"/>
              </a:defRPr>
            </a:pPr>
            <a:r>
              <a:t>Export Options</a:t>
            </a:r>
          </a:p>
        </p:txBody>
      </p:sp>
      <p:sp>
        <p:nvSpPr>
          <p:cNvPr id="52" name="TextBox 51"/>
          <p:cNvSpPr txBox="1"/>
          <p:nvPr/>
        </p:nvSpPr>
        <p:spPr>
          <a:xfrm>
            <a:off x="9144000" y="5806439"/>
            <a:ext cx="2743200" cy="548640"/>
          </a:xfrm>
          <a:prstGeom prst="rect">
            <a:avLst/>
          </a:prstGeom>
          <a:noFill/>
        </p:spPr>
        <p:txBody>
          <a:bodyPr wrap="square">
            <a:spAutoFit/>
          </a:bodyPr>
          <a:lstStyle/>
          <a:p>
            <a:pPr algn="ctr">
              <a:defRPr sz="1000" b="0">
                <a:solidFill>
                  <a:srgbClr val="E0E0E0"/>
                </a:solidFill>
                <a:latin typeface="Calibri"/>
              </a:defRPr>
            </a:pPr>
            <a:r>
              <a:t>TSV, PNG, PDF, ZIP</a:t>
            </a:r>
            <a:br/>
            <a:r>
              <a:t>bundle downloads</a:t>
            </a:r>
          </a:p>
        </p:txBody>
      </p:sp>
      <p:sp>
        <p:nvSpPr>
          <p:cNvPr id="53" name="TextBox 52"/>
          <p:cNvSpPr txBox="1"/>
          <p:nvPr/>
        </p:nvSpPr>
        <p:spPr>
          <a:xfrm>
            <a:off x="457200" y="6400800"/>
            <a:ext cx="11247120" cy="274320"/>
          </a:xfrm>
          <a:prstGeom prst="rect">
            <a:avLst/>
          </a:prstGeom>
          <a:noFill/>
        </p:spPr>
        <p:txBody>
          <a:bodyPr wrap="square">
            <a:spAutoFit/>
          </a:bodyPr>
          <a:lstStyle/>
          <a:p>
            <a:pPr algn="ctr">
              <a:defRPr sz="1000" b="0">
                <a:solidFill>
                  <a:srgbClr val="757575"/>
                </a:solidFill>
                <a:latin typeface="Calibri"/>
              </a:defRPr>
            </a:pPr>
            <a:r>
              <a:t>pLIN v2.1 — Plasmid Life Identification Number System • GPL-3.0 + Citation Clause • github.com/xavierbasilbritto-hub/pLIN-plasmid-classification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Phase 1 Upgrades — ANI Validation &amp; Metadata</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Mash/MinHash integration, metadata upload, sequence length warnings</a:t>
            </a:r>
          </a:p>
        </p:txBody>
      </p:sp>
      <p:sp>
        <p:nvSpPr>
          <p:cNvPr id="5" name="Rounded Rectangle 4"/>
          <p:cNvSpPr/>
          <p:nvPr/>
        </p:nvSpPr>
        <p:spPr>
          <a:xfrm>
            <a:off x="365760" y="1371600"/>
            <a:ext cx="5669280" cy="228600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5303520" cy="365760"/>
          </a:xfrm>
          <a:prstGeom prst="rect">
            <a:avLst/>
          </a:prstGeom>
          <a:noFill/>
        </p:spPr>
        <p:txBody>
          <a:bodyPr wrap="square">
            <a:spAutoFit/>
          </a:bodyPr>
          <a:lstStyle/>
          <a:p>
            <a:pPr algn="l">
              <a:defRPr sz="1600" b="1">
                <a:solidFill>
                  <a:srgbClr val="1E88E5"/>
                </a:solidFill>
                <a:latin typeface="Calibri"/>
              </a:defRPr>
            </a:pPr>
            <a:r>
              <a:t>Mash/MinHash ANI Estimation</a:t>
            </a:r>
          </a:p>
        </p:txBody>
      </p:sp>
      <p:sp>
        <p:nvSpPr>
          <p:cNvPr id="7" name="TextBox 6"/>
          <p:cNvSpPr txBox="1"/>
          <p:nvPr/>
        </p:nvSpPr>
        <p:spPr>
          <a:xfrm>
            <a:off x="548640" y="1920240"/>
            <a:ext cx="5303520" cy="1463040"/>
          </a:xfrm>
          <a:prstGeom prst="rect">
            <a:avLst/>
          </a:prstGeom>
          <a:noFill/>
        </p:spPr>
        <p:txBody>
          <a:bodyPr wrap="square">
            <a:spAutoFit/>
          </a:bodyPr>
          <a:lstStyle/>
          <a:p>
            <a:pPr>
              <a:spcAft>
                <a:spcPts val="200"/>
              </a:spcAft>
              <a:defRPr sz="1100">
                <a:solidFill>
                  <a:srgbClr val="333333"/>
                </a:solidFill>
                <a:latin typeface="Calibri"/>
              </a:defRPr>
            </a:pPr>
            <a:r>
              <a:t>Fast pairwise ANI estimation via MinHash sketching</a:t>
            </a:r>
          </a:p>
          <a:p>
            <a:pPr>
              <a:spcAft>
                <a:spcPts val="200"/>
              </a:spcAft>
              <a:defRPr sz="1100">
                <a:solidFill>
                  <a:srgbClr val="333333"/>
                </a:solidFill>
                <a:latin typeface="Calibri"/>
              </a:defRPr>
            </a:pPr>
            <a:r>
              <a:t>Parameters: k=21, sketch size=10,000</a:t>
            </a:r>
          </a:p>
          <a:p>
            <a:pPr>
              <a:spcAft>
                <a:spcPts val="200"/>
              </a:spcAft>
              <a:defRPr sz="1100">
                <a:solidFill>
                  <a:srgbClr val="333333"/>
                </a:solidFill>
                <a:latin typeface="Calibri"/>
              </a:defRPr>
            </a:pPr>
            <a:r>
              <a:t>ANI estimate = (1 - Mash distance) x 100</a:t>
            </a:r>
          </a:p>
          <a:p>
            <a:pPr>
              <a:spcAft>
                <a:spcPts val="200"/>
              </a:spcAft>
              <a:defRPr sz="1100">
                <a:solidFill>
                  <a:srgbClr val="333333"/>
                </a:solidFill>
                <a:latin typeface="Calibri"/>
              </a:defRPr>
            </a:pPr>
            <a:r>
              <a:t>Validates composition-based pLIN thresholds against ANI</a:t>
            </a:r>
          </a:p>
          <a:p>
            <a:pPr>
              <a:spcAft>
                <a:spcPts val="200"/>
              </a:spcAft>
              <a:defRPr sz="1100">
                <a:solidFill>
                  <a:srgbClr val="333333"/>
                </a:solidFill>
                <a:latin typeface="Calibri"/>
              </a:defRPr>
            </a:pPr>
            <a:r>
              <a:t>Auto-detects mash binary from PATH / conda environments</a:t>
            </a:r>
          </a:p>
          <a:p>
            <a:pPr>
              <a:spcAft>
                <a:spcPts val="200"/>
              </a:spcAft>
              <a:defRPr sz="1100">
                <a:solidFill>
                  <a:srgbClr val="333333"/>
                </a:solidFill>
                <a:latin typeface="Calibri"/>
              </a:defRPr>
            </a:pPr>
            <a:r>
              <a:t>Mean/min/max ANI metrics displayed in Epidemiology tab</a:t>
            </a:r>
          </a:p>
        </p:txBody>
      </p:sp>
      <p:sp>
        <p:nvSpPr>
          <p:cNvPr id="8" name="Rounded Rectangle 7"/>
          <p:cNvSpPr/>
          <p:nvPr/>
        </p:nvSpPr>
        <p:spPr>
          <a:xfrm>
            <a:off x="6309360" y="1371600"/>
            <a:ext cx="5486400" cy="2286000"/>
          </a:xfrm>
          <a:prstGeom prst="roundRect">
            <a:avLst/>
          </a:prstGeom>
          <a:solidFill>
            <a:srgbClr val="FFFFFF"/>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5120640" cy="365760"/>
          </a:xfrm>
          <a:prstGeom prst="rect">
            <a:avLst/>
          </a:prstGeom>
          <a:noFill/>
        </p:spPr>
        <p:txBody>
          <a:bodyPr wrap="square">
            <a:spAutoFit/>
          </a:bodyPr>
          <a:lstStyle/>
          <a:p>
            <a:pPr algn="l">
              <a:defRPr sz="1600" b="1">
                <a:solidFill>
                  <a:srgbClr val="43A047"/>
                </a:solidFill>
                <a:latin typeface="Calibri"/>
              </a:defRPr>
            </a:pPr>
            <a:r>
              <a:t>Metadata CSV/TSV Upload</a:t>
            </a:r>
          </a:p>
        </p:txBody>
      </p:sp>
      <p:sp>
        <p:nvSpPr>
          <p:cNvPr id="10" name="TextBox 9"/>
          <p:cNvSpPr txBox="1"/>
          <p:nvPr/>
        </p:nvSpPr>
        <p:spPr>
          <a:xfrm>
            <a:off x="6492240" y="1920240"/>
            <a:ext cx="5120640" cy="1463040"/>
          </a:xfrm>
          <a:prstGeom prst="rect">
            <a:avLst/>
          </a:prstGeom>
          <a:noFill/>
        </p:spPr>
        <p:txBody>
          <a:bodyPr wrap="square">
            <a:spAutoFit/>
          </a:bodyPr>
          <a:lstStyle/>
          <a:p>
            <a:pPr>
              <a:spcAft>
                <a:spcPts val="200"/>
              </a:spcAft>
              <a:defRPr sz="1100">
                <a:solidFill>
                  <a:srgbClr val="333333"/>
                </a:solidFill>
                <a:latin typeface="Calibri"/>
              </a:defRPr>
            </a:pPr>
            <a:r>
              <a:t>Upload patient/sample metadata alongside plasmid sequences</a:t>
            </a:r>
          </a:p>
          <a:p>
            <a:pPr>
              <a:spcAft>
                <a:spcPts val="200"/>
              </a:spcAft>
              <a:defRPr sz="1100">
                <a:solidFill>
                  <a:srgbClr val="333333"/>
                </a:solidFill>
                <a:latin typeface="Calibri"/>
              </a:defRPr>
            </a:pPr>
            <a:r>
              <a:t>Auto-detects join column: plasmid_id, filename, sample_id</a:t>
            </a:r>
          </a:p>
          <a:p>
            <a:pPr>
              <a:spcAft>
                <a:spcPts val="200"/>
              </a:spcAft>
              <a:defRPr sz="1100">
                <a:solidFill>
                  <a:srgbClr val="333333"/>
                </a:solidFill>
                <a:latin typeface="Calibri"/>
              </a:defRPr>
            </a:pPr>
            <a:r>
              <a:t>Auto-parses date columns for temporal outbreak clustering</a:t>
            </a:r>
          </a:p>
          <a:p>
            <a:pPr>
              <a:spcAft>
                <a:spcPts val="200"/>
              </a:spcAft>
              <a:defRPr sz="1100">
                <a:solidFill>
                  <a:srgbClr val="333333"/>
                </a:solidFill>
                <a:latin typeface="Calibri"/>
              </a:defRPr>
            </a:pPr>
            <a:r>
              <a:t>Merges metadata into integrated results table</a:t>
            </a:r>
          </a:p>
          <a:p>
            <a:pPr>
              <a:spcAft>
                <a:spcPts val="200"/>
              </a:spcAft>
              <a:defRPr sz="1100">
                <a:solidFill>
                  <a:srgbClr val="333333"/>
                </a:solidFill>
                <a:latin typeface="Calibri"/>
              </a:defRPr>
            </a:pPr>
            <a:r>
              <a:t>Enables location + date based epidemiological analysis</a:t>
            </a:r>
          </a:p>
          <a:p>
            <a:pPr>
              <a:spcAft>
                <a:spcPts val="200"/>
              </a:spcAft>
              <a:defRPr sz="1100">
                <a:solidFill>
                  <a:srgbClr val="333333"/>
                </a:solidFill>
                <a:latin typeface="Calibri"/>
              </a:defRPr>
            </a:pPr>
            <a:r>
              <a:t>Supports both CSV and TSV formats</a:t>
            </a:r>
          </a:p>
        </p:txBody>
      </p:sp>
      <p:sp>
        <p:nvSpPr>
          <p:cNvPr id="11" name="Rounded Rectangle 10"/>
          <p:cNvSpPr/>
          <p:nvPr/>
        </p:nvSpPr>
        <p:spPr>
          <a:xfrm>
            <a:off x="365760" y="3931920"/>
            <a:ext cx="5669280" cy="256032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023360"/>
            <a:ext cx="5303520" cy="365760"/>
          </a:xfrm>
          <a:prstGeom prst="rect">
            <a:avLst/>
          </a:prstGeom>
          <a:noFill/>
        </p:spPr>
        <p:txBody>
          <a:bodyPr wrap="square">
            <a:spAutoFit/>
          </a:bodyPr>
          <a:lstStyle/>
          <a:p>
            <a:pPr algn="l">
              <a:defRPr sz="1600" b="1">
                <a:solidFill>
                  <a:srgbClr val="FB8C00"/>
                </a:solidFill>
                <a:latin typeface="Calibri"/>
              </a:defRPr>
            </a:pPr>
            <a:r>
              <a:t>Sequence Length Warning System</a:t>
            </a:r>
          </a:p>
        </p:txBody>
      </p:sp>
      <p:sp>
        <p:nvSpPr>
          <p:cNvPr id="13" name="TextBox 12"/>
          <p:cNvSpPr txBox="1"/>
          <p:nvPr/>
        </p:nvSpPr>
        <p:spPr>
          <a:xfrm>
            <a:off x="548640" y="4480560"/>
            <a:ext cx="5303520" cy="1828800"/>
          </a:xfrm>
          <a:prstGeom prst="rect">
            <a:avLst/>
          </a:prstGeom>
          <a:noFill/>
        </p:spPr>
        <p:txBody>
          <a:bodyPr wrap="square">
            <a:spAutoFit/>
          </a:bodyPr>
          <a:lstStyle/>
          <a:p>
            <a:pPr>
              <a:spcAft>
                <a:spcPts val="200"/>
              </a:spcAft>
              <a:defRPr sz="1100">
                <a:solidFill>
                  <a:srgbClr val="333333"/>
                </a:solidFill>
                <a:latin typeface="Calibri"/>
              </a:defRPr>
            </a:pPr>
            <a:r>
              <a:t>Threshold: 5,000 bp (SHORT_PLASMID_THRESHOLD)</a:t>
            </a:r>
          </a:p>
          <a:p>
            <a:pPr>
              <a:spcAft>
                <a:spcPts val="200"/>
              </a:spcAft>
              <a:defRPr sz="1100">
                <a:solidFill>
                  <a:srgbClr val="333333"/>
                </a:solidFill>
                <a:latin typeface="Calibri"/>
              </a:defRPr>
            </a:pPr>
            <a:r>
              <a:t>Short plasmids have noisy 4-mer frequency profiles</a:t>
            </a:r>
          </a:p>
          <a:p>
            <a:pPr>
              <a:spcAft>
                <a:spcPts val="200"/>
              </a:spcAft>
              <a:defRPr sz="1100">
                <a:solidFill>
                  <a:srgbClr val="333333"/>
                </a:solidFill>
                <a:latin typeface="Calibri"/>
              </a:defRPr>
            </a:pPr>
            <a:r>
              <a:t>Warning displayed in Overview tab with expandable detail</a:t>
            </a:r>
          </a:p>
          <a:p>
            <a:pPr>
              <a:spcAft>
                <a:spcPts val="200"/>
              </a:spcAft>
              <a:defRPr sz="1100">
                <a:solidFill>
                  <a:srgbClr val="333333"/>
                </a:solidFill>
                <a:latin typeface="Calibri"/>
              </a:defRPr>
            </a:pPr>
            <a:r>
              <a:t>Shows: plasmid ID, Inc type, length, pLIN code</a:t>
            </a:r>
          </a:p>
          <a:p>
            <a:pPr>
              <a:spcAft>
                <a:spcPts val="200"/>
              </a:spcAft>
              <a:defRPr sz="1100">
                <a:solidFill>
                  <a:srgbClr val="333333"/>
                </a:solidFill>
                <a:latin typeface="Calibri"/>
              </a:defRPr>
            </a:pPr>
            <a:r>
              <a:t>Recommends caution for classification of short sequences</a:t>
            </a:r>
          </a:p>
          <a:p>
            <a:pPr>
              <a:spcAft>
                <a:spcPts val="200"/>
              </a:spcAft>
              <a:defRPr sz="1100">
                <a:solidFill>
                  <a:srgbClr val="333333"/>
                </a:solidFill>
                <a:latin typeface="Calibri"/>
              </a:defRPr>
            </a:pPr>
            <a:r>
              <a:t>Does not block analysis — informational warning only</a:t>
            </a:r>
          </a:p>
        </p:txBody>
      </p:sp>
      <p:sp>
        <p:nvSpPr>
          <p:cNvPr id="14" name="Rounded Rectangle 13"/>
          <p:cNvSpPr/>
          <p:nvPr/>
        </p:nvSpPr>
        <p:spPr>
          <a:xfrm>
            <a:off x="6309360" y="3931920"/>
            <a:ext cx="5486400" cy="2560320"/>
          </a:xfrm>
          <a:prstGeom prst="roundRect">
            <a:avLst/>
          </a:prstGeom>
          <a:solidFill>
            <a:srgbClr val="FFFFFF"/>
          </a:solidFill>
          <a:ln w="254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023360"/>
            <a:ext cx="5120640" cy="365760"/>
          </a:xfrm>
          <a:prstGeom prst="rect">
            <a:avLst/>
          </a:prstGeom>
          <a:noFill/>
        </p:spPr>
        <p:txBody>
          <a:bodyPr wrap="square">
            <a:spAutoFit/>
          </a:bodyPr>
          <a:lstStyle/>
          <a:p>
            <a:pPr algn="l">
              <a:defRPr sz="1600" b="1">
                <a:solidFill>
                  <a:srgbClr val="8E24AA"/>
                </a:solidFill>
                <a:latin typeface="Calibri"/>
              </a:defRPr>
            </a:pPr>
            <a:r>
              <a:t>Adaptive Calibration (Now Default)</a:t>
            </a:r>
          </a:p>
        </p:txBody>
      </p:sp>
      <p:sp>
        <p:nvSpPr>
          <p:cNvPr id="16" name="TextBox 15"/>
          <p:cNvSpPr txBox="1"/>
          <p:nvPr/>
        </p:nvSpPr>
        <p:spPr>
          <a:xfrm>
            <a:off x="6492240" y="4480560"/>
            <a:ext cx="5120640" cy="1828800"/>
          </a:xfrm>
          <a:prstGeom prst="rect">
            <a:avLst/>
          </a:prstGeom>
          <a:noFill/>
        </p:spPr>
        <p:txBody>
          <a:bodyPr wrap="square">
            <a:spAutoFit/>
          </a:bodyPr>
          <a:lstStyle/>
          <a:p>
            <a:pPr>
              <a:spcAft>
                <a:spcPts val="200"/>
              </a:spcAft>
              <a:defRPr sz="1100">
                <a:solidFill>
                  <a:srgbClr val="333333"/>
                </a:solidFill>
                <a:latin typeface="Calibri"/>
              </a:defRPr>
            </a:pPr>
            <a:r>
              <a:t>Adaptive thresholds now enabled by default (was opt-in)</a:t>
            </a:r>
          </a:p>
          <a:p>
            <a:pPr>
              <a:spcAft>
                <a:spcPts val="200"/>
              </a:spcAft>
              <a:defRPr sz="1100">
                <a:solidFill>
                  <a:srgbClr val="333333"/>
                </a:solidFill>
                <a:latin typeface="Calibri"/>
              </a:defRPr>
            </a:pPr>
            <a:r>
              <a:t>Calibrates pLIN thresholds per Inc group automatically</a:t>
            </a:r>
          </a:p>
          <a:p>
            <a:pPr>
              <a:spcAft>
                <a:spcPts val="200"/>
              </a:spcAft>
              <a:defRPr sz="1100">
                <a:solidFill>
                  <a:srgbClr val="333333"/>
                </a:solidFill>
                <a:latin typeface="Calibri"/>
              </a:defRPr>
            </a:pPr>
            <a:r>
              <a:t>Uses quantile-based calibration on training distances</a:t>
            </a:r>
          </a:p>
          <a:p>
            <a:pPr>
              <a:spcAft>
                <a:spcPts val="200"/>
              </a:spcAft>
              <a:defRPr sz="1100">
                <a:solidFill>
                  <a:srgbClr val="333333"/>
                </a:solidFill>
                <a:latin typeface="Calibri"/>
              </a:defRPr>
            </a:pPr>
            <a:r>
              <a:t>Better handles diverse Inc groups (e.g. IncFII vs IncX1)</a:t>
            </a:r>
          </a:p>
          <a:p>
            <a:pPr>
              <a:spcAft>
                <a:spcPts val="200"/>
              </a:spcAft>
              <a:defRPr sz="1100">
                <a:solidFill>
                  <a:srgbClr val="333333"/>
                </a:solidFill>
                <a:latin typeface="Calibri"/>
              </a:defRPr>
            </a:pPr>
            <a:r>
              <a:t>Recommended for most analyses — fixed thresholds available</a:t>
            </a:r>
          </a:p>
          <a:p>
            <a:pPr>
              <a:spcAft>
                <a:spcPts val="200"/>
              </a:spcAft>
              <a:defRPr sz="1100">
                <a:solidFill>
                  <a:srgbClr val="333333"/>
                </a:solidFill>
                <a:latin typeface="Calibri"/>
              </a:defRPr>
            </a:pPr>
            <a:r>
              <a:t>Checkbox still available for universal threshold users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Phase 2 Upgrades — Genomic Resolution</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FastANI true ANI, minimap2 SNP sub-typing, temporal outbreak clustering</a:t>
            </a:r>
          </a:p>
        </p:txBody>
      </p:sp>
      <p:sp>
        <p:nvSpPr>
          <p:cNvPr id="5" name="Rounded Rectangle 4"/>
          <p:cNvSpPr/>
          <p:nvPr/>
        </p:nvSpPr>
        <p:spPr>
          <a:xfrm>
            <a:off x="365760" y="1371600"/>
            <a:ext cx="3657600" cy="246888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3291840" cy="365760"/>
          </a:xfrm>
          <a:prstGeom prst="rect">
            <a:avLst/>
          </a:prstGeom>
          <a:noFill/>
        </p:spPr>
        <p:txBody>
          <a:bodyPr wrap="square">
            <a:spAutoFit/>
          </a:bodyPr>
          <a:lstStyle/>
          <a:p>
            <a:pPr algn="l">
              <a:defRPr sz="1600" b="1">
                <a:solidFill>
                  <a:srgbClr val="1E88E5"/>
                </a:solidFill>
                <a:latin typeface="Calibri"/>
              </a:defRPr>
            </a:pPr>
            <a:r>
              <a:t>FastANI True ANI</a:t>
            </a:r>
          </a:p>
        </p:txBody>
      </p:sp>
      <p:sp>
        <p:nvSpPr>
          <p:cNvPr id="7" name="TextBox 6"/>
          <p:cNvSpPr txBox="1"/>
          <p:nvPr/>
        </p:nvSpPr>
        <p:spPr>
          <a:xfrm>
            <a:off x="548640" y="1920240"/>
            <a:ext cx="3291840" cy="1645920"/>
          </a:xfrm>
          <a:prstGeom prst="rect">
            <a:avLst/>
          </a:prstGeom>
          <a:noFill/>
        </p:spPr>
        <p:txBody>
          <a:bodyPr wrap="square">
            <a:spAutoFit/>
          </a:bodyPr>
          <a:lstStyle/>
          <a:p>
            <a:pPr>
              <a:spcAft>
                <a:spcPts val="200"/>
              </a:spcAft>
              <a:defRPr sz="1100">
                <a:solidFill>
                  <a:srgbClr val="333333"/>
                </a:solidFill>
                <a:latin typeface="Calibri"/>
              </a:defRPr>
            </a:pPr>
            <a:r>
              <a:t>All-vs-all true ANI computation</a:t>
            </a:r>
          </a:p>
          <a:p>
            <a:pPr>
              <a:spcAft>
                <a:spcPts val="200"/>
              </a:spcAft>
              <a:defRPr sz="1100">
                <a:solidFill>
                  <a:srgbClr val="333333"/>
                </a:solidFill>
                <a:latin typeface="Calibri"/>
              </a:defRPr>
            </a:pPr>
            <a:r>
              <a:t>Optimized for plasmids: --fragLen 1000</a:t>
            </a:r>
          </a:p>
          <a:p>
            <a:pPr>
              <a:spcAft>
                <a:spcPts val="200"/>
              </a:spcAft>
              <a:defRPr sz="1100">
                <a:solidFill>
                  <a:srgbClr val="333333"/>
                </a:solidFill>
                <a:latin typeface="Calibri"/>
              </a:defRPr>
            </a:pPr>
            <a:r>
              <a:t>4 threads for parallel execution</a:t>
            </a:r>
          </a:p>
          <a:p>
            <a:pPr>
              <a:spcAft>
                <a:spcPts val="200"/>
              </a:spcAft>
              <a:defRPr sz="1100">
                <a:solidFill>
                  <a:srgbClr val="333333"/>
                </a:solidFill>
                <a:latin typeface="Calibri"/>
              </a:defRPr>
            </a:pPr>
            <a:r>
              <a:t>Pairwise ANI + fragment statistics</a:t>
            </a:r>
          </a:p>
          <a:p>
            <a:pPr>
              <a:spcAft>
                <a:spcPts val="200"/>
              </a:spcAft>
              <a:defRPr sz="1100">
                <a:solidFill>
                  <a:srgbClr val="333333"/>
                </a:solidFill>
                <a:latin typeface="Calibri"/>
              </a:defRPr>
            </a:pPr>
            <a:r>
              <a:t>Auto-detects fastANI binary</a:t>
            </a:r>
          </a:p>
          <a:p>
            <a:pPr>
              <a:spcAft>
                <a:spcPts val="200"/>
              </a:spcAft>
              <a:defRPr sz="1100">
                <a:solidFill>
                  <a:srgbClr val="333333"/>
                </a:solidFill>
                <a:latin typeface="Calibri"/>
              </a:defRPr>
            </a:pPr>
            <a:r>
              <a:t>Ground-truth validation of pLIN</a:t>
            </a:r>
          </a:p>
        </p:txBody>
      </p:sp>
      <p:sp>
        <p:nvSpPr>
          <p:cNvPr id="8" name="Rounded Rectangle 7"/>
          <p:cNvSpPr/>
          <p:nvPr/>
        </p:nvSpPr>
        <p:spPr>
          <a:xfrm>
            <a:off x="4297680" y="1371600"/>
            <a:ext cx="3657600" cy="2468880"/>
          </a:xfrm>
          <a:prstGeom prst="roundRect">
            <a:avLst/>
          </a:prstGeom>
          <a:solidFill>
            <a:srgbClr val="FFFFFF"/>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463040"/>
            <a:ext cx="3291840" cy="365760"/>
          </a:xfrm>
          <a:prstGeom prst="rect">
            <a:avLst/>
          </a:prstGeom>
          <a:noFill/>
        </p:spPr>
        <p:txBody>
          <a:bodyPr wrap="square">
            <a:spAutoFit/>
          </a:bodyPr>
          <a:lstStyle/>
          <a:p>
            <a:pPr algn="l">
              <a:defRPr sz="1600" b="1">
                <a:solidFill>
                  <a:srgbClr val="43A047"/>
                </a:solidFill>
                <a:latin typeface="Calibri"/>
              </a:defRPr>
            </a:pPr>
            <a:r>
              <a:t>SNP Sub-typing (L6)</a:t>
            </a:r>
          </a:p>
        </p:txBody>
      </p:sp>
      <p:sp>
        <p:nvSpPr>
          <p:cNvPr id="10" name="TextBox 9"/>
          <p:cNvSpPr txBox="1"/>
          <p:nvPr/>
        </p:nvSpPr>
        <p:spPr>
          <a:xfrm>
            <a:off x="4480560" y="1920240"/>
            <a:ext cx="3291840" cy="1645920"/>
          </a:xfrm>
          <a:prstGeom prst="rect">
            <a:avLst/>
          </a:prstGeom>
          <a:noFill/>
        </p:spPr>
        <p:txBody>
          <a:bodyPr wrap="square">
            <a:spAutoFit/>
          </a:bodyPr>
          <a:lstStyle/>
          <a:p>
            <a:pPr>
              <a:spcAft>
                <a:spcPts val="200"/>
              </a:spcAft>
              <a:defRPr sz="1100">
                <a:solidFill>
                  <a:srgbClr val="333333"/>
                </a:solidFill>
                <a:latin typeface="Calibri"/>
              </a:defRPr>
            </a:pPr>
            <a:r>
              <a:t>minimap2 alignment within L6 clusters</a:t>
            </a:r>
          </a:p>
          <a:p>
            <a:pPr>
              <a:spcAft>
                <a:spcPts val="200"/>
              </a:spcAft>
              <a:defRPr sz="1100">
                <a:solidFill>
                  <a:srgbClr val="333333"/>
                </a:solidFill>
                <a:latin typeface="Calibri"/>
              </a:defRPr>
            </a:pPr>
            <a:r>
              <a:t>Preset: -cx asm5 (closely related)</a:t>
            </a:r>
          </a:p>
          <a:p>
            <a:pPr>
              <a:spcAft>
                <a:spcPts val="200"/>
              </a:spcAft>
              <a:defRPr sz="1100">
                <a:solidFill>
                  <a:srgbClr val="333333"/>
                </a:solidFill>
                <a:latin typeface="Calibri"/>
              </a:defRPr>
            </a:pPr>
            <a:r>
              <a:t>Counts mismatches from CS tags</a:t>
            </a:r>
          </a:p>
          <a:p>
            <a:pPr>
              <a:spcAft>
                <a:spcPts val="200"/>
              </a:spcAft>
              <a:defRPr sz="1100">
                <a:solidFill>
                  <a:srgbClr val="333333"/>
                </a:solidFill>
                <a:latin typeface="Calibri"/>
              </a:defRPr>
            </a:pPr>
            <a:r>
              <a:t>0-SNP pairs flagged as clonal</a:t>
            </a:r>
          </a:p>
          <a:p>
            <a:pPr>
              <a:spcAft>
                <a:spcPts val="200"/>
              </a:spcAft>
              <a:defRPr sz="1100">
                <a:solidFill>
                  <a:srgbClr val="333333"/>
                </a:solidFill>
                <a:latin typeface="Calibri"/>
              </a:defRPr>
            </a:pPr>
            <a:r>
              <a:t>Resolves within-strain diversity</a:t>
            </a:r>
          </a:p>
          <a:p>
            <a:pPr>
              <a:spcAft>
                <a:spcPts val="200"/>
              </a:spcAft>
              <a:defRPr sz="1100">
                <a:solidFill>
                  <a:srgbClr val="333333"/>
                </a:solidFill>
                <a:latin typeface="Calibri"/>
              </a:defRPr>
            </a:pPr>
            <a:r>
              <a:t>Critical for outbreak investigation</a:t>
            </a:r>
          </a:p>
        </p:txBody>
      </p:sp>
      <p:sp>
        <p:nvSpPr>
          <p:cNvPr id="11" name="Rounded Rectangle 10"/>
          <p:cNvSpPr/>
          <p:nvPr/>
        </p:nvSpPr>
        <p:spPr>
          <a:xfrm>
            <a:off x="8229600" y="1371600"/>
            <a:ext cx="3657600" cy="2468880"/>
          </a:xfrm>
          <a:prstGeom prst="round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463040"/>
            <a:ext cx="3291840" cy="365760"/>
          </a:xfrm>
          <a:prstGeom prst="rect">
            <a:avLst/>
          </a:prstGeom>
          <a:noFill/>
        </p:spPr>
        <p:txBody>
          <a:bodyPr wrap="square">
            <a:spAutoFit/>
          </a:bodyPr>
          <a:lstStyle/>
          <a:p>
            <a:pPr algn="l">
              <a:defRPr sz="1600" b="1">
                <a:solidFill>
                  <a:srgbClr val="E53935"/>
                </a:solidFill>
                <a:latin typeface="Calibri"/>
              </a:defRPr>
            </a:pPr>
            <a:r>
              <a:t>Temporal Outbreaks</a:t>
            </a:r>
          </a:p>
        </p:txBody>
      </p:sp>
      <p:sp>
        <p:nvSpPr>
          <p:cNvPr id="13" name="TextBox 12"/>
          <p:cNvSpPr txBox="1"/>
          <p:nvPr/>
        </p:nvSpPr>
        <p:spPr>
          <a:xfrm>
            <a:off x="8412480" y="1920240"/>
            <a:ext cx="3291840" cy="1645920"/>
          </a:xfrm>
          <a:prstGeom prst="rect">
            <a:avLst/>
          </a:prstGeom>
          <a:noFill/>
        </p:spPr>
        <p:txBody>
          <a:bodyPr wrap="square">
            <a:spAutoFit/>
          </a:bodyPr>
          <a:lstStyle/>
          <a:p>
            <a:pPr>
              <a:spcAft>
                <a:spcPts val="200"/>
              </a:spcAft>
              <a:defRPr sz="1100">
                <a:solidFill>
                  <a:srgbClr val="333333"/>
                </a:solidFill>
                <a:latin typeface="Calibri"/>
              </a:defRPr>
            </a:pPr>
            <a:r>
              <a:t>30-day sliding window detection</a:t>
            </a:r>
          </a:p>
          <a:p>
            <a:pPr>
              <a:spcAft>
                <a:spcPts val="200"/>
              </a:spcAft>
              <a:defRPr sz="1100">
                <a:solidFill>
                  <a:srgbClr val="333333"/>
                </a:solidFill>
                <a:latin typeface="Calibri"/>
              </a:defRPr>
            </a:pPr>
            <a:r>
              <a:t>Requires: L6 code + AMR + dates</a:t>
            </a:r>
          </a:p>
          <a:p>
            <a:pPr>
              <a:spcAft>
                <a:spcPts val="200"/>
              </a:spcAft>
              <a:defRPr sz="1100">
                <a:solidFill>
                  <a:srgbClr val="333333"/>
                </a:solidFill>
                <a:latin typeface="Calibri"/>
              </a:defRPr>
            </a:pPr>
            <a:r>
              <a:t>3 risk levels: CRITICAL/HIGH/MOD</a:t>
            </a:r>
          </a:p>
          <a:p>
            <a:pPr>
              <a:spcAft>
                <a:spcPts val="200"/>
              </a:spcAft>
              <a:defRPr sz="1100">
                <a:solidFill>
                  <a:srgbClr val="333333"/>
                </a:solidFill>
                <a:latin typeface="Calibri"/>
              </a:defRPr>
            </a:pPr>
            <a:r>
              <a:t>CRITICAL: ≥3 AMR + ≤7 days</a:t>
            </a:r>
          </a:p>
          <a:p>
            <a:pPr>
              <a:spcAft>
                <a:spcPts val="200"/>
              </a:spcAft>
              <a:defRPr sz="1100">
                <a:solidFill>
                  <a:srgbClr val="333333"/>
                </a:solidFill>
                <a:latin typeface="Calibri"/>
              </a:defRPr>
            </a:pPr>
            <a:r>
              <a:t>Leverages metadata CSV upload</a:t>
            </a:r>
          </a:p>
          <a:p>
            <a:pPr>
              <a:spcAft>
                <a:spcPts val="200"/>
              </a:spcAft>
              <a:defRPr sz="1100">
                <a:solidFill>
                  <a:srgbClr val="333333"/>
                </a:solidFill>
                <a:latin typeface="Calibri"/>
              </a:defRPr>
            </a:pPr>
            <a:r>
              <a:t>Real-time surveillance ready</a:t>
            </a:r>
          </a:p>
        </p:txBody>
      </p:sp>
      <p:sp>
        <p:nvSpPr>
          <p:cNvPr id="14" name="Rounded Rectangle 13"/>
          <p:cNvSpPr/>
          <p:nvPr/>
        </p:nvSpPr>
        <p:spPr>
          <a:xfrm>
            <a:off x="365760" y="4114800"/>
            <a:ext cx="11430000" cy="2468880"/>
          </a:xfrm>
          <a:prstGeom prst="roundRect">
            <a:avLst/>
          </a:prstGeom>
          <a:solidFill>
            <a:srgbClr val="ECEFF1"/>
          </a:solidFill>
          <a:ln w="12700">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206240"/>
            <a:ext cx="10972800" cy="365760"/>
          </a:xfrm>
          <a:prstGeom prst="rect">
            <a:avLst/>
          </a:prstGeom>
          <a:noFill/>
        </p:spPr>
        <p:txBody>
          <a:bodyPr wrap="square">
            <a:spAutoFit/>
          </a:bodyPr>
          <a:lstStyle/>
          <a:p>
            <a:pPr algn="l">
              <a:defRPr sz="1600" b="1">
                <a:solidFill>
                  <a:srgbClr val="0D47A1"/>
                </a:solidFill>
                <a:latin typeface="Calibri"/>
              </a:defRPr>
            </a:pPr>
            <a:r>
              <a:t>Enhanced Analysis Pipeline (Steps 8–11)</a:t>
            </a:r>
          </a:p>
        </p:txBody>
      </p:sp>
      <p:sp>
        <p:nvSpPr>
          <p:cNvPr id="16" name="Rounded Rectangle 15"/>
          <p:cNvSpPr/>
          <p:nvPr/>
        </p:nvSpPr>
        <p:spPr>
          <a:xfrm>
            <a:off x="731520" y="4754880"/>
            <a:ext cx="2286000" cy="1463040"/>
          </a:xfrm>
          <a:prstGeom prst="round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2286000" cy="320040"/>
          </a:xfrm>
          <a:prstGeom prst="rect">
            <a:avLst/>
          </a:prstGeom>
          <a:noFill/>
        </p:spPr>
        <p:txBody>
          <a:bodyPr wrap="square">
            <a:spAutoFit/>
          </a:bodyPr>
          <a:lstStyle/>
          <a:p>
            <a:pPr algn="ctr">
              <a:defRPr sz="1300" b="1">
                <a:solidFill>
                  <a:srgbClr val="E53935"/>
                </a:solidFill>
                <a:latin typeface="Calibri"/>
              </a:defRPr>
            </a:pPr>
            <a:r>
              <a:t>Step 8b</a:t>
            </a:r>
          </a:p>
        </p:txBody>
      </p:sp>
      <p:sp>
        <p:nvSpPr>
          <p:cNvPr id="18" name="TextBox 17"/>
          <p:cNvSpPr txBox="1"/>
          <p:nvPr/>
        </p:nvSpPr>
        <p:spPr>
          <a:xfrm>
            <a:off x="731520" y="5166360"/>
            <a:ext cx="2286000" cy="822960"/>
          </a:xfrm>
          <a:prstGeom prst="rect">
            <a:avLst/>
          </a:prstGeom>
          <a:noFill/>
        </p:spPr>
        <p:txBody>
          <a:bodyPr wrap="square">
            <a:spAutoFit/>
          </a:bodyPr>
          <a:lstStyle/>
          <a:p>
            <a:pPr algn="ctr">
              <a:defRPr sz="1100" b="0">
                <a:solidFill>
                  <a:srgbClr val="333333"/>
                </a:solidFill>
                <a:latin typeface="Calibri"/>
              </a:defRPr>
            </a:pPr>
            <a:r>
              <a:t>Temporal</a:t>
            </a:r>
            <a:br/>
            <a:r>
              <a:t>Outbreak</a:t>
            </a:r>
            <a:br/>
            <a:r>
              <a:t>Clustering</a:t>
            </a:r>
          </a:p>
        </p:txBody>
      </p:sp>
      <p:sp>
        <p:nvSpPr>
          <p:cNvPr id="19" name="Right Arrow 18"/>
          <p:cNvSpPr/>
          <p:nvPr/>
        </p:nvSpPr>
        <p:spPr>
          <a:xfrm>
            <a:off x="3063240" y="5303520"/>
            <a:ext cx="457200" cy="274320"/>
          </a:xfrm>
          <a:prstGeom prst="rightArrow">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6160" y="4754880"/>
            <a:ext cx="2286000" cy="1463040"/>
          </a:xfrm>
          <a:prstGeom prst="roundRect">
            <a:avLst/>
          </a:prstGeom>
          <a:solidFill>
            <a:srgbClr val="FFFFFF"/>
          </a:solidFill>
          <a:ln w="2540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4800600"/>
            <a:ext cx="2286000" cy="320040"/>
          </a:xfrm>
          <a:prstGeom prst="rect">
            <a:avLst/>
          </a:prstGeom>
          <a:noFill/>
        </p:spPr>
        <p:txBody>
          <a:bodyPr wrap="square">
            <a:spAutoFit/>
          </a:bodyPr>
          <a:lstStyle/>
          <a:p>
            <a:pPr algn="ctr">
              <a:defRPr sz="1300" b="1">
                <a:solidFill>
                  <a:srgbClr val="1E88E5"/>
                </a:solidFill>
                <a:latin typeface="Calibri"/>
              </a:defRPr>
            </a:pPr>
            <a:r>
              <a:t>Step 9</a:t>
            </a:r>
          </a:p>
        </p:txBody>
      </p:sp>
      <p:sp>
        <p:nvSpPr>
          <p:cNvPr id="22" name="TextBox 21"/>
          <p:cNvSpPr txBox="1"/>
          <p:nvPr/>
        </p:nvSpPr>
        <p:spPr>
          <a:xfrm>
            <a:off x="3566160" y="5166360"/>
            <a:ext cx="2286000" cy="822960"/>
          </a:xfrm>
          <a:prstGeom prst="rect">
            <a:avLst/>
          </a:prstGeom>
          <a:noFill/>
        </p:spPr>
        <p:txBody>
          <a:bodyPr wrap="square">
            <a:spAutoFit/>
          </a:bodyPr>
          <a:lstStyle/>
          <a:p>
            <a:pPr algn="ctr">
              <a:defRPr sz="1100" b="0">
                <a:solidFill>
                  <a:srgbClr val="333333"/>
                </a:solidFill>
                <a:latin typeface="Calibri"/>
              </a:defRPr>
            </a:pPr>
            <a:r>
              <a:t>Mash ANI</a:t>
            </a:r>
            <a:br/>
            <a:r>
              <a:t>Estimation</a:t>
            </a:r>
            <a:br/>
            <a:r>
              <a:t>(MinHash)</a:t>
            </a:r>
          </a:p>
        </p:txBody>
      </p:sp>
      <p:sp>
        <p:nvSpPr>
          <p:cNvPr id="23" name="Right Arrow 22"/>
          <p:cNvSpPr/>
          <p:nvPr/>
        </p:nvSpPr>
        <p:spPr>
          <a:xfrm>
            <a:off x="5897880" y="5303520"/>
            <a:ext cx="457200" cy="274320"/>
          </a:xfrm>
          <a:prstGeom prst="rightArrow">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4754880"/>
            <a:ext cx="2286000" cy="1463040"/>
          </a:xfrm>
          <a:prstGeom prst="roundRect">
            <a:avLst/>
          </a:prstGeom>
          <a:solidFill>
            <a:srgbClr val="FFFFFF"/>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800600"/>
            <a:ext cx="2286000" cy="320040"/>
          </a:xfrm>
          <a:prstGeom prst="rect">
            <a:avLst/>
          </a:prstGeom>
          <a:noFill/>
        </p:spPr>
        <p:txBody>
          <a:bodyPr wrap="square">
            <a:spAutoFit/>
          </a:bodyPr>
          <a:lstStyle/>
          <a:p>
            <a:pPr algn="ctr">
              <a:defRPr sz="1300" b="1">
                <a:solidFill>
                  <a:srgbClr val="43A047"/>
                </a:solidFill>
                <a:latin typeface="Calibri"/>
              </a:defRPr>
            </a:pPr>
            <a:r>
              <a:t>Step 10</a:t>
            </a:r>
          </a:p>
        </p:txBody>
      </p:sp>
      <p:sp>
        <p:nvSpPr>
          <p:cNvPr id="26" name="TextBox 25"/>
          <p:cNvSpPr txBox="1"/>
          <p:nvPr/>
        </p:nvSpPr>
        <p:spPr>
          <a:xfrm>
            <a:off x="6400800" y="5166360"/>
            <a:ext cx="2286000" cy="822960"/>
          </a:xfrm>
          <a:prstGeom prst="rect">
            <a:avLst/>
          </a:prstGeom>
          <a:noFill/>
        </p:spPr>
        <p:txBody>
          <a:bodyPr wrap="square">
            <a:spAutoFit/>
          </a:bodyPr>
          <a:lstStyle/>
          <a:p>
            <a:pPr algn="ctr">
              <a:defRPr sz="1100" b="0">
                <a:solidFill>
                  <a:srgbClr val="333333"/>
                </a:solidFill>
                <a:latin typeface="Calibri"/>
              </a:defRPr>
            </a:pPr>
            <a:r>
              <a:t>FastANI</a:t>
            </a:r>
            <a:br/>
            <a:r>
              <a:t>True ANI</a:t>
            </a:r>
            <a:br/>
            <a:r>
              <a:t>Computation</a:t>
            </a:r>
          </a:p>
        </p:txBody>
      </p:sp>
      <p:sp>
        <p:nvSpPr>
          <p:cNvPr id="27" name="Right Arrow 26"/>
          <p:cNvSpPr/>
          <p:nvPr/>
        </p:nvSpPr>
        <p:spPr>
          <a:xfrm>
            <a:off x="8732520" y="5303520"/>
            <a:ext cx="457200" cy="274320"/>
          </a:xfrm>
          <a:prstGeom prst="rightArrow">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235440" y="4754880"/>
            <a:ext cx="2286000" cy="1463040"/>
          </a:xfrm>
          <a:prstGeom prst="roundRect">
            <a:avLst/>
          </a:prstGeom>
          <a:solidFill>
            <a:srgbClr val="FFFFFF"/>
          </a:solidFill>
          <a:ln w="25400">
            <a:solidFill>
              <a:srgbClr val="FB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4800600"/>
            <a:ext cx="2286000" cy="320040"/>
          </a:xfrm>
          <a:prstGeom prst="rect">
            <a:avLst/>
          </a:prstGeom>
          <a:noFill/>
        </p:spPr>
        <p:txBody>
          <a:bodyPr wrap="square">
            <a:spAutoFit/>
          </a:bodyPr>
          <a:lstStyle/>
          <a:p>
            <a:pPr algn="ctr">
              <a:defRPr sz="1300" b="1">
                <a:solidFill>
                  <a:srgbClr val="FB8C00"/>
                </a:solidFill>
                <a:latin typeface="Calibri"/>
              </a:defRPr>
            </a:pPr>
            <a:r>
              <a:t>Step 11</a:t>
            </a:r>
          </a:p>
        </p:txBody>
      </p:sp>
      <p:sp>
        <p:nvSpPr>
          <p:cNvPr id="30" name="TextBox 29"/>
          <p:cNvSpPr txBox="1"/>
          <p:nvPr/>
        </p:nvSpPr>
        <p:spPr>
          <a:xfrm>
            <a:off x="9235440" y="5166360"/>
            <a:ext cx="2286000" cy="822960"/>
          </a:xfrm>
          <a:prstGeom prst="rect">
            <a:avLst/>
          </a:prstGeom>
          <a:noFill/>
        </p:spPr>
        <p:txBody>
          <a:bodyPr wrap="square">
            <a:spAutoFit/>
          </a:bodyPr>
          <a:lstStyle/>
          <a:p>
            <a:pPr algn="ctr">
              <a:defRPr sz="1100" b="0">
                <a:solidFill>
                  <a:srgbClr val="333333"/>
                </a:solidFill>
                <a:latin typeface="Calibri"/>
              </a:defRPr>
            </a:pPr>
            <a:r>
              <a:t>minimap2</a:t>
            </a:r>
            <a:br/>
            <a:r>
              <a:t>SNP Sub-</a:t>
            </a:r>
            <a:br/>
            <a:r>
              <a:t>typing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972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548640"/>
          </a:xfrm>
          <a:prstGeom prst="rect">
            <a:avLst/>
          </a:prstGeom>
          <a:noFill/>
        </p:spPr>
        <p:txBody>
          <a:bodyPr wrap="square">
            <a:spAutoFit/>
          </a:bodyPr>
          <a:lstStyle/>
          <a:p>
            <a:pPr algn="l">
              <a:defRPr sz="3200" b="1">
                <a:solidFill>
                  <a:srgbClr val="FFFFFF"/>
                </a:solidFill>
                <a:latin typeface="Calibri"/>
              </a:defRPr>
            </a:pPr>
            <a:r>
              <a:t>Upgrade Summary — v2.1 Feature Matrix</a:t>
            </a:r>
          </a:p>
        </p:txBody>
      </p:sp>
      <p:sp>
        <p:nvSpPr>
          <p:cNvPr id="4" name="TextBox 3"/>
          <p:cNvSpPr txBox="1"/>
          <p:nvPr/>
        </p:nvSpPr>
        <p:spPr>
          <a:xfrm>
            <a:off x="548640" y="640080"/>
            <a:ext cx="10972800" cy="365760"/>
          </a:xfrm>
          <a:prstGeom prst="rect">
            <a:avLst/>
          </a:prstGeom>
          <a:noFill/>
        </p:spPr>
        <p:txBody>
          <a:bodyPr wrap="square">
            <a:spAutoFit/>
          </a:bodyPr>
          <a:lstStyle/>
          <a:p>
            <a:pPr algn="l">
              <a:defRPr sz="1600" b="0">
                <a:solidFill>
                  <a:srgbClr val="BBDEFB"/>
                </a:solidFill>
                <a:latin typeface="Calibri"/>
              </a:defRPr>
            </a:pPr>
            <a:r>
              <a:t>7 new features across Phase 1 (immediate) and Phase 2 (advanced)</a:t>
            </a:r>
          </a:p>
        </p:txBody>
      </p:sp>
      <p:sp>
        <p:nvSpPr>
          <p:cNvPr id="5" name="Rounded Rectangle 4"/>
          <p:cNvSpPr/>
          <p:nvPr/>
        </p:nvSpPr>
        <p:spPr>
          <a:xfrm>
            <a:off x="365760" y="1371600"/>
            <a:ext cx="566928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5486400" cy="365760"/>
          </a:xfrm>
          <a:prstGeom prst="rect">
            <a:avLst/>
          </a:prstGeom>
          <a:noFill/>
        </p:spPr>
        <p:txBody>
          <a:bodyPr wrap="square">
            <a:spAutoFit/>
          </a:bodyPr>
          <a:lstStyle/>
          <a:p>
            <a:pPr algn="l">
              <a:defRPr sz="1600" b="1">
                <a:solidFill>
                  <a:srgbClr val="FFFFFF"/>
                </a:solidFill>
                <a:latin typeface="Calibri"/>
              </a:defRPr>
            </a:pPr>
            <a:r>
              <a:t>Phase 1 — Immediate, High-Value</a:t>
            </a:r>
          </a:p>
        </p:txBody>
      </p:sp>
      <p:sp>
        <p:nvSpPr>
          <p:cNvPr id="7" name="Oval 6"/>
          <p:cNvSpPr/>
          <p:nvPr/>
        </p:nvSpPr>
        <p:spPr>
          <a:xfrm>
            <a:off x="457200" y="201168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8" name="TextBox 7"/>
          <p:cNvSpPr txBox="1"/>
          <p:nvPr/>
        </p:nvSpPr>
        <p:spPr>
          <a:xfrm>
            <a:off x="868680" y="1965960"/>
            <a:ext cx="2286000" cy="274320"/>
          </a:xfrm>
          <a:prstGeom prst="rect">
            <a:avLst/>
          </a:prstGeom>
          <a:noFill/>
        </p:spPr>
        <p:txBody>
          <a:bodyPr wrap="square">
            <a:spAutoFit/>
          </a:bodyPr>
          <a:lstStyle/>
          <a:p>
            <a:pPr algn="l">
              <a:defRPr sz="1200" b="1">
                <a:solidFill>
                  <a:srgbClr val="1E88E5"/>
                </a:solidFill>
                <a:latin typeface="Calibri"/>
              </a:defRPr>
            </a:pPr>
            <a:r>
              <a:t>Adaptive Calibration Default</a:t>
            </a:r>
          </a:p>
        </p:txBody>
      </p:sp>
      <p:sp>
        <p:nvSpPr>
          <p:cNvPr id="9" name="TextBox 8"/>
          <p:cNvSpPr txBox="1"/>
          <p:nvPr/>
        </p:nvSpPr>
        <p:spPr>
          <a:xfrm>
            <a:off x="868680" y="2221992"/>
            <a:ext cx="5029200" cy="228600"/>
          </a:xfrm>
          <a:prstGeom prst="rect">
            <a:avLst/>
          </a:prstGeom>
          <a:noFill/>
        </p:spPr>
        <p:txBody>
          <a:bodyPr wrap="square">
            <a:spAutoFit/>
          </a:bodyPr>
          <a:lstStyle/>
          <a:p>
            <a:pPr algn="l">
              <a:defRPr sz="1000" b="0">
                <a:solidFill>
                  <a:srgbClr val="757575"/>
                </a:solidFill>
                <a:latin typeface="Calibri"/>
              </a:defRPr>
            </a:pPr>
            <a:r>
              <a:t>Per-Inc thresholds now enabled by default</a:t>
            </a:r>
          </a:p>
        </p:txBody>
      </p:sp>
      <p:sp>
        <p:nvSpPr>
          <p:cNvPr id="10" name="Oval 9"/>
          <p:cNvSpPr/>
          <p:nvPr/>
        </p:nvSpPr>
        <p:spPr>
          <a:xfrm>
            <a:off x="457200" y="2560320"/>
            <a:ext cx="274320" cy="274320"/>
          </a:xfrm>
          <a:prstGeom prst="ellipse">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11" name="TextBox 10"/>
          <p:cNvSpPr txBox="1"/>
          <p:nvPr/>
        </p:nvSpPr>
        <p:spPr>
          <a:xfrm>
            <a:off x="868680" y="2514600"/>
            <a:ext cx="2286000" cy="274320"/>
          </a:xfrm>
          <a:prstGeom prst="rect">
            <a:avLst/>
          </a:prstGeom>
          <a:noFill/>
        </p:spPr>
        <p:txBody>
          <a:bodyPr wrap="square">
            <a:spAutoFit/>
          </a:bodyPr>
          <a:lstStyle/>
          <a:p>
            <a:pPr algn="l">
              <a:defRPr sz="1200" b="1">
                <a:solidFill>
                  <a:srgbClr val="FB8C00"/>
                </a:solidFill>
                <a:latin typeface="Calibri"/>
              </a:defRPr>
            </a:pPr>
            <a:r>
              <a:t>Sequence Length Warning</a:t>
            </a:r>
          </a:p>
        </p:txBody>
      </p:sp>
      <p:sp>
        <p:nvSpPr>
          <p:cNvPr id="12" name="TextBox 11"/>
          <p:cNvSpPr txBox="1"/>
          <p:nvPr/>
        </p:nvSpPr>
        <p:spPr>
          <a:xfrm>
            <a:off x="868680" y="2770632"/>
            <a:ext cx="5029200" cy="228600"/>
          </a:xfrm>
          <a:prstGeom prst="rect">
            <a:avLst/>
          </a:prstGeom>
          <a:noFill/>
        </p:spPr>
        <p:txBody>
          <a:bodyPr wrap="square">
            <a:spAutoFit/>
          </a:bodyPr>
          <a:lstStyle/>
          <a:p>
            <a:pPr algn="l">
              <a:defRPr sz="1000" b="0">
                <a:solidFill>
                  <a:srgbClr val="757575"/>
                </a:solidFill>
                <a:latin typeface="Calibri"/>
              </a:defRPr>
            </a:pPr>
            <a:r>
              <a:t>Flags plasmids &lt; 5 kb with noisy profiles</a:t>
            </a:r>
          </a:p>
        </p:txBody>
      </p:sp>
      <p:sp>
        <p:nvSpPr>
          <p:cNvPr id="13" name="Oval 12"/>
          <p:cNvSpPr/>
          <p:nvPr/>
        </p:nvSpPr>
        <p:spPr>
          <a:xfrm>
            <a:off x="457200" y="3108959"/>
            <a:ext cx="274320" cy="27432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14" name="TextBox 13"/>
          <p:cNvSpPr txBox="1"/>
          <p:nvPr/>
        </p:nvSpPr>
        <p:spPr>
          <a:xfrm>
            <a:off x="868680" y="3063239"/>
            <a:ext cx="2286000" cy="274320"/>
          </a:xfrm>
          <a:prstGeom prst="rect">
            <a:avLst/>
          </a:prstGeom>
          <a:noFill/>
        </p:spPr>
        <p:txBody>
          <a:bodyPr wrap="square">
            <a:spAutoFit/>
          </a:bodyPr>
          <a:lstStyle/>
          <a:p>
            <a:pPr algn="l">
              <a:defRPr sz="1200" b="1">
                <a:solidFill>
                  <a:srgbClr val="43A047"/>
                </a:solidFill>
                <a:latin typeface="Calibri"/>
              </a:defRPr>
            </a:pPr>
            <a:r>
              <a:t>Metadata CSV Upload</a:t>
            </a:r>
          </a:p>
        </p:txBody>
      </p:sp>
      <p:sp>
        <p:nvSpPr>
          <p:cNvPr id="15" name="TextBox 14"/>
          <p:cNvSpPr txBox="1"/>
          <p:nvPr/>
        </p:nvSpPr>
        <p:spPr>
          <a:xfrm>
            <a:off x="868680" y="3319271"/>
            <a:ext cx="5029200" cy="228600"/>
          </a:xfrm>
          <a:prstGeom prst="rect">
            <a:avLst/>
          </a:prstGeom>
          <a:noFill/>
        </p:spPr>
        <p:txBody>
          <a:bodyPr wrap="square">
            <a:spAutoFit/>
          </a:bodyPr>
          <a:lstStyle/>
          <a:p>
            <a:pPr algn="l">
              <a:defRPr sz="1000" b="0">
                <a:solidFill>
                  <a:srgbClr val="757575"/>
                </a:solidFill>
                <a:latin typeface="Calibri"/>
              </a:defRPr>
            </a:pPr>
            <a:r>
              <a:t>Patient/sample data for epi analysis</a:t>
            </a:r>
          </a:p>
        </p:txBody>
      </p:sp>
      <p:sp>
        <p:nvSpPr>
          <p:cNvPr id="16" name="Oval 15"/>
          <p:cNvSpPr/>
          <p:nvPr/>
        </p:nvSpPr>
        <p:spPr>
          <a:xfrm>
            <a:off x="457200" y="3657599"/>
            <a:ext cx="274320" cy="274320"/>
          </a:xfrm>
          <a:prstGeom prst="ellipse">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17" name="TextBox 16"/>
          <p:cNvSpPr txBox="1"/>
          <p:nvPr/>
        </p:nvSpPr>
        <p:spPr>
          <a:xfrm>
            <a:off x="868680" y="3611879"/>
            <a:ext cx="2286000" cy="274320"/>
          </a:xfrm>
          <a:prstGeom prst="rect">
            <a:avLst/>
          </a:prstGeom>
          <a:noFill/>
        </p:spPr>
        <p:txBody>
          <a:bodyPr wrap="square">
            <a:spAutoFit/>
          </a:bodyPr>
          <a:lstStyle/>
          <a:p>
            <a:pPr algn="l">
              <a:defRPr sz="1200" b="1">
                <a:solidFill>
                  <a:srgbClr val="8E24AA"/>
                </a:solidFill>
                <a:latin typeface="Calibri"/>
              </a:defRPr>
            </a:pPr>
            <a:r>
              <a:t>Mash/MinHash ANI</a:t>
            </a:r>
          </a:p>
        </p:txBody>
      </p:sp>
      <p:sp>
        <p:nvSpPr>
          <p:cNvPr id="18" name="TextBox 17"/>
          <p:cNvSpPr txBox="1"/>
          <p:nvPr/>
        </p:nvSpPr>
        <p:spPr>
          <a:xfrm>
            <a:off x="868680" y="3867911"/>
            <a:ext cx="5029200" cy="228600"/>
          </a:xfrm>
          <a:prstGeom prst="rect">
            <a:avLst/>
          </a:prstGeom>
          <a:noFill/>
        </p:spPr>
        <p:txBody>
          <a:bodyPr wrap="square">
            <a:spAutoFit/>
          </a:bodyPr>
          <a:lstStyle/>
          <a:p>
            <a:pPr algn="l">
              <a:defRPr sz="1000" b="0">
                <a:solidFill>
                  <a:srgbClr val="757575"/>
                </a:solidFill>
                <a:latin typeface="Calibri"/>
              </a:defRPr>
            </a:pPr>
            <a:r>
              <a:t>Fast ANI validation (k=21, s=10000)</a:t>
            </a:r>
          </a:p>
        </p:txBody>
      </p:sp>
      <p:sp>
        <p:nvSpPr>
          <p:cNvPr id="19" name="Rounded Rectangle 18"/>
          <p:cNvSpPr/>
          <p:nvPr/>
        </p:nvSpPr>
        <p:spPr>
          <a:xfrm>
            <a:off x="365760" y="4206240"/>
            <a:ext cx="5669280" cy="45720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51960"/>
            <a:ext cx="5486400" cy="365760"/>
          </a:xfrm>
          <a:prstGeom prst="rect">
            <a:avLst/>
          </a:prstGeom>
          <a:noFill/>
        </p:spPr>
        <p:txBody>
          <a:bodyPr wrap="square">
            <a:spAutoFit/>
          </a:bodyPr>
          <a:lstStyle/>
          <a:p>
            <a:pPr algn="l">
              <a:defRPr sz="1600" b="1">
                <a:solidFill>
                  <a:srgbClr val="FFFFFF"/>
                </a:solidFill>
                <a:latin typeface="Calibri"/>
              </a:defRPr>
            </a:pPr>
            <a:r>
              <a:t>Phase 2 — Advanced Genomic Resolution</a:t>
            </a:r>
          </a:p>
        </p:txBody>
      </p:sp>
      <p:sp>
        <p:nvSpPr>
          <p:cNvPr id="21" name="Oval 20"/>
          <p:cNvSpPr/>
          <p:nvPr/>
        </p:nvSpPr>
        <p:spPr>
          <a:xfrm>
            <a:off x="457200" y="484632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22" name="TextBox 21"/>
          <p:cNvSpPr txBox="1"/>
          <p:nvPr/>
        </p:nvSpPr>
        <p:spPr>
          <a:xfrm>
            <a:off x="868680" y="4800600"/>
            <a:ext cx="2286000" cy="274320"/>
          </a:xfrm>
          <a:prstGeom prst="rect">
            <a:avLst/>
          </a:prstGeom>
          <a:noFill/>
        </p:spPr>
        <p:txBody>
          <a:bodyPr wrap="square">
            <a:spAutoFit/>
          </a:bodyPr>
          <a:lstStyle/>
          <a:p>
            <a:pPr algn="l">
              <a:defRPr sz="1200" b="1">
                <a:solidFill>
                  <a:srgbClr val="1E88E5"/>
                </a:solidFill>
                <a:latin typeface="Calibri"/>
              </a:defRPr>
            </a:pPr>
            <a:r>
              <a:t>FastANI True ANI</a:t>
            </a:r>
          </a:p>
        </p:txBody>
      </p:sp>
      <p:sp>
        <p:nvSpPr>
          <p:cNvPr id="23" name="TextBox 22"/>
          <p:cNvSpPr txBox="1"/>
          <p:nvPr/>
        </p:nvSpPr>
        <p:spPr>
          <a:xfrm>
            <a:off x="868680" y="5056632"/>
            <a:ext cx="5029200" cy="228600"/>
          </a:xfrm>
          <a:prstGeom prst="rect">
            <a:avLst/>
          </a:prstGeom>
          <a:noFill/>
        </p:spPr>
        <p:txBody>
          <a:bodyPr wrap="square">
            <a:spAutoFit/>
          </a:bodyPr>
          <a:lstStyle/>
          <a:p>
            <a:pPr algn="l">
              <a:defRPr sz="1000" b="0">
                <a:solidFill>
                  <a:srgbClr val="757575"/>
                </a:solidFill>
                <a:latin typeface="Calibri"/>
              </a:defRPr>
            </a:pPr>
            <a:r>
              <a:t>Ground-truth ANI with --fragLen 1000</a:t>
            </a:r>
          </a:p>
        </p:txBody>
      </p:sp>
      <p:sp>
        <p:nvSpPr>
          <p:cNvPr id="24" name="Oval 23"/>
          <p:cNvSpPr/>
          <p:nvPr/>
        </p:nvSpPr>
        <p:spPr>
          <a:xfrm>
            <a:off x="457200" y="5394960"/>
            <a:ext cx="274320" cy="27432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a:t>
            </a:r>
          </a:p>
        </p:txBody>
      </p:sp>
      <p:sp>
        <p:nvSpPr>
          <p:cNvPr id="25" name="TextBox 24"/>
          <p:cNvSpPr txBox="1"/>
          <p:nvPr/>
        </p:nvSpPr>
        <p:spPr>
          <a:xfrm>
            <a:off x="868680" y="5349240"/>
            <a:ext cx="2286000" cy="274320"/>
          </a:xfrm>
          <a:prstGeom prst="rect">
            <a:avLst/>
          </a:prstGeom>
          <a:noFill/>
        </p:spPr>
        <p:txBody>
          <a:bodyPr wrap="square">
            <a:spAutoFit/>
          </a:bodyPr>
          <a:lstStyle/>
          <a:p>
            <a:pPr algn="l">
              <a:defRPr sz="1200" b="1">
                <a:solidFill>
                  <a:srgbClr val="43A047"/>
                </a:solidFill>
                <a:latin typeface="Calibri"/>
              </a:defRPr>
            </a:pPr>
            <a:r>
              <a:t>SNP Sub-typing (L6)</a:t>
            </a:r>
          </a:p>
        </p:txBody>
      </p:sp>
      <p:sp>
        <p:nvSpPr>
          <p:cNvPr id="26" name="TextBox 25"/>
          <p:cNvSpPr txBox="1"/>
          <p:nvPr/>
        </p:nvSpPr>
        <p:spPr>
          <a:xfrm>
            <a:off x="868680" y="5605272"/>
            <a:ext cx="5029200" cy="228600"/>
          </a:xfrm>
          <a:prstGeom prst="rect">
            <a:avLst/>
          </a:prstGeom>
          <a:noFill/>
        </p:spPr>
        <p:txBody>
          <a:bodyPr wrap="square">
            <a:spAutoFit/>
          </a:bodyPr>
          <a:lstStyle/>
          <a:p>
            <a:pPr algn="l">
              <a:defRPr sz="1000" b="0">
                <a:solidFill>
                  <a:srgbClr val="757575"/>
                </a:solidFill>
                <a:latin typeface="Calibri"/>
              </a:defRPr>
            </a:pPr>
            <a:r>
              <a:t>minimap2 -cx asm5 within L6 clusters</a:t>
            </a:r>
          </a:p>
        </p:txBody>
      </p:sp>
      <p:sp>
        <p:nvSpPr>
          <p:cNvPr id="27" name="Oval 26"/>
          <p:cNvSpPr/>
          <p:nvPr/>
        </p:nvSpPr>
        <p:spPr>
          <a:xfrm>
            <a:off x="457200" y="5943600"/>
            <a:ext cx="274320" cy="27432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7</a:t>
            </a:r>
          </a:p>
        </p:txBody>
      </p:sp>
      <p:sp>
        <p:nvSpPr>
          <p:cNvPr id="28" name="TextBox 27"/>
          <p:cNvSpPr txBox="1"/>
          <p:nvPr/>
        </p:nvSpPr>
        <p:spPr>
          <a:xfrm>
            <a:off x="868680" y="5897880"/>
            <a:ext cx="2286000" cy="274320"/>
          </a:xfrm>
          <a:prstGeom prst="rect">
            <a:avLst/>
          </a:prstGeom>
          <a:noFill/>
        </p:spPr>
        <p:txBody>
          <a:bodyPr wrap="square">
            <a:spAutoFit/>
          </a:bodyPr>
          <a:lstStyle/>
          <a:p>
            <a:pPr algn="l">
              <a:defRPr sz="1200" b="1">
                <a:solidFill>
                  <a:srgbClr val="E53935"/>
                </a:solidFill>
                <a:latin typeface="Calibri"/>
              </a:defRPr>
            </a:pPr>
            <a:r>
              <a:t>Temporal Outbreak Clustering</a:t>
            </a:r>
          </a:p>
        </p:txBody>
      </p:sp>
      <p:sp>
        <p:nvSpPr>
          <p:cNvPr id="29" name="TextBox 28"/>
          <p:cNvSpPr txBox="1"/>
          <p:nvPr/>
        </p:nvSpPr>
        <p:spPr>
          <a:xfrm>
            <a:off x="868680" y="6153912"/>
            <a:ext cx="5029200" cy="228600"/>
          </a:xfrm>
          <a:prstGeom prst="rect">
            <a:avLst/>
          </a:prstGeom>
          <a:noFill/>
        </p:spPr>
        <p:txBody>
          <a:bodyPr wrap="square">
            <a:spAutoFit/>
          </a:bodyPr>
          <a:lstStyle/>
          <a:p>
            <a:pPr algn="l">
              <a:defRPr sz="1000" b="0">
                <a:solidFill>
                  <a:srgbClr val="757575"/>
                </a:solidFill>
                <a:latin typeface="Calibri"/>
              </a:defRPr>
            </a:pPr>
            <a:r>
              <a:t>30-day window + AMR fingerprint matching</a:t>
            </a:r>
          </a:p>
        </p:txBody>
      </p:sp>
      <p:sp>
        <p:nvSpPr>
          <p:cNvPr id="30" name="TextBox 29"/>
          <p:cNvSpPr txBox="1"/>
          <p:nvPr/>
        </p:nvSpPr>
        <p:spPr>
          <a:xfrm>
            <a:off x="6400800" y="1371600"/>
            <a:ext cx="5486400" cy="457200"/>
          </a:xfrm>
          <a:prstGeom prst="rect">
            <a:avLst/>
          </a:prstGeom>
          <a:noFill/>
        </p:spPr>
        <p:txBody>
          <a:bodyPr wrap="square">
            <a:spAutoFit/>
          </a:bodyPr>
          <a:lstStyle/>
          <a:p>
            <a:pPr algn="l">
              <a:defRPr sz="1800" b="1">
                <a:solidFill>
                  <a:srgbClr val="0D47A1"/>
                </a:solidFill>
                <a:latin typeface="Calibri"/>
              </a:defRPr>
            </a:pPr>
            <a:r>
              <a:t>Impact &amp; Tool Requirements</a:t>
            </a:r>
          </a:p>
        </p:txBody>
      </p:sp>
      <p:sp>
        <p:nvSpPr>
          <p:cNvPr id="31" name="Rounded Rectangle 30"/>
          <p:cNvSpPr/>
          <p:nvPr/>
        </p:nvSpPr>
        <p:spPr>
          <a:xfrm>
            <a:off x="6400800" y="1920240"/>
            <a:ext cx="5303520" cy="36576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1965960"/>
            <a:ext cx="1828800" cy="274320"/>
          </a:xfrm>
          <a:prstGeom prst="rect">
            <a:avLst/>
          </a:prstGeom>
          <a:noFill/>
        </p:spPr>
        <p:txBody>
          <a:bodyPr wrap="square">
            <a:spAutoFit/>
          </a:bodyPr>
          <a:lstStyle/>
          <a:p>
            <a:pPr algn="ctr">
              <a:defRPr sz="1000" b="1">
                <a:solidFill>
                  <a:srgbClr val="FFFFFF"/>
                </a:solidFill>
                <a:latin typeface="Calibri"/>
              </a:defRPr>
            </a:pPr>
            <a:r>
              <a:t>Feature</a:t>
            </a:r>
          </a:p>
        </p:txBody>
      </p:sp>
      <p:sp>
        <p:nvSpPr>
          <p:cNvPr id="33" name="TextBox 32"/>
          <p:cNvSpPr txBox="1"/>
          <p:nvPr/>
        </p:nvSpPr>
        <p:spPr>
          <a:xfrm>
            <a:off x="8321040" y="1965960"/>
            <a:ext cx="1371600" cy="274320"/>
          </a:xfrm>
          <a:prstGeom prst="rect">
            <a:avLst/>
          </a:prstGeom>
          <a:noFill/>
        </p:spPr>
        <p:txBody>
          <a:bodyPr wrap="square">
            <a:spAutoFit/>
          </a:bodyPr>
          <a:lstStyle/>
          <a:p>
            <a:pPr algn="ctr">
              <a:defRPr sz="1000" b="1">
                <a:solidFill>
                  <a:srgbClr val="FFFFFF"/>
                </a:solidFill>
                <a:latin typeface="Calibri"/>
              </a:defRPr>
            </a:pPr>
            <a:r>
              <a:t>Tool</a:t>
            </a:r>
          </a:p>
        </p:txBody>
      </p:sp>
      <p:sp>
        <p:nvSpPr>
          <p:cNvPr id="34" name="TextBox 33"/>
          <p:cNvSpPr txBox="1"/>
          <p:nvPr/>
        </p:nvSpPr>
        <p:spPr>
          <a:xfrm>
            <a:off x="9692640" y="1965960"/>
            <a:ext cx="2103120" cy="274320"/>
          </a:xfrm>
          <a:prstGeom prst="rect">
            <a:avLst/>
          </a:prstGeom>
          <a:noFill/>
        </p:spPr>
        <p:txBody>
          <a:bodyPr wrap="square">
            <a:spAutoFit/>
          </a:bodyPr>
          <a:lstStyle/>
          <a:p>
            <a:pPr algn="ctr">
              <a:defRPr sz="1000" b="1">
                <a:solidFill>
                  <a:srgbClr val="FFFFFF"/>
                </a:solidFill>
                <a:latin typeface="Calibri"/>
              </a:defRPr>
            </a:pPr>
            <a:r>
              <a:t>Impact</a:t>
            </a:r>
          </a:p>
        </p:txBody>
      </p:sp>
      <p:sp>
        <p:nvSpPr>
          <p:cNvPr id="35" name="Rounded Rectangle 34"/>
          <p:cNvSpPr/>
          <p:nvPr/>
        </p:nvSpPr>
        <p:spPr>
          <a:xfrm>
            <a:off x="6400800" y="2331720"/>
            <a:ext cx="5303520" cy="384048"/>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2404872"/>
            <a:ext cx="1828800" cy="228600"/>
          </a:xfrm>
          <a:prstGeom prst="rect">
            <a:avLst/>
          </a:prstGeom>
          <a:noFill/>
        </p:spPr>
        <p:txBody>
          <a:bodyPr wrap="square">
            <a:spAutoFit/>
          </a:bodyPr>
          <a:lstStyle/>
          <a:p>
            <a:pPr algn="ctr">
              <a:defRPr sz="1000" b="0">
                <a:solidFill>
                  <a:srgbClr val="333333"/>
                </a:solidFill>
                <a:latin typeface="Calibri"/>
              </a:defRPr>
            </a:pPr>
            <a:r>
              <a:t>Adaptive Default</a:t>
            </a:r>
          </a:p>
        </p:txBody>
      </p:sp>
      <p:sp>
        <p:nvSpPr>
          <p:cNvPr id="37" name="TextBox 36"/>
          <p:cNvSpPr txBox="1"/>
          <p:nvPr/>
        </p:nvSpPr>
        <p:spPr>
          <a:xfrm>
            <a:off x="8321040" y="2404872"/>
            <a:ext cx="1371600" cy="228600"/>
          </a:xfrm>
          <a:prstGeom prst="rect">
            <a:avLst/>
          </a:prstGeom>
          <a:noFill/>
        </p:spPr>
        <p:txBody>
          <a:bodyPr wrap="square">
            <a:spAutoFit/>
          </a:bodyPr>
          <a:lstStyle/>
          <a:p>
            <a:pPr algn="ctr">
              <a:defRPr sz="1000" b="0">
                <a:solidFill>
                  <a:srgbClr val="43A047"/>
                </a:solidFill>
                <a:latin typeface="Calibri"/>
              </a:defRPr>
            </a:pPr>
            <a:r>
              <a:t>Built-in</a:t>
            </a:r>
          </a:p>
        </p:txBody>
      </p:sp>
      <p:sp>
        <p:nvSpPr>
          <p:cNvPr id="38" name="TextBox 37"/>
          <p:cNvSpPr txBox="1"/>
          <p:nvPr/>
        </p:nvSpPr>
        <p:spPr>
          <a:xfrm>
            <a:off x="9692640" y="2404872"/>
            <a:ext cx="2103120" cy="228600"/>
          </a:xfrm>
          <a:prstGeom prst="rect">
            <a:avLst/>
          </a:prstGeom>
          <a:noFill/>
        </p:spPr>
        <p:txBody>
          <a:bodyPr wrap="square">
            <a:spAutoFit/>
          </a:bodyPr>
          <a:lstStyle/>
          <a:p>
            <a:pPr algn="ctr">
              <a:defRPr sz="1000" b="0">
                <a:solidFill>
                  <a:srgbClr val="333333"/>
                </a:solidFill>
                <a:latin typeface="Calibri"/>
              </a:defRPr>
            </a:pPr>
            <a:r>
              <a:t>Better per-Inc accuracy</a:t>
            </a:r>
          </a:p>
        </p:txBody>
      </p:sp>
      <p:sp>
        <p:nvSpPr>
          <p:cNvPr id="39" name="Rounded Rectangle 38"/>
          <p:cNvSpPr/>
          <p:nvPr/>
        </p:nvSpPr>
        <p:spPr>
          <a:xfrm>
            <a:off x="6400800" y="2715768"/>
            <a:ext cx="53035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2788920"/>
            <a:ext cx="1828800" cy="228600"/>
          </a:xfrm>
          <a:prstGeom prst="rect">
            <a:avLst/>
          </a:prstGeom>
          <a:noFill/>
        </p:spPr>
        <p:txBody>
          <a:bodyPr wrap="square">
            <a:spAutoFit/>
          </a:bodyPr>
          <a:lstStyle/>
          <a:p>
            <a:pPr algn="ctr">
              <a:defRPr sz="1000" b="0">
                <a:solidFill>
                  <a:srgbClr val="333333"/>
                </a:solidFill>
                <a:latin typeface="Calibri"/>
              </a:defRPr>
            </a:pPr>
            <a:r>
              <a:t>Length Warning</a:t>
            </a:r>
          </a:p>
        </p:txBody>
      </p:sp>
      <p:sp>
        <p:nvSpPr>
          <p:cNvPr id="41" name="TextBox 40"/>
          <p:cNvSpPr txBox="1"/>
          <p:nvPr/>
        </p:nvSpPr>
        <p:spPr>
          <a:xfrm>
            <a:off x="8321040" y="2788920"/>
            <a:ext cx="1371600" cy="228600"/>
          </a:xfrm>
          <a:prstGeom prst="rect">
            <a:avLst/>
          </a:prstGeom>
          <a:noFill/>
        </p:spPr>
        <p:txBody>
          <a:bodyPr wrap="square">
            <a:spAutoFit/>
          </a:bodyPr>
          <a:lstStyle/>
          <a:p>
            <a:pPr algn="ctr">
              <a:defRPr sz="1000" b="0">
                <a:solidFill>
                  <a:srgbClr val="43A047"/>
                </a:solidFill>
                <a:latin typeface="Calibri"/>
              </a:defRPr>
            </a:pPr>
            <a:r>
              <a:t>Built-in</a:t>
            </a:r>
          </a:p>
        </p:txBody>
      </p:sp>
      <p:sp>
        <p:nvSpPr>
          <p:cNvPr id="42" name="TextBox 41"/>
          <p:cNvSpPr txBox="1"/>
          <p:nvPr/>
        </p:nvSpPr>
        <p:spPr>
          <a:xfrm>
            <a:off x="9692640" y="2788920"/>
            <a:ext cx="2103120" cy="228600"/>
          </a:xfrm>
          <a:prstGeom prst="rect">
            <a:avLst/>
          </a:prstGeom>
          <a:noFill/>
        </p:spPr>
        <p:txBody>
          <a:bodyPr wrap="square">
            <a:spAutoFit/>
          </a:bodyPr>
          <a:lstStyle/>
          <a:p>
            <a:pPr algn="ctr">
              <a:defRPr sz="1000" b="0">
                <a:solidFill>
                  <a:srgbClr val="333333"/>
                </a:solidFill>
                <a:latin typeface="Calibri"/>
              </a:defRPr>
            </a:pPr>
            <a:r>
              <a:t>User confidence</a:t>
            </a:r>
          </a:p>
        </p:txBody>
      </p:sp>
      <p:sp>
        <p:nvSpPr>
          <p:cNvPr id="43" name="Rounded Rectangle 42"/>
          <p:cNvSpPr/>
          <p:nvPr/>
        </p:nvSpPr>
        <p:spPr>
          <a:xfrm>
            <a:off x="6400800" y="3099815"/>
            <a:ext cx="5303520" cy="384048"/>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3172967"/>
            <a:ext cx="1828800" cy="228600"/>
          </a:xfrm>
          <a:prstGeom prst="rect">
            <a:avLst/>
          </a:prstGeom>
          <a:noFill/>
        </p:spPr>
        <p:txBody>
          <a:bodyPr wrap="square">
            <a:spAutoFit/>
          </a:bodyPr>
          <a:lstStyle/>
          <a:p>
            <a:pPr algn="ctr">
              <a:defRPr sz="1000" b="0">
                <a:solidFill>
                  <a:srgbClr val="333333"/>
                </a:solidFill>
                <a:latin typeface="Calibri"/>
              </a:defRPr>
            </a:pPr>
            <a:r>
              <a:t>Metadata Upload</a:t>
            </a:r>
          </a:p>
        </p:txBody>
      </p:sp>
      <p:sp>
        <p:nvSpPr>
          <p:cNvPr id="45" name="TextBox 44"/>
          <p:cNvSpPr txBox="1"/>
          <p:nvPr/>
        </p:nvSpPr>
        <p:spPr>
          <a:xfrm>
            <a:off x="8321040" y="3172967"/>
            <a:ext cx="1371600" cy="228600"/>
          </a:xfrm>
          <a:prstGeom prst="rect">
            <a:avLst/>
          </a:prstGeom>
          <a:noFill/>
        </p:spPr>
        <p:txBody>
          <a:bodyPr wrap="square">
            <a:spAutoFit/>
          </a:bodyPr>
          <a:lstStyle/>
          <a:p>
            <a:pPr algn="ctr">
              <a:defRPr sz="1000" b="0">
                <a:solidFill>
                  <a:srgbClr val="43A047"/>
                </a:solidFill>
                <a:latin typeface="Calibri"/>
              </a:defRPr>
            </a:pPr>
            <a:r>
              <a:t>Built-in</a:t>
            </a:r>
          </a:p>
        </p:txBody>
      </p:sp>
      <p:sp>
        <p:nvSpPr>
          <p:cNvPr id="46" name="TextBox 45"/>
          <p:cNvSpPr txBox="1"/>
          <p:nvPr/>
        </p:nvSpPr>
        <p:spPr>
          <a:xfrm>
            <a:off x="9692640" y="3172967"/>
            <a:ext cx="2103120" cy="228600"/>
          </a:xfrm>
          <a:prstGeom prst="rect">
            <a:avLst/>
          </a:prstGeom>
          <a:noFill/>
        </p:spPr>
        <p:txBody>
          <a:bodyPr wrap="square">
            <a:spAutoFit/>
          </a:bodyPr>
          <a:lstStyle/>
          <a:p>
            <a:pPr algn="ctr">
              <a:defRPr sz="1000" b="0">
                <a:solidFill>
                  <a:srgbClr val="333333"/>
                </a:solidFill>
                <a:latin typeface="Calibri"/>
              </a:defRPr>
            </a:pPr>
            <a:r>
              <a:t>Epi context</a:t>
            </a:r>
          </a:p>
        </p:txBody>
      </p:sp>
      <p:sp>
        <p:nvSpPr>
          <p:cNvPr id="47" name="Rounded Rectangle 46"/>
          <p:cNvSpPr/>
          <p:nvPr/>
        </p:nvSpPr>
        <p:spPr>
          <a:xfrm>
            <a:off x="6400800" y="3483863"/>
            <a:ext cx="53035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3557015"/>
            <a:ext cx="1828800" cy="228600"/>
          </a:xfrm>
          <a:prstGeom prst="rect">
            <a:avLst/>
          </a:prstGeom>
          <a:noFill/>
        </p:spPr>
        <p:txBody>
          <a:bodyPr wrap="square">
            <a:spAutoFit/>
          </a:bodyPr>
          <a:lstStyle/>
          <a:p>
            <a:pPr algn="ctr">
              <a:defRPr sz="1000" b="0">
                <a:solidFill>
                  <a:srgbClr val="333333"/>
                </a:solidFill>
                <a:latin typeface="Calibri"/>
              </a:defRPr>
            </a:pPr>
            <a:r>
              <a:t>Mash ANI</a:t>
            </a:r>
          </a:p>
        </p:txBody>
      </p:sp>
      <p:sp>
        <p:nvSpPr>
          <p:cNvPr id="49" name="TextBox 48"/>
          <p:cNvSpPr txBox="1"/>
          <p:nvPr/>
        </p:nvSpPr>
        <p:spPr>
          <a:xfrm>
            <a:off x="8321040" y="3557015"/>
            <a:ext cx="1371600" cy="228600"/>
          </a:xfrm>
          <a:prstGeom prst="rect">
            <a:avLst/>
          </a:prstGeom>
          <a:noFill/>
        </p:spPr>
        <p:txBody>
          <a:bodyPr wrap="square">
            <a:spAutoFit/>
          </a:bodyPr>
          <a:lstStyle/>
          <a:p>
            <a:pPr algn="ctr">
              <a:defRPr sz="1000" b="0">
                <a:solidFill>
                  <a:srgbClr val="333333"/>
                </a:solidFill>
                <a:latin typeface="Calibri"/>
              </a:defRPr>
            </a:pPr>
            <a:r>
              <a:t>mash</a:t>
            </a:r>
          </a:p>
        </p:txBody>
      </p:sp>
      <p:sp>
        <p:nvSpPr>
          <p:cNvPr id="50" name="TextBox 49"/>
          <p:cNvSpPr txBox="1"/>
          <p:nvPr/>
        </p:nvSpPr>
        <p:spPr>
          <a:xfrm>
            <a:off x="9692640" y="3557015"/>
            <a:ext cx="2103120" cy="228600"/>
          </a:xfrm>
          <a:prstGeom prst="rect">
            <a:avLst/>
          </a:prstGeom>
          <a:noFill/>
        </p:spPr>
        <p:txBody>
          <a:bodyPr wrap="square">
            <a:spAutoFit/>
          </a:bodyPr>
          <a:lstStyle/>
          <a:p>
            <a:pPr algn="ctr">
              <a:defRPr sz="1000" b="0">
                <a:solidFill>
                  <a:srgbClr val="333333"/>
                </a:solidFill>
                <a:latin typeface="Calibri"/>
              </a:defRPr>
            </a:pPr>
            <a:r>
              <a:t>ANI validation</a:t>
            </a:r>
          </a:p>
        </p:txBody>
      </p:sp>
      <p:sp>
        <p:nvSpPr>
          <p:cNvPr id="51" name="Rounded Rectangle 50"/>
          <p:cNvSpPr/>
          <p:nvPr/>
        </p:nvSpPr>
        <p:spPr>
          <a:xfrm>
            <a:off x="6400800" y="3867911"/>
            <a:ext cx="5303520" cy="384048"/>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3941063"/>
            <a:ext cx="1828800" cy="228600"/>
          </a:xfrm>
          <a:prstGeom prst="rect">
            <a:avLst/>
          </a:prstGeom>
          <a:noFill/>
        </p:spPr>
        <p:txBody>
          <a:bodyPr wrap="square">
            <a:spAutoFit/>
          </a:bodyPr>
          <a:lstStyle/>
          <a:p>
            <a:pPr algn="ctr">
              <a:defRPr sz="1000" b="0">
                <a:solidFill>
                  <a:srgbClr val="333333"/>
                </a:solidFill>
                <a:latin typeface="Calibri"/>
              </a:defRPr>
            </a:pPr>
            <a:r>
              <a:t>FastANI</a:t>
            </a:r>
          </a:p>
        </p:txBody>
      </p:sp>
      <p:sp>
        <p:nvSpPr>
          <p:cNvPr id="53" name="TextBox 52"/>
          <p:cNvSpPr txBox="1"/>
          <p:nvPr/>
        </p:nvSpPr>
        <p:spPr>
          <a:xfrm>
            <a:off x="8321040" y="3941063"/>
            <a:ext cx="1371600" cy="228600"/>
          </a:xfrm>
          <a:prstGeom prst="rect">
            <a:avLst/>
          </a:prstGeom>
          <a:noFill/>
        </p:spPr>
        <p:txBody>
          <a:bodyPr wrap="square">
            <a:spAutoFit/>
          </a:bodyPr>
          <a:lstStyle/>
          <a:p>
            <a:pPr algn="ctr">
              <a:defRPr sz="1000" b="0">
                <a:solidFill>
                  <a:srgbClr val="333333"/>
                </a:solidFill>
                <a:latin typeface="Calibri"/>
              </a:defRPr>
            </a:pPr>
            <a:r>
              <a:t>fastANI</a:t>
            </a:r>
          </a:p>
        </p:txBody>
      </p:sp>
      <p:sp>
        <p:nvSpPr>
          <p:cNvPr id="54" name="TextBox 53"/>
          <p:cNvSpPr txBox="1"/>
          <p:nvPr/>
        </p:nvSpPr>
        <p:spPr>
          <a:xfrm>
            <a:off x="9692640" y="3941063"/>
            <a:ext cx="2103120" cy="228600"/>
          </a:xfrm>
          <a:prstGeom prst="rect">
            <a:avLst/>
          </a:prstGeom>
          <a:noFill/>
        </p:spPr>
        <p:txBody>
          <a:bodyPr wrap="square">
            <a:spAutoFit/>
          </a:bodyPr>
          <a:lstStyle/>
          <a:p>
            <a:pPr algn="ctr">
              <a:defRPr sz="1000" b="0">
                <a:solidFill>
                  <a:srgbClr val="333333"/>
                </a:solidFill>
                <a:latin typeface="Calibri"/>
              </a:defRPr>
            </a:pPr>
            <a:r>
              <a:t>True ANI</a:t>
            </a:r>
          </a:p>
        </p:txBody>
      </p:sp>
      <p:sp>
        <p:nvSpPr>
          <p:cNvPr id="55" name="Rounded Rectangle 54"/>
          <p:cNvSpPr/>
          <p:nvPr/>
        </p:nvSpPr>
        <p:spPr>
          <a:xfrm>
            <a:off x="6400800" y="4251960"/>
            <a:ext cx="53035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92240" y="4325112"/>
            <a:ext cx="1828800" cy="228600"/>
          </a:xfrm>
          <a:prstGeom prst="rect">
            <a:avLst/>
          </a:prstGeom>
          <a:noFill/>
        </p:spPr>
        <p:txBody>
          <a:bodyPr wrap="square">
            <a:spAutoFit/>
          </a:bodyPr>
          <a:lstStyle/>
          <a:p>
            <a:pPr algn="ctr">
              <a:defRPr sz="1000" b="0">
                <a:solidFill>
                  <a:srgbClr val="333333"/>
                </a:solidFill>
                <a:latin typeface="Calibri"/>
              </a:defRPr>
            </a:pPr>
            <a:r>
              <a:t>SNP Sub-typing</a:t>
            </a:r>
          </a:p>
        </p:txBody>
      </p:sp>
      <p:sp>
        <p:nvSpPr>
          <p:cNvPr id="57" name="TextBox 56"/>
          <p:cNvSpPr txBox="1"/>
          <p:nvPr/>
        </p:nvSpPr>
        <p:spPr>
          <a:xfrm>
            <a:off x="8321040" y="4325112"/>
            <a:ext cx="1371600" cy="228600"/>
          </a:xfrm>
          <a:prstGeom prst="rect">
            <a:avLst/>
          </a:prstGeom>
          <a:noFill/>
        </p:spPr>
        <p:txBody>
          <a:bodyPr wrap="square">
            <a:spAutoFit/>
          </a:bodyPr>
          <a:lstStyle/>
          <a:p>
            <a:pPr algn="ctr">
              <a:defRPr sz="1000" b="0">
                <a:solidFill>
                  <a:srgbClr val="333333"/>
                </a:solidFill>
                <a:latin typeface="Calibri"/>
              </a:defRPr>
            </a:pPr>
            <a:r>
              <a:t>minimap2</a:t>
            </a:r>
          </a:p>
        </p:txBody>
      </p:sp>
      <p:sp>
        <p:nvSpPr>
          <p:cNvPr id="58" name="TextBox 57"/>
          <p:cNvSpPr txBox="1"/>
          <p:nvPr/>
        </p:nvSpPr>
        <p:spPr>
          <a:xfrm>
            <a:off x="9692640" y="4325112"/>
            <a:ext cx="2103120" cy="228600"/>
          </a:xfrm>
          <a:prstGeom prst="rect">
            <a:avLst/>
          </a:prstGeom>
          <a:noFill/>
        </p:spPr>
        <p:txBody>
          <a:bodyPr wrap="square">
            <a:spAutoFit/>
          </a:bodyPr>
          <a:lstStyle/>
          <a:p>
            <a:pPr algn="ctr">
              <a:defRPr sz="1000" b="0">
                <a:solidFill>
                  <a:srgbClr val="333333"/>
                </a:solidFill>
                <a:latin typeface="Calibri"/>
              </a:defRPr>
            </a:pPr>
            <a:r>
              <a:t>Outbreak resolution</a:t>
            </a:r>
          </a:p>
        </p:txBody>
      </p:sp>
      <p:sp>
        <p:nvSpPr>
          <p:cNvPr id="59" name="Rounded Rectangle 58"/>
          <p:cNvSpPr/>
          <p:nvPr/>
        </p:nvSpPr>
        <p:spPr>
          <a:xfrm>
            <a:off x="6400800" y="4636008"/>
            <a:ext cx="5303520" cy="384048"/>
          </a:xfrm>
          <a:prstGeom prst="round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4709160"/>
            <a:ext cx="1828800" cy="228600"/>
          </a:xfrm>
          <a:prstGeom prst="rect">
            <a:avLst/>
          </a:prstGeom>
          <a:noFill/>
        </p:spPr>
        <p:txBody>
          <a:bodyPr wrap="square">
            <a:spAutoFit/>
          </a:bodyPr>
          <a:lstStyle/>
          <a:p>
            <a:pPr algn="ctr">
              <a:defRPr sz="1000" b="0">
                <a:solidFill>
                  <a:srgbClr val="333333"/>
                </a:solidFill>
                <a:latin typeface="Calibri"/>
              </a:defRPr>
            </a:pPr>
            <a:r>
              <a:t>Temporal Clusters</a:t>
            </a:r>
          </a:p>
        </p:txBody>
      </p:sp>
      <p:sp>
        <p:nvSpPr>
          <p:cNvPr id="61" name="TextBox 60"/>
          <p:cNvSpPr txBox="1"/>
          <p:nvPr/>
        </p:nvSpPr>
        <p:spPr>
          <a:xfrm>
            <a:off x="8321040" y="4709160"/>
            <a:ext cx="1371600" cy="228600"/>
          </a:xfrm>
          <a:prstGeom prst="rect">
            <a:avLst/>
          </a:prstGeom>
          <a:noFill/>
        </p:spPr>
        <p:txBody>
          <a:bodyPr wrap="square">
            <a:spAutoFit/>
          </a:bodyPr>
          <a:lstStyle/>
          <a:p>
            <a:pPr algn="ctr">
              <a:defRPr sz="1000" b="0">
                <a:solidFill>
                  <a:srgbClr val="43A047"/>
                </a:solidFill>
                <a:latin typeface="Calibri"/>
              </a:defRPr>
            </a:pPr>
            <a:r>
              <a:t>Built-in</a:t>
            </a:r>
          </a:p>
        </p:txBody>
      </p:sp>
      <p:sp>
        <p:nvSpPr>
          <p:cNvPr id="62" name="TextBox 61"/>
          <p:cNvSpPr txBox="1"/>
          <p:nvPr/>
        </p:nvSpPr>
        <p:spPr>
          <a:xfrm>
            <a:off x="9692640" y="4709160"/>
            <a:ext cx="2103120" cy="228600"/>
          </a:xfrm>
          <a:prstGeom prst="rect">
            <a:avLst/>
          </a:prstGeom>
          <a:noFill/>
        </p:spPr>
        <p:txBody>
          <a:bodyPr wrap="square">
            <a:spAutoFit/>
          </a:bodyPr>
          <a:lstStyle/>
          <a:p>
            <a:pPr algn="ctr">
              <a:defRPr sz="1000" b="0">
                <a:solidFill>
                  <a:srgbClr val="333333"/>
                </a:solidFill>
                <a:latin typeface="Calibri"/>
              </a:defRPr>
            </a:pPr>
            <a:r>
              <a:t>Surveillance</a:t>
            </a:r>
          </a:p>
        </p:txBody>
      </p:sp>
      <p:sp>
        <p:nvSpPr>
          <p:cNvPr id="63" name="Rounded Rectangle 62"/>
          <p:cNvSpPr/>
          <p:nvPr/>
        </p:nvSpPr>
        <p:spPr>
          <a:xfrm>
            <a:off x="6400800" y="5212080"/>
            <a:ext cx="5303520" cy="1371600"/>
          </a:xfrm>
          <a:prstGeom prst="roundRect">
            <a:avLst/>
          </a:prstGeom>
          <a:solidFill>
            <a:srgbClr val="E8F5E9"/>
          </a:solidFill>
          <a:ln w="254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83680" y="5303520"/>
            <a:ext cx="4937760" cy="365760"/>
          </a:xfrm>
          <a:prstGeom prst="rect">
            <a:avLst/>
          </a:prstGeom>
          <a:noFill/>
        </p:spPr>
        <p:txBody>
          <a:bodyPr wrap="square">
            <a:spAutoFit/>
          </a:bodyPr>
          <a:lstStyle/>
          <a:p>
            <a:pPr algn="l">
              <a:defRPr sz="1600" b="1">
                <a:solidFill>
                  <a:srgbClr val="43A047"/>
                </a:solidFill>
                <a:latin typeface="Calibri"/>
              </a:defRPr>
            </a:pPr>
            <a:r>
              <a:t>pLIN v2.1 — 7 New Features</a:t>
            </a:r>
          </a:p>
        </p:txBody>
      </p:sp>
      <p:sp>
        <p:nvSpPr>
          <p:cNvPr id="65" name="TextBox 64"/>
          <p:cNvSpPr txBox="1"/>
          <p:nvPr/>
        </p:nvSpPr>
        <p:spPr>
          <a:xfrm>
            <a:off x="6583680" y="5760720"/>
            <a:ext cx="4937760" cy="731520"/>
          </a:xfrm>
          <a:prstGeom prst="rect">
            <a:avLst/>
          </a:prstGeom>
          <a:noFill/>
        </p:spPr>
        <p:txBody>
          <a:bodyPr wrap="square">
            <a:spAutoFit/>
          </a:bodyPr>
          <a:lstStyle/>
          <a:p>
            <a:pPr>
              <a:spcAft>
                <a:spcPts val="200"/>
              </a:spcAft>
              <a:defRPr sz="1100">
                <a:solidFill>
                  <a:srgbClr val="333333"/>
                </a:solidFill>
                <a:latin typeface="Calibri"/>
              </a:defRPr>
            </a:pPr>
            <a:r>
              <a:t>All Phase 2 tools are optional — graceful degradation when not installed</a:t>
            </a:r>
          </a:p>
          <a:p>
            <a:pPr>
              <a:spcAft>
                <a:spcPts val="200"/>
              </a:spcAft>
              <a:defRPr sz="1100">
                <a:solidFill>
                  <a:srgbClr val="333333"/>
                </a:solidFill>
                <a:latin typeface="Calibri"/>
              </a:defRPr>
            </a:pPr>
            <a:r>
              <a:t>Phase 1 features require no additional software</a:t>
            </a:r>
          </a:p>
          <a:p>
            <a:pPr>
              <a:spcAft>
                <a:spcPts val="200"/>
              </a:spcAft>
              <a:defRPr sz="1100">
                <a:solidFill>
                  <a:srgbClr val="333333"/>
                </a:solidFill>
                <a:latin typeface="Calibri"/>
              </a:defRPr>
            </a:pPr>
            <a:r>
              <a:t>Total: 19 slides, 28+ features, full GUI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