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731520" y="1371600"/>
            <a:ext cx="10515600" cy="914400"/>
          </a:xfrm>
          <a:prstGeom prst="rect">
            <a:avLst/>
          </a:prstGeom>
          <a:noFill/>
        </p:spPr>
        <p:txBody>
          <a:bodyPr wrap="square">
            <a:spAutoFit/>
          </a:bodyPr>
          <a:lstStyle/>
          <a:p>
            <a:pPr algn="l">
              <a:defRPr sz="4000" b="1">
                <a:solidFill>
                  <a:srgbClr val="FFFFFF"/>
                </a:solidFill>
                <a:latin typeface="Calibri"/>
              </a:defRPr>
            </a:pPr>
            <a:r>
              <a:t>pLIN — Plasmid Life Identification Number</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2200" b="0">
                <a:solidFill>
                  <a:srgbClr val="BBDEFB"/>
                </a:solidFill>
                <a:latin typeface="Calibri"/>
              </a:defRPr>
            </a:pPr>
            <a:r>
              <a:t>A Hierarchical, Reference-Free Classification System</a:t>
            </a:r>
            <a:br/>
            <a:r>
              <a:t>for Bacterial Plasmid Genomes with AMR Surveillance</a:t>
            </a:r>
          </a:p>
        </p:txBody>
      </p:sp>
      <p:sp>
        <p:nvSpPr>
          <p:cNvPr id="4" name="Rounded Rectangle 3"/>
          <p:cNvSpPr/>
          <p:nvPr/>
        </p:nvSpPr>
        <p:spPr>
          <a:xfrm>
            <a:off x="731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0"/>
            <a:ext cx="2011680" cy="640080"/>
          </a:xfrm>
          <a:prstGeom prst="rect">
            <a:avLst/>
          </a:prstGeom>
          <a:noFill/>
        </p:spPr>
        <p:txBody>
          <a:bodyPr wrap="square">
            <a:spAutoFit/>
          </a:bodyPr>
          <a:lstStyle/>
          <a:p>
            <a:pPr algn="ctr">
              <a:defRPr sz="3600" b="1">
                <a:solidFill>
                  <a:srgbClr val="FFFFFF"/>
                </a:solidFill>
                <a:latin typeface="Calibri"/>
              </a:defRPr>
            </a:pPr>
            <a:r>
              <a:t>6,346</a:t>
            </a:r>
          </a:p>
        </p:txBody>
      </p:sp>
      <p:sp>
        <p:nvSpPr>
          <p:cNvPr id="6" name="TextBox 5"/>
          <p:cNvSpPr txBox="1"/>
          <p:nvPr/>
        </p:nvSpPr>
        <p:spPr>
          <a:xfrm>
            <a:off x="731520" y="4480560"/>
            <a:ext cx="2011680" cy="640080"/>
          </a:xfrm>
          <a:prstGeom prst="rect">
            <a:avLst/>
          </a:prstGeom>
          <a:noFill/>
        </p:spPr>
        <p:txBody>
          <a:bodyPr wrap="square">
            <a:spAutoFit/>
          </a:bodyPr>
          <a:lstStyle/>
          <a:p>
            <a:pPr algn="ctr">
              <a:defRPr sz="1400" b="0">
                <a:solidFill>
                  <a:srgbClr val="BBDEFB"/>
                </a:solidFill>
                <a:latin typeface="Calibri"/>
              </a:defRPr>
            </a:pPr>
            <a:r>
              <a:t>Training</a:t>
            </a:r>
            <a:br/>
            <a:r>
              <a:t>Plasmids</a:t>
            </a:r>
          </a:p>
        </p:txBody>
      </p:sp>
      <p:sp>
        <p:nvSpPr>
          <p:cNvPr id="7" name="Rounded Rectangle 6"/>
          <p:cNvSpPr/>
          <p:nvPr/>
        </p:nvSpPr>
        <p:spPr>
          <a:xfrm>
            <a:off x="3017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3840480"/>
            <a:ext cx="2011680" cy="640080"/>
          </a:xfrm>
          <a:prstGeom prst="rect">
            <a:avLst/>
          </a:prstGeom>
          <a:noFill/>
        </p:spPr>
        <p:txBody>
          <a:bodyPr wrap="square">
            <a:spAutoFit/>
          </a:bodyPr>
          <a:lstStyle/>
          <a:p>
            <a:pPr algn="ctr">
              <a:defRPr sz="3600" b="1">
                <a:solidFill>
                  <a:srgbClr val="FFFFFF"/>
                </a:solidFill>
                <a:latin typeface="Calibri"/>
              </a:defRPr>
            </a:pPr>
            <a:r>
              <a:t>3</a:t>
            </a:r>
          </a:p>
        </p:txBody>
      </p:sp>
      <p:sp>
        <p:nvSpPr>
          <p:cNvPr id="9" name="TextBox 8"/>
          <p:cNvSpPr txBox="1"/>
          <p:nvPr/>
        </p:nvSpPr>
        <p:spPr>
          <a:xfrm>
            <a:off x="3017520" y="4480560"/>
            <a:ext cx="2011680" cy="640080"/>
          </a:xfrm>
          <a:prstGeom prst="rect">
            <a:avLst/>
          </a:prstGeom>
          <a:noFill/>
        </p:spPr>
        <p:txBody>
          <a:bodyPr wrap="square">
            <a:spAutoFit/>
          </a:bodyPr>
          <a:lstStyle/>
          <a:p>
            <a:pPr algn="ctr">
              <a:defRPr sz="1400" b="0">
                <a:solidFill>
                  <a:srgbClr val="BBDEFB"/>
                </a:solidFill>
                <a:latin typeface="Calibri"/>
              </a:defRPr>
            </a:pPr>
            <a:r>
              <a:t>Inc Groups</a:t>
            </a:r>
            <a:br/>
            <a:r>
              <a:t>(FII, N, X1)</a:t>
            </a:r>
          </a:p>
        </p:txBody>
      </p:sp>
      <p:sp>
        <p:nvSpPr>
          <p:cNvPr id="10" name="Rounded Rectangle 9"/>
          <p:cNvSpPr/>
          <p:nvPr/>
        </p:nvSpPr>
        <p:spPr>
          <a:xfrm>
            <a:off x="5303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840480"/>
            <a:ext cx="2011680" cy="640080"/>
          </a:xfrm>
          <a:prstGeom prst="rect">
            <a:avLst/>
          </a:prstGeom>
          <a:noFill/>
        </p:spPr>
        <p:txBody>
          <a:bodyPr wrap="square">
            <a:spAutoFit/>
          </a:bodyPr>
          <a:lstStyle/>
          <a:p>
            <a:pPr algn="ctr">
              <a:defRPr sz="3600" b="1">
                <a:solidFill>
                  <a:srgbClr val="FFFFFF"/>
                </a:solidFill>
                <a:latin typeface="Calibri"/>
              </a:defRPr>
            </a:pPr>
            <a:r>
              <a:t>2,232</a:t>
            </a:r>
          </a:p>
        </p:txBody>
      </p:sp>
      <p:sp>
        <p:nvSpPr>
          <p:cNvPr id="12" name="TextBox 11"/>
          <p:cNvSpPr txBox="1"/>
          <p:nvPr/>
        </p:nvSpPr>
        <p:spPr>
          <a:xfrm>
            <a:off x="5303520" y="4480560"/>
            <a:ext cx="2011680" cy="640080"/>
          </a:xfrm>
          <a:prstGeom prst="rect">
            <a:avLst/>
          </a:prstGeom>
          <a:noFill/>
        </p:spPr>
        <p:txBody>
          <a:bodyPr wrap="square">
            <a:spAutoFit/>
          </a:bodyPr>
          <a:lstStyle/>
          <a:p>
            <a:pPr algn="ctr">
              <a:defRPr sz="1400" b="0">
                <a:solidFill>
                  <a:srgbClr val="BBDEFB"/>
                </a:solidFill>
                <a:latin typeface="Calibri"/>
              </a:defRPr>
            </a:pPr>
            <a:r>
              <a:t>Unique pLIN</a:t>
            </a:r>
            <a:br/>
            <a:r>
              <a:t>Codes</a:t>
            </a:r>
          </a:p>
        </p:txBody>
      </p:sp>
      <p:sp>
        <p:nvSpPr>
          <p:cNvPr id="13" name="Rounded Rectangle 12"/>
          <p:cNvSpPr/>
          <p:nvPr/>
        </p:nvSpPr>
        <p:spPr>
          <a:xfrm>
            <a:off x="7589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840480"/>
            <a:ext cx="2011680" cy="640080"/>
          </a:xfrm>
          <a:prstGeom prst="rect">
            <a:avLst/>
          </a:prstGeom>
          <a:noFill/>
        </p:spPr>
        <p:txBody>
          <a:bodyPr wrap="square">
            <a:spAutoFit/>
          </a:bodyPr>
          <a:lstStyle/>
          <a:p>
            <a:pPr algn="ctr">
              <a:defRPr sz="3600" b="1">
                <a:solidFill>
                  <a:srgbClr val="FFFFFF"/>
                </a:solidFill>
                <a:latin typeface="Calibri"/>
              </a:defRPr>
            </a:pPr>
            <a:r>
              <a:t>96.1%</a:t>
            </a:r>
          </a:p>
        </p:txBody>
      </p:sp>
      <p:sp>
        <p:nvSpPr>
          <p:cNvPr id="15" name="TextBox 14"/>
          <p:cNvSpPr txBox="1"/>
          <p:nvPr/>
        </p:nvSpPr>
        <p:spPr>
          <a:xfrm>
            <a:off x="7589520" y="4480560"/>
            <a:ext cx="2011680" cy="640080"/>
          </a:xfrm>
          <a:prstGeom prst="rect">
            <a:avLst/>
          </a:prstGeom>
          <a:noFill/>
        </p:spPr>
        <p:txBody>
          <a:bodyPr wrap="square">
            <a:spAutoFit/>
          </a:bodyPr>
          <a:lstStyle/>
          <a:p>
            <a:pPr algn="ctr">
              <a:defRPr sz="1400" b="0">
                <a:solidFill>
                  <a:srgbClr val="BBDEFB"/>
                </a:solidFill>
                <a:latin typeface="Calibri"/>
              </a:defRPr>
            </a:pPr>
            <a:r>
              <a:t>Inc Detection</a:t>
            </a:r>
            <a:br/>
            <a:r>
              <a:t>Accuracy</a:t>
            </a:r>
          </a:p>
        </p:txBody>
      </p:sp>
      <p:sp>
        <p:nvSpPr>
          <p:cNvPr id="16" name="Rounded Rectangle 15"/>
          <p:cNvSpPr/>
          <p:nvPr/>
        </p:nvSpPr>
        <p:spPr>
          <a:xfrm>
            <a:off x="9875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0" y="3840480"/>
            <a:ext cx="2011680" cy="640080"/>
          </a:xfrm>
          <a:prstGeom prst="rect">
            <a:avLst/>
          </a:prstGeom>
          <a:noFill/>
        </p:spPr>
        <p:txBody>
          <a:bodyPr wrap="square">
            <a:spAutoFit/>
          </a:bodyPr>
          <a:lstStyle/>
          <a:p>
            <a:pPr algn="ctr">
              <a:defRPr sz="3600" b="1">
                <a:solidFill>
                  <a:srgbClr val="FFFFFF"/>
                </a:solidFill>
                <a:latin typeface="Calibri"/>
              </a:defRPr>
            </a:pPr>
            <a:r>
              <a:t>27,465</a:t>
            </a:r>
          </a:p>
        </p:txBody>
      </p:sp>
      <p:sp>
        <p:nvSpPr>
          <p:cNvPr id="18" name="TextBox 17"/>
          <p:cNvSpPr txBox="1"/>
          <p:nvPr/>
        </p:nvSpPr>
        <p:spPr>
          <a:xfrm>
            <a:off x="9875520" y="4480560"/>
            <a:ext cx="2011680" cy="640080"/>
          </a:xfrm>
          <a:prstGeom prst="rect">
            <a:avLst/>
          </a:prstGeom>
          <a:noFill/>
        </p:spPr>
        <p:txBody>
          <a:bodyPr wrap="square">
            <a:spAutoFit/>
          </a:bodyPr>
          <a:lstStyle/>
          <a:p>
            <a:pPr algn="ctr">
              <a:defRPr sz="1400" b="0">
                <a:solidFill>
                  <a:srgbClr val="BBDEFB"/>
                </a:solidFill>
                <a:latin typeface="Calibri"/>
              </a:defRPr>
            </a:pPr>
            <a:r>
              <a:t>AMR Gene</a:t>
            </a:r>
            <a:br/>
            <a:r>
              <a:t>Detections</a:t>
            </a:r>
          </a:p>
        </p:txBody>
      </p:sp>
      <p:sp>
        <p:nvSpPr>
          <p:cNvPr id="19" name="TextBox 18"/>
          <p:cNvSpPr txBox="1"/>
          <p:nvPr/>
        </p:nvSpPr>
        <p:spPr>
          <a:xfrm>
            <a:off x="731520" y="5943600"/>
            <a:ext cx="10515600" cy="457200"/>
          </a:xfrm>
          <a:prstGeom prst="rect">
            <a:avLst/>
          </a:prstGeom>
          <a:noFill/>
        </p:spPr>
        <p:txBody>
          <a:bodyPr wrap="square">
            <a:spAutoFit/>
          </a:bodyPr>
          <a:lstStyle/>
          <a:p>
            <a:pPr algn="l">
              <a:defRPr sz="1400" b="0">
                <a:solidFill>
                  <a:srgbClr val="757575"/>
                </a:solidFill>
                <a:latin typeface="Calibri"/>
              </a:defRPr>
            </a:pPr>
            <a:r>
              <a:t>Tool Architecture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End-to-end pipeline from FASTA input to classified plasmids + AMR profile</a:t>
            </a:r>
          </a:p>
        </p:txBody>
      </p:sp>
      <p:sp>
        <p:nvSpPr>
          <p:cNvPr id="5" name="Rounded Rectangle 4"/>
          <p:cNvSpPr/>
          <p:nvPr/>
        </p:nvSpPr>
        <p:spPr>
          <a:xfrm>
            <a:off x="365760" y="1463040"/>
            <a:ext cx="2194560" cy="128016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2011680" cy="365760"/>
          </a:xfrm>
          <a:prstGeom prst="rect">
            <a:avLst/>
          </a:prstGeom>
          <a:noFill/>
        </p:spPr>
        <p:txBody>
          <a:bodyPr wrap="square">
            <a:spAutoFit/>
          </a:bodyPr>
          <a:lstStyle/>
          <a:p>
            <a:pPr algn="ctr">
              <a:defRPr sz="1400" b="1">
                <a:solidFill>
                  <a:srgbClr val="0D47A1"/>
                </a:solidFill>
                <a:latin typeface="Calibri"/>
              </a:defRPr>
            </a:pPr>
            <a:r>
              <a:t>INPUT</a:t>
            </a:r>
          </a:p>
        </p:txBody>
      </p:sp>
      <p:sp>
        <p:nvSpPr>
          <p:cNvPr id="7" name="TextBox 6"/>
          <p:cNvSpPr txBox="1"/>
          <p:nvPr/>
        </p:nvSpPr>
        <p:spPr>
          <a:xfrm>
            <a:off x="457200" y="1920240"/>
            <a:ext cx="2011680" cy="731520"/>
          </a:xfrm>
          <a:prstGeom prst="rect">
            <a:avLst/>
          </a:prstGeom>
          <a:noFill/>
        </p:spPr>
        <p:txBody>
          <a:bodyPr wrap="square">
            <a:spAutoFit/>
          </a:bodyPr>
          <a:lstStyle/>
          <a:p>
            <a:pPr>
              <a:spcAft>
                <a:spcPts val="200"/>
              </a:spcAft>
              <a:defRPr sz="1200">
                <a:solidFill>
                  <a:srgbClr val="333333"/>
                </a:solidFill>
                <a:latin typeface="Calibri"/>
              </a:defRPr>
            </a:pPr>
            <a:r>
              <a:t>Plasmid FASTA files</a:t>
            </a:r>
          </a:p>
          <a:p>
            <a:pPr>
              <a:spcAft>
                <a:spcPts val="200"/>
              </a:spcAft>
              <a:defRPr sz="1200">
                <a:solidFill>
                  <a:srgbClr val="333333"/>
                </a:solidFill>
                <a:latin typeface="Calibri"/>
              </a:defRPr>
            </a:pPr>
            <a:r>
              <a:t>(.fasta, .fa, .fna)</a:t>
            </a:r>
          </a:p>
        </p:txBody>
      </p:sp>
      <p:sp>
        <p:nvSpPr>
          <p:cNvPr id="8" name="Right Arrow 7"/>
          <p:cNvSpPr/>
          <p:nvPr/>
        </p:nvSpPr>
        <p:spPr>
          <a:xfrm>
            <a:off x="26974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463040"/>
            <a:ext cx="2377440" cy="128016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554480"/>
            <a:ext cx="2194560" cy="365760"/>
          </a:xfrm>
          <a:prstGeom prst="rect">
            <a:avLst/>
          </a:prstGeom>
          <a:noFill/>
        </p:spPr>
        <p:txBody>
          <a:bodyPr wrap="square">
            <a:spAutoFit/>
          </a:bodyPr>
          <a:lstStyle/>
          <a:p>
            <a:pPr algn="ctr">
              <a:defRPr sz="1200" b="1">
                <a:solidFill>
                  <a:srgbClr val="FB8C00"/>
                </a:solidFill>
                <a:latin typeface="Calibri"/>
              </a:defRPr>
            </a:pPr>
            <a:r>
              <a:t>INC GROUP DETECTION</a:t>
            </a:r>
          </a:p>
        </p:txBody>
      </p:sp>
      <p:sp>
        <p:nvSpPr>
          <p:cNvPr id="11" name="TextBox 10"/>
          <p:cNvSpPr txBox="1"/>
          <p:nvPr/>
        </p:nvSpPr>
        <p:spPr>
          <a:xfrm>
            <a:off x="3474720" y="1920240"/>
            <a:ext cx="2194560" cy="731520"/>
          </a:xfrm>
          <a:prstGeom prst="rect">
            <a:avLst/>
          </a:prstGeom>
          <a:noFill/>
        </p:spPr>
        <p:txBody>
          <a:bodyPr wrap="square">
            <a:spAutoFit/>
          </a:bodyPr>
          <a:lstStyle/>
          <a:p>
            <a:pPr>
              <a:spcAft>
                <a:spcPts val="200"/>
              </a:spcAft>
              <a:defRPr sz="1100">
                <a:solidFill>
                  <a:srgbClr val="333333"/>
                </a:solidFill>
                <a:latin typeface="Calibri"/>
              </a:defRPr>
            </a:pPr>
            <a:r>
              <a:t>KNN Classifier (k=5)</a:t>
            </a:r>
          </a:p>
          <a:p>
            <a:pPr>
              <a:spcAft>
                <a:spcPts val="200"/>
              </a:spcAft>
              <a:defRPr sz="1100">
                <a:solidFill>
                  <a:srgbClr val="333333"/>
                </a:solidFill>
                <a:latin typeface="Calibri"/>
              </a:defRPr>
            </a:pPr>
            <a:r>
              <a:t>Cosine distance on 4-mers</a:t>
            </a:r>
          </a:p>
          <a:p>
            <a:pPr>
              <a:spcAft>
                <a:spcPts val="200"/>
              </a:spcAft>
              <a:defRPr sz="1100">
                <a:solidFill>
                  <a:srgbClr val="333333"/>
                </a:solidFill>
                <a:latin typeface="Calibri"/>
              </a:defRPr>
            </a:pPr>
            <a:r>
              <a:t>Trained on 6,346 plasmids</a:t>
            </a:r>
          </a:p>
        </p:txBody>
      </p:sp>
      <p:sp>
        <p:nvSpPr>
          <p:cNvPr id="12" name="Right Arrow 11"/>
          <p:cNvSpPr/>
          <p:nvPr/>
        </p:nvSpPr>
        <p:spPr>
          <a:xfrm>
            <a:off x="58978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83680" y="1463040"/>
            <a:ext cx="256032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554480"/>
            <a:ext cx="2377440" cy="365760"/>
          </a:xfrm>
          <a:prstGeom prst="rect">
            <a:avLst/>
          </a:prstGeom>
          <a:noFill/>
        </p:spPr>
        <p:txBody>
          <a:bodyPr wrap="square">
            <a:spAutoFit/>
          </a:bodyPr>
          <a:lstStyle/>
          <a:p>
            <a:pPr algn="ctr">
              <a:defRPr sz="1200" b="1">
                <a:solidFill>
                  <a:srgbClr val="43A047"/>
                </a:solidFill>
                <a:latin typeface="Calibri"/>
              </a:defRPr>
            </a:pPr>
            <a:r>
              <a:t>pLIN ASSIGNMENT</a:t>
            </a:r>
          </a:p>
        </p:txBody>
      </p:sp>
      <p:sp>
        <p:nvSpPr>
          <p:cNvPr id="15" name="TextBox 14"/>
          <p:cNvSpPr txBox="1"/>
          <p:nvPr/>
        </p:nvSpPr>
        <p:spPr>
          <a:xfrm>
            <a:off x="6675120" y="1920240"/>
            <a:ext cx="2377440" cy="731520"/>
          </a:xfrm>
          <a:prstGeom prst="rect">
            <a:avLst/>
          </a:prstGeom>
          <a:noFill/>
        </p:spPr>
        <p:txBody>
          <a:bodyPr wrap="square">
            <a:spAutoFit/>
          </a:bodyPr>
          <a:lstStyle/>
          <a:p>
            <a:pPr>
              <a:spcAft>
                <a:spcPts val="200"/>
              </a:spcAft>
              <a:defRPr sz="1100">
                <a:solidFill>
                  <a:srgbClr val="333333"/>
                </a:solidFill>
                <a:latin typeface="Calibri"/>
              </a:defRPr>
            </a:pPr>
            <a:r>
              <a:t>4-mer frequency vectors (256D)</a:t>
            </a:r>
          </a:p>
          <a:p>
            <a:pPr>
              <a:spcAft>
                <a:spcPts val="200"/>
              </a:spcAft>
              <a:defRPr sz="1100">
                <a:solidFill>
                  <a:srgbClr val="333333"/>
                </a:solidFill>
                <a:latin typeface="Calibri"/>
              </a:defRPr>
            </a:pPr>
            <a:r>
              <a:t>Cosine distance matrix</a:t>
            </a:r>
          </a:p>
          <a:p>
            <a:pPr>
              <a:spcAft>
                <a:spcPts val="200"/>
              </a:spcAft>
              <a:defRPr sz="1100">
                <a:solidFill>
                  <a:srgbClr val="333333"/>
                </a:solidFill>
                <a:latin typeface="Calibri"/>
              </a:defRPr>
            </a:pPr>
            <a:r>
              <a:t>Single-linkage clustering</a:t>
            </a:r>
          </a:p>
          <a:p>
            <a:pPr>
              <a:spcAft>
                <a:spcPts val="200"/>
              </a:spcAft>
              <a:defRPr sz="1100">
                <a:solidFill>
                  <a:srgbClr val="333333"/>
                </a:solidFill>
                <a:latin typeface="Calibri"/>
              </a:defRPr>
            </a:pPr>
            <a:r>
              <a:t>6 threshold cuts → A.B.C.D.E.F</a:t>
            </a:r>
          </a:p>
        </p:txBody>
      </p:sp>
      <p:sp>
        <p:nvSpPr>
          <p:cNvPr id="16" name="Right Arrow 15"/>
          <p:cNvSpPr/>
          <p:nvPr/>
        </p:nvSpPr>
        <p:spPr>
          <a:xfrm>
            <a:off x="928116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66960" y="1463040"/>
            <a:ext cx="1920240" cy="1280160"/>
          </a:xfrm>
          <a:prstGeom prst="roundRect">
            <a:avLst/>
          </a:prstGeom>
          <a:solidFill>
            <a:srgbClr val="E3F2FD"/>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1554480"/>
            <a:ext cx="1737360" cy="365760"/>
          </a:xfrm>
          <a:prstGeom prst="rect">
            <a:avLst/>
          </a:prstGeom>
          <a:noFill/>
        </p:spPr>
        <p:txBody>
          <a:bodyPr wrap="square">
            <a:spAutoFit/>
          </a:bodyPr>
          <a:lstStyle/>
          <a:p>
            <a:pPr algn="ctr">
              <a:defRPr sz="1200" b="1">
                <a:solidFill>
                  <a:srgbClr val="0D47A1"/>
                </a:solidFill>
                <a:latin typeface="Calibri"/>
              </a:defRPr>
            </a:pPr>
            <a:r>
              <a:t>pLIN CODES</a:t>
            </a:r>
          </a:p>
        </p:txBody>
      </p:sp>
      <p:sp>
        <p:nvSpPr>
          <p:cNvPr id="19" name="TextBox 18"/>
          <p:cNvSpPr txBox="1"/>
          <p:nvPr/>
        </p:nvSpPr>
        <p:spPr>
          <a:xfrm>
            <a:off x="10058400" y="1920240"/>
            <a:ext cx="1737360" cy="731520"/>
          </a:xfrm>
          <a:prstGeom prst="rect">
            <a:avLst/>
          </a:prstGeom>
          <a:noFill/>
        </p:spPr>
        <p:txBody>
          <a:bodyPr wrap="square">
            <a:spAutoFit/>
          </a:bodyPr>
          <a:lstStyle/>
          <a:p>
            <a:pPr>
              <a:spcAft>
                <a:spcPts val="200"/>
              </a:spcAft>
              <a:defRPr sz="1100">
                <a:solidFill>
                  <a:srgbClr val="333333"/>
                </a:solidFill>
                <a:latin typeface="Calibri"/>
              </a:defRPr>
            </a:pPr>
            <a:r>
              <a:t>Hierarchical codes</a:t>
            </a:r>
          </a:p>
          <a:p>
            <a:pPr>
              <a:spcAft>
                <a:spcPts val="200"/>
              </a:spcAft>
              <a:defRPr sz="1100">
                <a:solidFill>
                  <a:srgbClr val="333333"/>
                </a:solidFill>
                <a:latin typeface="Calibri"/>
              </a:defRPr>
            </a:pPr>
            <a:r>
              <a:t>e.g. 1.1.1.1.2.5</a:t>
            </a:r>
          </a:p>
          <a:p>
            <a:pPr>
              <a:spcAft>
                <a:spcPts val="200"/>
              </a:spcAft>
              <a:defRPr sz="1100">
                <a:solidFill>
                  <a:srgbClr val="333333"/>
                </a:solidFill>
                <a:latin typeface="Calibri"/>
              </a:defRPr>
            </a:pPr>
            <a:r>
              <a:t>Permanent &amp; stable</a:t>
            </a:r>
          </a:p>
        </p:txBody>
      </p:sp>
      <p:sp>
        <p:nvSpPr>
          <p:cNvPr id="20" name="Rounded Rectangle 19"/>
          <p:cNvSpPr/>
          <p:nvPr/>
        </p:nvSpPr>
        <p:spPr>
          <a:xfrm>
            <a:off x="365760" y="3200400"/>
            <a:ext cx="2194560" cy="1280160"/>
          </a:xfrm>
          <a:prstGeom prst="roundRect">
            <a:avLst/>
          </a:prstGeom>
          <a:solidFill>
            <a:srgbClr val="FCE4EC"/>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91840"/>
            <a:ext cx="2011680" cy="365760"/>
          </a:xfrm>
          <a:prstGeom prst="rect">
            <a:avLst/>
          </a:prstGeom>
          <a:noFill/>
        </p:spPr>
        <p:txBody>
          <a:bodyPr wrap="square">
            <a:spAutoFit/>
          </a:bodyPr>
          <a:lstStyle/>
          <a:p>
            <a:pPr algn="ctr">
              <a:defRPr sz="1400" b="1">
                <a:solidFill>
                  <a:srgbClr val="E53935"/>
                </a:solidFill>
                <a:latin typeface="Calibri"/>
              </a:defRPr>
            </a:pPr>
            <a:r>
              <a:t>AMRFinderPlus</a:t>
            </a:r>
          </a:p>
        </p:txBody>
      </p:sp>
      <p:sp>
        <p:nvSpPr>
          <p:cNvPr id="22" name="TextBox 21"/>
          <p:cNvSpPr txBox="1"/>
          <p:nvPr/>
        </p:nvSpPr>
        <p:spPr>
          <a:xfrm>
            <a:off x="457200" y="3657600"/>
            <a:ext cx="2011680" cy="731520"/>
          </a:xfrm>
          <a:prstGeom prst="rect">
            <a:avLst/>
          </a:prstGeom>
          <a:noFill/>
        </p:spPr>
        <p:txBody>
          <a:bodyPr wrap="square">
            <a:spAutoFit/>
          </a:bodyPr>
          <a:lstStyle/>
          <a:p>
            <a:pPr>
              <a:spcAft>
                <a:spcPts val="200"/>
              </a:spcAft>
              <a:defRPr sz="1100">
                <a:solidFill>
                  <a:srgbClr val="333333"/>
                </a:solidFill>
                <a:latin typeface="Calibri"/>
              </a:defRPr>
            </a:pPr>
            <a:r>
              <a:t>NCBI AMR detection</a:t>
            </a:r>
          </a:p>
          <a:p>
            <a:pPr>
              <a:spcAft>
                <a:spcPts val="200"/>
              </a:spcAft>
              <a:defRPr sz="1100">
                <a:solidFill>
                  <a:srgbClr val="333333"/>
                </a:solidFill>
                <a:latin typeface="Calibri"/>
              </a:defRPr>
            </a:pPr>
            <a:r>
              <a:t>AMR + Stress + Virulence</a:t>
            </a:r>
          </a:p>
          <a:p>
            <a:pPr>
              <a:spcAft>
                <a:spcPts val="200"/>
              </a:spcAft>
              <a:defRPr sz="1100">
                <a:solidFill>
                  <a:srgbClr val="333333"/>
                </a:solidFill>
                <a:latin typeface="Calibri"/>
              </a:defRPr>
            </a:pPr>
            <a:r>
              <a:t>Per-contig gene calls</a:t>
            </a:r>
          </a:p>
        </p:txBody>
      </p:sp>
      <p:sp>
        <p:nvSpPr>
          <p:cNvPr id="23" name="Right Arrow 22"/>
          <p:cNvSpPr/>
          <p:nvPr/>
        </p:nvSpPr>
        <p:spPr>
          <a:xfrm>
            <a:off x="26974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3280" y="3200400"/>
            <a:ext cx="2377440" cy="1280160"/>
          </a:xfrm>
          <a:prstGeom prst="roundRect">
            <a:avLst/>
          </a:prstGeom>
          <a:solidFill>
            <a:srgbClr val="F3E5F5"/>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291840"/>
            <a:ext cx="2194560" cy="365760"/>
          </a:xfrm>
          <a:prstGeom prst="rect">
            <a:avLst/>
          </a:prstGeom>
          <a:noFill/>
        </p:spPr>
        <p:txBody>
          <a:bodyPr wrap="square">
            <a:spAutoFit/>
          </a:bodyPr>
          <a:lstStyle/>
          <a:p>
            <a:pPr algn="ctr">
              <a:defRPr sz="1200" b="1">
                <a:solidFill>
                  <a:srgbClr val="8E24AA"/>
                </a:solidFill>
                <a:latin typeface="Calibri"/>
              </a:defRPr>
            </a:pPr>
            <a:r>
              <a:t>INTEGRATION</a:t>
            </a:r>
          </a:p>
        </p:txBody>
      </p:sp>
      <p:sp>
        <p:nvSpPr>
          <p:cNvPr id="26" name="TextBox 25"/>
          <p:cNvSpPr txBox="1"/>
          <p:nvPr/>
        </p:nvSpPr>
        <p:spPr>
          <a:xfrm>
            <a:off x="3474720" y="3657600"/>
            <a:ext cx="2194560" cy="731520"/>
          </a:xfrm>
          <a:prstGeom prst="rect">
            <a:avLst/>
          </a:prstGeom>
          <a:noFill/>
        </p:spPr>
        <p:txBody>
          <a:bodyPr wrap="square">
            <a:spAutoFit/>
          </a:bodyPr>
          <a:lstStyle/>
          <a:p>
            <a:pPr>
              <a:spcAft>
                <a:spcPts val="200"/>
              </a:spcAft>
              <a:defRPr sz="1100">
                <a:solidFill>
                  <a:srgbClr val="333333"/>
                </a:solidFill>
                <a:latin typeface="Calibri"/>
              </a:defRPr>
            </a:pPr>
            <a:r>
              <a:t>pLIN codes + AMR genes</a:t>
            </a:r>
          </a:p>
          <a:p>
            <a:pPr>
              <a:spcAft>
                <a:spcPts val="200"/>
              </a:spcAft>
              <a:defRPr sz="1100">
                <a:solidFill>
                  <a:srgbClr val="333333"/>
                </a:solidFill>
                <a:latin typeface="Calibri"/>
              </a:defRPr>
            </a:pPr>
            <a:r>
              <a:t>Per-plasmid AMR profile</a:t>
            </a:r>
          </a:p>
          <a:p>
            <a:pPr>
              <a:spcAft>
                <a:spcPts val="200"/>
              </a:spcAft>
              <a:defRPr sz="1100">
                <a:solidFill>
                  <a:srgbClr val="333333"/>
                </a:solidFill>
                <a:latin typeface="Calibri"/>
              </a:defRPr>
            </a:pPr>
            <a:r>
              <a:t>Lineage AMR summary</a:t>
            </a:r>
          </a:p>
        </p:txBody>
      </p:sp>
      <p:sp>
        <p:nvSpPr>
          <p:cNvPr id="27" name="Right Arrow 26"/>
          <p:cNvSpPr/>
          <p:nvPr/>
        </p:nvSpPr>
        <p:spPr>
          <a:xfrm>
            <a:off x="58978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0" y="3200400"/>
            <a:ext cx="2560320" cy="1280160"/>
          </a:xfrm>
          <a:prstGeom prst="roundRect">
            <a:avLst/>
          </a:prstGeom>
          <a:solidFill>
            <a:srgbClr val="E0F7FA"/>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291840"/>
            <a:ext cx="2377440" cy="365760"/>
          </a:xfrm>
          <a:prstGeom prst="rect">
            <a:avLst/>
          </a:prstGeom>
          <a:noFill/>
        </p:spPr>
        <p:txBody>
          <a:bodyPr wrap="square">
            <a:spAutoFit/>
          </a:bodyPr>
          <a:lstStyle/>
          <a:p>
            <a:pPr algn="ctr">
              <a:defRPr sz="1200" b="1">
                <a:solidFill>
                  <a:srgbClr val="009688"/>
                </a:solidFill>
                <a:latin typeface="Calibri"/>
              </a:defRPr>
            </a:pPr>
            <a:r>
              <a:t>VISUALIZATION</a:t>
            </a:r>
          </a:p>
        </p:txBody>
      </p:sp>
      <p:sp>
        <p:nvSpPr>
          <p:cNvPr id="30" name="TextBox 29"/>
          <p:cNvSpPr txBox="1"/>
          <p:nvPr/>
        </p:nvSpPr>
        <p:spPr>
          <a:xfrm>
            <a:off x="6675120" y="3657600"/>
            <a:ext cx="2377440" cy="731520"/>
          </a:xfrm>
          <a:prstGeom prst="rect">
            <a:avLst/>
          </a:prstGeom>
          <a:noFill/>
        </p:spPr>
        <p:txBody>
          <a:bodyPr wrap="square">
            <a:spAutoFit/>
          </a:bodyPr>
          <a:lstStyle/>
          <a:p>
            <a:pPr>
              <a:spcAft>
                <a:spcPts val="200"/>
              </a:spcAft>
              <a:defRPr sz="1100">
                <a:solidFill>
                  <a:srgbClr val="333333"/>
                </a:solidFill>
                <a:latin typeface="Calibri"/>
              </a:defRPr>
            </a:pPr>
            <a:r>
              <a:t>Cladograms (4 types)</a:t>
            </a:r>
          </a:p>
          <a:p>
            <a:pPr>
              <a:spcAft>
                <a:spcPts val="200"/>
              </a:spcAft>
              <a:defRPr sz="1100">
                <a:solidFill>
                  <a:srgbClr val="333333"/>
                </a:solidFill>
                <a:latin typeface="Calibri"/>
              </a:defRPr>
            </a:pPr>
            <a:r>
              <a:t>AMR heatmaps (Plotly)</a:t>
            </a:r>
          </a:p>
          <a:p>
            <a:pPr>
              <a:spcAft>
                <a:spcPts val="200"/>
              </a:spcAft>
              <a:defRPr sz="1100">
                <a:solidFill>
                  <a:srgbClr val="333333"/>
                </a:solidFill>
                <a:latin typeface="Calibri"/>
              </a:defRPr>
            </a:pPr>
            <a:r>
              <a:t>Drug class pie charts</a:t>
            </a:r>
          </a:p>
          <a:p>
            <a:pPr>
              <a:spcAft>
                <a:spcPts val="200"/>
              </a:spcAft>
              <a:defRPr sz="1100">
                <a:solidFill>
                  <a:srgbClr val="333333"/>
                </a:solidFill>
                <a:latin typeface="Calibri"/>
              </a:defRPr>
            </a:pPr>
            <a:r>
              <a:t>Critical gene alerts</a:t>
            </a:r>
          </a:p>
        </p:txBody>
      </p:sp>
      <p:sp>
        <p:nvSpPr>
          <p:cNvPr id="31" name="Right Arrow 30"/>
          <p:cNvSpPr/>
          <p:nvPr/>
        </p:nvSpPr>
        <p:spPr>
          <a:xfrm>
            <a:off x="928116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3200400"/>
            <a:ext cx="1920240" cy="1280160"/>
          </a:xfrm>
          <a:prstGeom prst="roundRect">
            <a:avLst/>
          </a:prstGeom>
          <a:solidFill>
            <a:srgbClr val="ECEFF1"/>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291840"/>
            <a:ext cx="1737360" cy="365760"/>
          </a:xfrm>
          <a:prstGeom prst="rect">
            <a:avLst/>
          </a:prstGeom>
          <a:noFill/>
        </p:spPr>
        <p:txBody>
          <a:bodyPr wrap="square">
            <a:spAutoFit/>
          </a:bodyPr>
          <a:lstStyle/>
          <a:p>
            <a:pPr algn="ctr">
              <a:defRPr sz="1200" b="1">
                <a:solidFill>
                  <a:srgbClr val="333333"/>
                </a:solidFill>
                <a:latin typeface="Calibri"/>
              </a:defRPr>
            </a:pPr>
            <a:r>
              <a:t>EXPORT</a:t>
            </a:r>
          </a:p>
        </p:txBody>
      </p:sp>
      <p:sp>
        <p:nvSpPr>
          <p:cNvPr id="34" name="TextBox 33"/>
          <p:cNvSpPr txBox="1"/>
          <p:nvPr/>
        </p:nvSpPr>
        <p:spPr>
          <a:xfrm>
            <a:off x="10058400" y="3657600"/>
            <a:ext cx="1737360" cy="731520"/>
          </a:xfrm>
          <a:prstGeom prst="rect">
            <a:avLst/>
          </a:prstGeom>
          <a:noFill/>
        </p:spPr>
        <p:txBody>
          <a:bodyPr wrap="square">
            <a:spAutoFit/>
          </a:bodyPr>
          <a:lstStyle/>
          <a:p>
            <a:pPr>
              <a:spcAft>
                <a:spcPts val="200"/>
              </a:spcAft>
              <a:defRPr sz="1100">
                <a:solidFill>
                  <a:srgbClr val="333333"/>
                </a:solidFill>
                <a:latin typeface="Calibri"/>
              </a:defRPr>
            </a:pPr>
            <a:r>
              <a:t>TSV tables</a:t>
            </a:r>
          </a:p>
          <a:p>
            <a:pPr>
              <a:spcAft>
                <a:spcPts val="200"/>
              </a:spcAft>
              <a:defRPr sz="1100">
                <a:solidFill>
                  <a:srgbClr val="333333"/>
                </a:solidFill>
                <a:latin typeface="Calibri"/>
              </a:defRPr>
            </a:pPr>
            <a:r>
              <a:t>PNG / PDF figures</a:t>
            </a:r>
          </a:p>
          <a:p>
            <a:pPr>
              <a:spcAft>
                <a:spcPts val="200"/>
              </a:spcAft>
              <a:defRPr sz="1100">
                <a:solidFill>
                  <a:srgbClr val="333333"/>
                </a:solidFill>
                <a:latin typeface="Calibri"/>
              </a:defRPr>
            </a:pPr>
            <a:r>
              <a:t>ZIP bundle</a:t>
            </a:r>
          </a:p>
        </p:txBody>
      </p:sp>
      <p:sp>
        <p:nvSpPr>
          <p:cNvPr id="35" name="Rounded Rectangle 34"/>
          <p:cNvSpPr/>
          <p:nvPr/>
        </p:nvSpPr>
        <p:spPr>
          <a:xfrm>
            <a:off x="365760" y="5029200"/>
            <a:ext cx="11521440" cy="1371600"/>
          </a:xfrm>
          <a:prstGeom prst="roundRect">
            <a:avLst/>
          </a:prstGeom>
          <a:solidFill>
            <a:srgbClr val="E8EAF6"/>
          </a:solidFill>
          <a:ln w="254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120640"/>
            <a:ext cx="2743200" cy="365760"/>
          </a:xfrm>
          <a:prstGeom prst="rect">
            <a:avLst/>
          </a:prstGeom>
          <a:noFill/>
        </p:spPr>
        <p:txBody>
          <a:bodyPr wrap="square">
            <a:spAutoFit/>
          </a:bodyPr>
          <a:lstStyle/>
          <a:p>
            <a:pPr algn="l">
              <a:defRPr sz="1400" b="1">
                <a:solidFill>
                  <a:srgbClr val="534BAE"/>
                </a:solidFill>
                <a:latin typeface="Calibri"/>
              </a:defRPr>
            </a:pPr>
            <a:r>
              <a:t>Streamlit Web GUI (plin_app.py)</a:t>
            </a:r>
          </a:p>
        </p:txBody>
      </p:sp>
      <p:sp>
        <p:nvSpPr>
          <p:cNvPr id="37" name="Rounded Rectangle 36"/>
          <p:cNvSpPr/>
          <p:nvPr/>
        </p:nvSpPr>
        <p:spPr>
          <a:xfrm>
            <a:off x="5486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623560"/>
            <a:ext cx="1737360" cy="457200"/>
          </a:xfrm>
          <a:prstGeom prst="rect">
            <a:avLst/>
          </a:prstGeom>
          <a:noFill/>
        </p:spPr>
        <p:txBody>
          <a:bodyPr wrap="square">
            <a:spAutoFit/>
          </a:bodyPr>
          <a:lstStyle/>
          <a:p>
            <a:pPr algn="ctr">
              <a:defRPr sz="1100" b="1">
                <a:solidFill>
                  <a:srgbClr val="534BAE"/>
                </a:solidFill>
                <a:latin typeface="Calibri"/>
              </a:defRPr>
            </a:pPr>
            <a:r>
              <a:t>Upload &amp; Config</a:t>
            </a:r>
          </a:p>
        </p:txBody>
      </p:sp>
      <p:sp>
        <p:nvSpPr>
          <p:cNvPr id="39" name="Rounded Rectangle 38"/>
          <p:cNvSpPr/>
          <p:nvPr/>
        </p:nvSpPr>
        <p:spPr>
          <a:xfrm>
            <a:off x="242316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23160" y="5623560"/>
            <a:ext cx="1737360" cy="457200"/>
          </a:xfrm>
          <a:prstGeom prst="rect">
            <a:avLst/>
          </a:prstGeom>
          <a:noFill/>
        </p:spPr>
        <p:txBody>
          <a:bodyPr wrap="square">
            <a:spAutoFit/>
          </a:bodyPr>
          <a:lstStyle/>
          <a:p>
            <a:pPr algn="ctr">
              <a:defRPr sz="1100" b="1">
                <a:solidFill>
                  <a:srgbClr val="534BAE"/>
                </a:solidFill>
                <a:latin typeface="Calibri"/>
              </a:defRPr>
            </a:pPr>
            <a:r>
              <a:t>Overview Tab</a:t>
            </a:r>
          </a:p>
        </p:txBody>
      </p:sp>
      <p:sp>
        <p:nvSpPr>
          <p:cNvPr id="41" name="Rounded Rectangle 40"/>
          <p:cNvSpPr/>
          <p:nvPr/>
        </p:nvSpPr>
        <p:spPr>
          <a:xfrm>
            <a:off x="429767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5623560"/>
            <a:ext cx="1737360" cy="457200"/>
          </a:xfrm>
          <a:prstGeom prst="rect">
            <a:avLst/>
          </a:prstGeom>
          <a:noFill/>
        </p:spPr>
        <p:txBody>
          <a:bodyPr wrap="square">
            <a:spAutoFit/>
          </a:bodyPr>
          <a:lstStyle/>
          <a:p>
            <a:pPr algn="ctr">
              <a:defRPr sz="1100" b="1">
                <a:solidFill>
                  <a:srgbClr val="534BAE"/>
                </a:solidFill>
                <a:latin typeface="Calibri"/>
              </a:defRPr>
            </a:pPr>
            <a:r>
              <a:t>Results Tab</a:t>
            </a:r>
          </a:p>
        </p:txBody>
      </p:sp>
      <p:sp>
        <p:nvSpPr>
          <p:cNvPr id="43" name="Rounded Rectangle 42"/>
          <p:cNvSpPr/>
          <p:nvPr/>
        </p:nvSpPr>
        <p:spPr>
          <a:xfrm>
            <a:off x="617219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199" y="5623560"/>
            <a:ext cx="1737360" cy="457200"/>
          </a:xfrm>
          <a:prstGeom prst="rect">
            <a:avLst/>
          </a:prstGeom>
          <a:noFill/>
        </p:spPr>
        <p:txBody>
          <a:bodyPr wrap="square">
            <a:spAutoFit/>
          </a:bodyPr>
          <a:lstStyle/>
          <a:p>
            <a:pPr algn="ctr">
              <a:defRPr sz="1100" b="1">
                <a:solidFill>
                  <a:srgbClr val="534BAE"/>
                </a:solidFill>
                <a:latin typeface="Calibri"/>
              </a:defRPr>
            </a:pPr>
            <a:r>
              <a:t>Cladogram Tab</a:t>
            </a:r>
          </a:p>
        </p:txBody>
      </p:sp>
      <p:sp>
        <p:nvSpPr>
          <p:cNvPr id="45" name="Rounded Rectangle 44"/>
          <p:cNvSpPr/>
          <p:nvPr/>
        </p:nvSpPr>
        <p:spPr>
          <a:xfrm>
            <a:off x="804671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623560"/>
            <a:ext cx="1737360" cy="457200"/>
          </a:xfrm>
          <a:prstGeom prst="rect">
            <a:avLst/>
          </a:prstGeom>
          <a:noFill/>
        </p:spPr>
        <p:txBody>
          <a:bodyPr wrap="square">
            <a:spAutoFit/>
          </a:bodyPr>
          <a:lstStyle/>
          <a:p>
            <a:pPr algn="ctr">
              <a:defRPr sz="1100" b="1">
                <a:solidFill>
                  <a:srgbClr val="534BAE"/>
                </a:solidFill>
                <a:latin typeface="Calibri"/>
              </a:defRPr>
            </a:pPr>
            <a:r>
              <a:t>AMR Analysis Tab</a:t>
            </a:r>
          </a:p>
        </p:txBody>
      </p:sp>
      <p:sp>
        <p:nvSpPr>
          <p:cNvPr id="47" name="Rounded Rectangle 46"/>
          <p:cNvSpPr/>
          <p:nvPr/>
        </p:nvSpPr>
        <p:spPr>
          <a:xfrm>
            <a:off x="99212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5623560"/>
            <a:ext cx="1737360" cy="457200"/>
          </a:xfrm>
          <a:prstGeom prst="rect">
            <a:avLst/>
          </a:prstGeom>
          <a:noFill/>
        </p:spPr>
        <p:txBody>
          <a:bodyPr wrap="square">
            <a:spAutoFit/>
          </a:bodyPr>
          <a:lstStyle/>
          <a:p>
            <a:pPr algn="ctr">
              <a:defRPr sz="1100" b="1">
                <a:solidFill>
                  <a:srgbClr val="534BAE"/>
                </a:solidFill>
                <a:latin typeface="Calibri"/>
              </a:defRPr>
            </a:pPr>
            <a:r>
              <a:t>Export Tab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pLIN Classification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Six-level hierarchical coding from tetranucleotide composition</a:t>
            </a:r>
          </a:p>
        </p:txBody>
      </p:sp>
      <p:sp>
        <p:nvSpPr>
          <p:cNvPr id="5" name="Rounded Rectangle 4"/>
          <p:cNvSpPr/>
          <p:nvPr/>
        </p:nvSpPr>
        <p:spPr>
          <a:xfrm>
            <a:off x="457200" y="1463040"/>
            <a:ext cx="5029200" cy="4572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90472"/>
            <a:ext cx="1188720" cy="365760"/>
          </a:xfrm>
          <a:prstGeom prst="rect">
            <a:avLst/>
          </a:prstGeom>
          <a:noFill/>
        </p:spPr>
        <p:txBody>
          <a:bodyPr wrap="square">
            <a:spAutoFit/>
          </a:bodyPr>
          <a:lstStyle/>
          <a:p>
            <a:pPr algn="ctr">
              <a:defRPr sz="1200" b="1">
                <a:solidFill>
                  <a:srgbClr val="FFFFFF"/>
                </a:solidFill>
                <a:latin typeface="Calibri"/>
              </a:defRPr>
            </a:pPr>
            <a:r>
              <a:t>Position</a:t>
            </a:r>
          </a:p>
        </p:txBody>
      </p:sp>
      <p:sp>
        <p:nvSpPr>
          <p:cNvPr id="7" name="TextBox 6"/>
          <p:cNvSpPr txBox="1"/>
          <p:nvPr/>
        </p:nvSpPr>
        <p:spPr>
          <a:xfrm>
            <a:off x="1783080" y="1490472"/>
            <a:ext cx="1188720" cy="365760"/>
          </a:xfrm>
          <a:prstGeom prst="rect">
            <a:avLst/>
          </a:prstGeom>
          <a:noFill/>
        </p:spPr>
        <p:txBody>
          <a:bodyPr wrap="square">
            <a:spAutoFit/>
          </a:bodyPr>
          <a:lstStyle/>
          <a:p>
            <a:pPr algn="ctr">
              <a:defRPr sz="1200" b="1">
                <a:solidFill>
                  <a:srgbClr val="FFFFFF"/>
                </a:solidFill>
                <a:latin typeface="Calibri"/>
              </a:defRPr>
            </a:pPr>
            <a:r>
              <a:t>Level</a:t>
            </a:r>
          </a:p>
        </p:txBody>
      </p:sp>
      <p:sp>
        <p:nvSpPr>
          <p:cNvPr id="8" name="TextBox 7"/>
          <p:cNvSpPr txBox="1"/>
          <p:nvPr/>
        </p:nvSpPr>
        <p:spPr>
          <a:xfrm>
            <a:off x="3017520" y="1490472"/>
            <a:ext cx="1188720" cy="365760"/>
          </a:xfrm>
          <a:prstGeom prst="rect">
            <a:avLst/>
          </a:prstGeom>
          <a:noFill/>
        </p:spPr>
        <p:txBody>
          <a:bodyPr wrap="square">
            <a:spAutoFit/>
          </a:bodyPr>
          <a:lstStyle/>
          <a:p>
            <a:pPr algn="ctr">
              <a:defRPr sz="1200" b="1">
                <a:solidFill>
                  <a:srgbClr val="FFFFFF"/>
                </a:solidFill>
                <a:latin typeface="Calibri"/>
              </a:defRPr>
            </a:pPr>
            <a:r>
              <a:t>Threshold (d≤)</a:t>
            </a:r>
          </a:p>
        </p:txBody>
      </p:sp>
      <p:sp>
        <p:nvSpPr>
          <p:cNvPr id="9" name="TextBox 8"/>
          <p:cNvSpPr txBox="1"/>
          <p:nvPr/>
        </p:nvSpPr>
        <p:spPr>
          <a:xfrm>
            <a:off x="4251960" y="1490472"/>
            <a:ext cx="1188720" cy="365760"/>
          </a:xfrm>
          <a:prstGeom prst="rect">
            <a:avLst/>
          </a:prstGeom>
          <a:noFill/>
        </p:spPr>
        <p:txBody>
          <a:bodyPr wrap="square">
            <a:spAutoFit/>
          </a:bodyPr>
          <a:lstStyle/>
          <a:p>
            <a:pPr algn="ctr">
              <a:defRPr sz="1200" b="1">
                <a:solidFill>
                  <a:srgbClr val="FFFFFF"/>
                </a:solidFill>
                <a:latin typeface="Calibri"/>
              </a:defRPr>
            </a:pPr>
            <a:r>
              <a:t>ANI Equiv.</a:t>
            </a:r>
          </a:p>
        </p:txBody>
      </p:sp>
      <p:sp>
        <p:nvSpPr>
          <p:cNvPr id="10" name="Rounded Rectangle 9"/>
          <p:cNvSpPr/>
          <p:nvPr/>
        </p:nvSpPr>
        <p:spPr>
          <a:xfrm>
            <a:off x="457200" y="192024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2011680"/>
            <a:ext cx="228600" cy="22860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965960"/>
            <a:ext cx="822960" cy="320040"/>
          </a:xfrm>
          <a:prstGeom prst="rect">
            <a:avLst/>
          </a:prstGeom>
          <a:noFill/>
        </p:spPr>
        <p:txBody>
          <a:bodyPr wrap="square">
            <a:spAutoFit/>
          </a:bodyPr>
          <a:lstStyle/>
          <a:p>
            <a:pPr algn="ctr">
              <a:defRPr sz="1300" b="1">
                <a:solidFill>
                  <a:srgbClr val="E53935"/>
                </a:solidFill>
                <a:latin typeface="Calibri"/>
              </a:defRPr>
            </a:pPr>
            <a:r>
              <a:t>A</a:t>
            </a:r>
          </a:p>
        </p:txBody>
      </p:sp>
      <p:sp>
        <p:nvSpPr>
          <p:cNvPr id="13" name="TextBox 12"/>
          <p:cNvSpPr txBox="1"/>
          <p:nvPr/>
        </p:nvSpPr>
        <p:spPr>
          <a:xfrm>
            <a:off x="1783080" y="1965960"/>
            <a:ext cx="1188720" cy="320040"/>
          </a:xfrm>
          <a:prstGeom prst="rect">
            <a:avLst/>
          </a:prstGeom>
          <a:noFill/>
        </p:spPr>
        <p:txBody>
          <a:bodyPr wrap="square">
            <a:spAutoFit/>
          </a:bodyPr>
          <a:lstStyle/>
          <a:p>
            <a:pPr algn="ctr">
              <a:defRPr sz="1200" b="0">
                <a:solidFill>
                  <a:srgbClr val="333333"/>
                </a:solidFill>
                <a:latin typeface="Calibri"/>
              </a:defRPr>
            </a:pPr>
            <a:r>
              <a:t>Family</a:t>
            </a:r>
          </a:p>
        </p:txBody>
      </p:sp>
      <p:sp>
        <p:nvSpPr>
          <p:cNvPr id="14" name="TextBox 13"/>
          <p:cNvSpPr txBox="1"/>
          <p:nvPr/>
        </p:nvSpPr>
        <p:spPr>
          <a:xfrm>
            <a:off x="3017520" y="1965960"/>
            <a:ext cx="1188720" cy="320040"/>
          </a:xfrm>
          <a:prstGeom prst="rect">
            <a:avLst/>
          </a:prstGeom>
          <a:noFill/>
        </p:spPr>
        <p:txBody>
          <a:bodyPr wrap="square">
            <a:spAutoFit/>
          </a:bodyPr>
          <a:lstStyle/>
          <a:p>
            <a:pPr algn="ctr">
              <a:defRPr sz="1200" b="0">
                <a:solidFill>
                  <a:srgbClr val="333333"/>
                </a:solidFill>
                <a:latin typeface="Consolas"/>
              </a:defRPr>
            </a:pPr>
            <a:r>
              <a:t>d ≤ 0.150</a:t>
            </a:r>
          </a:p>
        </p:txBody>
      </p:sp>
      <p:sp>
        <p:nvSpPr>
          <p:cNvPr id="15" name="TextBox 14"/>
          <p:cNvSpPr txBox="1"/>
          <p:nvPr/>
        </p:nvSpPr>
        <p:spPr>
          <a:xfrm>
            <a:off x="4251960" y="1965960"/>
            <a:ext cx="1188720" cy="320040"/>
          </a:xfrm>
          <a:prstGeom prst="rect">
            <a:avLst/>
          </a:prstGeom>
          <a:noFill/>
        </p:spPr>
        <p:txBody>
          <a:bodyPr wrap="square">
            <a:spAutoFit/>
          </a:bodyPr>
          <a:lstStyle/>
          <a:p>
            <a:pPr algn="ctr">
              <a:defRPr sz="1200" b="0">
                <a:solidFill>
                  <a:srgbClr val="333333"/>
                </a:solidFill>
                <a:latin typeface="Calibri"/>
              </a:defRPr>
            </a:pPr>
            <a:r>
              <a:t>~85%</a:t>
            </a:r>
          </a:p>
        </p:txBody>
      </p:sp>
      <p:sp>
        <p:nvSpPr>
          <p:cNvPr id="16" name="Rounded Rectangle 15"/>
          <p:cNvSpPr/>
          <p:nvPr/>
        </p:nvSpPr>
        <p:spPr>
          <a:xfrm>
            <a:off x="457200" y="233172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423160"/>
            <a:ext cx="228600" cy="22860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77440"/>
            <a:ext cx="822960" cy="320040"/>
          </a:xfrm>
          <a:prstGeom prst="rect">
            <a:avLst/>
          </a:prstGeom>
          <a:noFill/>
        </p:spPr>
        <p:txBody>
          <a:bodyPr wrap="square">
            <a:spAutoFit/>
          </a:bodyPr>
          <a:lstStyle/>
          <a:p>
            <a:pPr algn="ctr">
              <a:defRPr sz="1300" b="1">
                <a:solidFill>
                  <a:srgbClr val="FB8C00"/>
                </a:solidFill>
                <a:latin typeface="Calibri"/>
              </a:defRPr>
            </a:pPr>
            <a:r>
              <a:t>B</a:t>
            </a:r>
          </a:p>
        </p:txBody>
      </p:sp>
      <p:sp>
        <p:nvSpPr>
          <p:cNvPr id="19" name="TextBox 18"/>
          <p:cNvSpPr txBox="1"/>
          <p:nvPr/>
        </p:nvSpPr>
        <p:spPr>
          <a:xfrm>
            <a:off x="1783080" y="2377440"/>
            <a:ext cx="1188720" cy="320040"/>
          </a:xfrm>
          <a:prstGeom prst="rect">
            <a:avLst/>
          </a:prstGeom>
          <a:noFill/>
        </p:spPr>
        <p:txBody>
          <a:bodyPr wrap="square">
            <a:spAutoFit/>
          </a:bodyPr>
          <a:lstStyle/>
          <a:p>
            <a:pPr algn="ctr">
              <a:defRPr sz="1200" b="0">
                <a:solidFill>
                  <a:srgbClr val="333333"/>
                </a:solidFill>
                <a:latin typeface="Calibri"/>
              </a:defRPr>
            </a:pPr>
            <a:r>
              <a:t>Subfamily</a:t>
            </a:r>
          </a:p>
        </p:txBody>
      </p:sp>
      <p:sp>
        <p:nvSpPr>
          <p:cNvPr id="20" name="TextBox 19"/>
          <p:cNvSpPr txBox="1"/>
          <p:nvPr/>
        </p:nvSpPr>
        <p:spPr>
          <a:xfrm>
            <a:off x="3017520" y="2377440"/>
            <a:ext cx="1188720" cy="320040"/>
          </a:xfrm>
          <a:prstGeom prst="rect">
            <a:avLst/>
          </a:prstGeom>
          <a:noFill/>
        </p:spPr>
        <p:txBody>
          <a:bodyPr wrap="square">
            <a:spAutoFit/>
          </a:bodyPr>
          <a:lstStyle/>
          <a:p>
            <a:pPr algn="ctr">
              <a:defRPr sz="1200" b="0">
                <a:solidFill>
                  <a:srgbClr val="333333"/>
                </a:solidFill>
                <a:latin typeface="Consolas"/>
              </a:defRPr>
            </a:pPr>
            <a:r>
              <a:t>d ≤ 0.100</a:t>
            </a:r>
          </a:p>
        </p:txBody>
      </p:sp>
      <p:sp>
        <p:nvSpPr>
          <p:cNvPr id="21" name="TextBox 20"/>
          <p:cNvSpPr txBox="1"/>
          <p:nvPr/>
        </p:nvSpPr>
        <p:spPr>
          <a:xfrm>
            <a:off x="4251960" y="2377440"/>
            <a:ext cx="1188720" cy="320040"/>
          </a:xfrm>
          <a:prstGeom prst="rect">
            <a:avLst/>
          </a:prstGeom>
          <a:noFill/>
        </p:spPr>
        <p:txBody>
          <a:bodyPr wrap="square">
            <a:spAutoFit/>
          </a:bodyPr>
          <a:lstStyle/>
          <a:p>
            <a:pPr algn="ctr">
              <a:defRPr sz="1200" b="0">
                <a:solidFill>
                  <a:srgbClr val="333333"/>
                </a:solidFill>
                <a:latin typeface="Calibri"/>
              </a:defRPr>
            </a:pPr>
            <a:r>
              <a:t>~90%</a:t>
            </a:r>
          </a:p>
        </p:txBody>
      </p:sp>
      <p:sp>
        <p:nvSpPr>
          <p:cNvPr id="22" name="Rounded Rectangle 21"/>
          <p:cNvSpPr/>
          <p:nvPr/>
        </p:nvSpPr>
        <p:spPr>
          <a:xfrm>
            <a:off x="457200" y="274320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2834640"/>
            <a:ext cx="228600" cy="228600"/>
          </a:xfrm>
          <a:prstGeom prst="ellipse">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822960" cy="320040"/>
          </a:xfrm>
          <a:prstGeom prst="rect">
            <a:avLst/>
          </a:prstGeom>
          <a:noFill/>
        </p:spPr>
        <p:txBody>
          <a:bodyPr wrap="square">
            <a:spAutoFit/>
          </a:bodyPr>
          <a:lstStyle/>
          <a:p>
            <a:pPr algn="ctr">
              <a:defRPr sz="1300" b="1">
                <a:solidFill>
                  <a:srgbClr val="FDD835"/>
                </a:solidFill>
                <a:latin typeface="Calibri"/>
              </a:defRPr>
            </a:pPr>
            <a:r>
              <a:t>C</a:t>
            </a:r>
          </a:p>
        </p:txBody>
      </p:sp>
      <p:sp>
        <p:nvSpPr>
          <p:cNvPr id="25" name="TextBox 24"/>
          <p:cNvSpPr txBox="1"/>
          <p:nvPr/>
        </p:nvSpPr>
        <p:spPr>
          <a:xfrm>
            <a:off x="1783080" y="2788920"/>
            <a:ext cx="1188720" cy="320040"/>
          </a:xfrm>
          <a:prstGeom prst="rect">
            <a:avLst/>
          </a:prstGeom>
          <a:noFill/>
        </p:spPr>
        <p:txBody>
          <a:bodyPr wrap="square">
            <a:spAutoFit/>
          </a:bodyPr>
          <a:lstStyle/>
          <a:p>
            <a:pPr algn="ctr">
              <a:defRPr sz="1200" b="0">
                <a:solidFill>
                  <a:srgbClr val="333333"/>
                </a:solidFill>
                <a:latin typeface="Calibri"/>
              </a:defRPr>
            </a:pPr>
            <a:r>
              <a:t>Cluster</a:t>
            </a:r>
          </a:p>
        </p:txBody>
      </p:sp>
      <p:sp>
        <p:nvSpPr>
          <p:cNvPr id="26" name="TextBox 25"/>
          <p:cNvSpPr txBox="1"/>
          <p:nvPr/>
        </p:nvSpPr>
        <p:spPr>
          <a:xfrm>
            <a:off x="3017520" y="2788920"/>
            <a:ext cx="1188720" cy="320040"/>
          </a:xfrm>
          <a:prstGeom prst="rect">
            <a:avLst/>
          </a:prstGeom>
          <a:noFill/>
        </p:spPr>
        <p:txBody>
          <a:bodyPr wrap="square">
            <a:spAutoFit/>
          </a:bodyPr>
          <a:lstStyle/>
          <a:p>
            <a:pPr algn="ctr">
              <a:defRPr sz="1200" b="0">
                <a:solidFill>
                  <a:srgbClr val="333333"/>
                </a:solidFill>
                <a:latin typeface="Consolas"/>
              </a:defRPr>
            </a:pPr>
            <a:r>
              <a:t>d ≤ 0.050</a:t>
            </a:r>
          </a:p>
        </p:txBody>
      </p:sp>
      <p:sp>
        <p:nvSpPr>
          <p:cNvPr id="27" name="TextBox 26"/>
          <p:cNvSpPr txBox="1"/>
          <p:nvPr/>
        </p:nvSpPr>
        <p:spPr>
          <a:xfrm>
            <a:off x="4251960" y="2788920"/>
            <a:ext cx="1188720" cy="320040"/>
          </a:xfrm>
          <a:prstGeom prst="rect">
            <a:avLst/>
          </a:prstGeom>
          <a:noFill/>
        </p:spPr>
        <p:txBody>
          <a:bodyPr wrap="square">
            <a:spAutoFit/>
          </a:bodyPr>
          <a:lstStyle/>
          <a:p>
            <a:pPr algn="ctr">
              <a:defRPr sz="1200" b="0">
                <a:solidFill>
                  <a:srgbClr val="333333"/>
                </a:solidFill>
                <a:latin typeface="Calibri"/>
              </a:defRPr>
            </a:pPr>
            <a:r>
              <a:t>~95%</a:t>
            </a:r>
          </a:p>
        </p:txBody>
      </p:sp>
      <p:sp>
        <p:nvSpPr>
          <p:cNvPr id="28" name="Rounded Rectangle 27"/>
          <p:cNvSpPr/>
          <p:nvPr/>
        </p:nvSpPr>
        <p:spPr>
          <a:xfrm>
            <a:off x="457200" y="315468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3246120"/>
            <a:ext cx="228600" cy="228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00400"/>
            <a:ext cx="822960" cy="320040"/>
          </a:xfrm>
          <a:prstGeom prst="rect">
            <a:avLst/>
          </a:prstGeom>
          <a:noFill/>
        </p:spPr>
        <p:txBody>
          <a:bodyPr wrap="square">
            <a:spAutoFit/>
          </a:bodyPr>
          <a:lstStyle/>
          <a:p>
            <a:pPr algn="ctr">
              <a:defRPr sz="1300" b="1">
                <a:solidFill>
                  <a:srgbClr val="43A047"/>
                </a:solidFill>
                <a:latin typeface="Calibri"/>
              </a:defRPr>
            </a:pPr>
            <a:r>
              <a:t>D</a:t>
            </a:r>
          </a:p>
        </p:txBody>
      </p:sp>
      <p:sp>
        <p:nvSpPr>
          <p:cNvPr id="31" name="TextBox 30"/>
          <p:cNvSpPr txBox="1"/>
          <p:nvPr/>
        </p:nvSpPr>
        <p:spPr>
          <a:xfrm>
            <a:off x="1783080" y="3200400"/>
            <a:ext cx="1188720" cy="320040"/>
          </a:xfrm>
          <a:prstGeom prst="rect">
            <a:avLst/>
          </a:prstGeom>
          <a:noFill/>
        </p:spPr>
        <p:txBody>
          <a:bodyPr wrap="square">
            <a:spAutoFit/>
          </a:bodyPr>
          <a:lstStyle/>
          <a:p>
            <a:pPr algn="ctr">
              <a:defRPr sz="1200" b="0">
                <a:solidFill>
                  <a:srgbClr val="333333"/>
                </a:solidFill>
                <a:latin typeface="Calibri"/>
              </a:defRPr>
            </a:pPr>
            <a:r>
              <a:t>Subcluster</a:t>
            </a:r>
          </a:p>
        </p:txBody>
      </p:sp>
      <p:sp>
        <p:nvSpPr>
          <p:cNvPr id="32" name="TextBox 31"/>
          <p:cNvSpPr txBox="1"/>
          <p:nvPr/>
        </p:nvSpPr>
        <p:spPr>
          <a:xfrm>
            <a:off x="3017520" y="3200400"/>
            <a:ext cx="1188720" cy="320040"/>
          </a:xfrm>
          <a:prstGeom prst="rect">
            <a:avLst/>
          </a:prstGeom>
          <a:noFill/>
        </p:spPr>
        <p:txBody>
          <a:bodyPr wrap="square">
            <a:spAutoFit/>
          </a:bodyPr>
          <a:lstStyle/>
          <a:p>
            <a:pPr algn="ctr">
              <a:defRPr sz="1200" b="0">
                <a:solidFill>
                  <a:srgbClr val="333333"/>
                </a:solidFill>
                <a:latin typeface="Consolas"/>
              </a:defRPr>
            </a:pPr>
            <a:r>
              <a:t>d ≤ 0.020</a:t>
            </a:r>
          </a:p>
        </p:txBody>
      </p:sp>
      <p:sp>
        <p:nvSpPr>
          <p:cNvPr id="33" name="TextBox 32"/>
          <p:cNvSpPr txBox="1"/>
          <p:nvPr/>
        </p:nvSpPr>
        <p:spPr>
          <a:xfrm>
            <a:off x="4251960" y="3200400"/>
            <a:ext cx="1188720" cy="320040"/>
          </a:xfrm>
          <a:prstGeom prst="rect">
            <a:avLst/>
          </a:prstGeom>
          <a:noFill/>
        </p:spPr>
        <p:txBody>
          <a:bodyPr wrap="square">
            <a:spAutoFit/>
          </a:bodyPr>
          <a:lstStyle/>
          <a:p>
            <a:pPr algn="ctr">
              <a:defRPr sz="1200" b="0">
                <a:solidFill>
                  <a:srgbClr val="333333"/>
                </a:solidFill>
                <a:latin typeface="Calibri"/>
              </a:defRPr>
            </a:pPr>
            <a:r>
              <a:t>~98%</a:t>
            </a:r>
          </a:p>
        </p:txBody>
      </p:sp>
      <p:sp>
        <p:nvSpPr>
          <p:cNvPr id="34" name="Rounded Rectangle 33"/>
          <p:cNvSpPr/>
          <p:nvPr/>
        </p:nvSpPr>
        <p:spPr>
          <a:xfrm>
            <a:off x="457200" y="356616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80" y="3657600"/>
            <a:ext cx="228600" cy="22860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3611880"/>
            <a:ext cx="822960" cy="320040"/>
          </a:xfrm>
          <a:prstGeom prst="rect">
            <a:avLst/>
          </a:prstGeom>
          <a:noFill/>
        </p:spPr>
        <p:txBody>
          <a:bodyPr wrap="square">
            <a:spAutoFit/>
          </a:bodyPr>
          <a:lstStyle/>
          <a:p>
            <a:pPr algn="ctr">
              <a:defRPr sz="1300" b="1">
                <a:solidFill>
                  <a:srgbClr val="1E88E5"/>
                </a:solidFill>
                <a:latin typeface="Calibri"/>
              </a:defRPr>
            </a:pPr>
            <a:r>
              <a:t>E</a:t>
            </a:r>
          </a:p>
        </p:txBody>
      </p:sp>
      <p:sp>
        <p:nvSpPr>
          <p:cNvPr id="37" name="TextBox 36"/>
          <p:cNvSpPr txBox="1"/>
          <p:nvPr/>
        </p:nvSpPr>
        <p:spPr>
          <a:xfrm>
            <a:off x="1783080" y="3611880"/>
            <a:ext cx="1188720" cy="320040"/>
          </a:xfrm>
          <a:prstGeom prst="rect">
            <a:avLst/>
          </a:prstGeom>
          <a:noFill/>
        </p:spPr>
        <p:txBody>
          <a:bodyPr wrap="square">
            <a:spAutoFit/>
          </a:bodyPr>
          <a:lstStyle/>
          <a:p>
            <a:pPr algn="ctr">
              <a:defRPr sz="1200" b="0">
                <a:solidFill>
                  <a:srgbClr val="333333"/>
                </a:solidFill>
                <a:latin typeface="Calibri"/>
              </a:defRPr>
            </a:pPr>
            <a:r>
              <a:t>Clone</a:t>
            </a:r>
          </a:p>
        </p:txBody>
      </p:sp>
      <p:sp>
        <p:nvSpPr>
          <p:cNvPr id="38" name="TextBox 37"/>
          <p:cNvSpPr txBox="1"/>
          <p:nvPr/>
        </p:nvSpPr>
        <p:spPr>
          <a:xfrm>
            <a:off x="3017520" y="3611880"/>
            <a:ext cx="1188720" cy="320040"/>
          </a:xfrm>
          <a:prstGeom prst="rect">
            <a:avLst/>
          </a:prstGeom>
          <a:noFill/>
        </p:spPr>
        <p:txBody>
          <a:bodyPr wrap="square">
            <a:spAutoFit/>
          </a:bodyPr>
          <a:lstStyle/>
          <a:p>
            <a:pPr algn="ctr">
              <a:defRPr sz="1200" b="0">
                <a:solidFill>
                  <a:srgbClr val="333333"/>
                </a:solidFill>
                <a:latin typeface="Consolas"/>
              </a:defRPr>
            </a:pPr>
            <a:r>
              <a:t>d ≤ 0.010</a:t>
            </a:r>
          </a:p>
        </p:txBody>
      </p:sp>
      <p:sp>
        <p:nvSpPr>
          <p:cNvPr id="39" name="TextBox 38"/>
          <p:cNvSpPr txBox="1"/>
          <p:nvPr/>
        </p:nvSpPr>
        <p:spPr>
          <a:xfrm>
            <a:off x="4251960" y="3611880"/>
            <a:ext cx="1188720" cy="320040"/>
          </a:xfrm>
          <a:prstGeom prst="rect">
            <a:avLst/>
          </a:prstGeom>
          <a:noFill/>
        </p:spPr>
        <p:txBody>
          <a:bodyPr wrap="square">
            <a:spAutoFit/>
          </a:bodyPr>
          <a:lstStyle/>
          <a:p>
            <a:pPr algn="ctr">
              <a:defRPr sz="1200" b="0">
                <a:solidFill>
                  <a:srgbClr val="333333"/>
                </a:solidFill>
                <a:latin typeface="Calibri"/>
              </a:defRPr>
            </a:pPr>
            <a:r>
              <a:t>~99%</a:t>
            </a:r>
          </a:p>
        </p:txBody>
      </p:sp>
      <p:sp>
        <p:nvSpPr>
          <p:cNvPr id="40" name="Rounded Rectangle 39"/>
          <p:cNvSpPr/>
          <p:nvPr/>
        </p:nvSpPr>
        <p:spPr>
          <a:xfrm>
            <a:off x="457200" y="3977639"/>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080" y="4069079"/>
            <a:ext cx="228600" cy="22860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023359"/>
            <a:ext cx="822960" cy="320040"/>
          </a:xfrm>
          <a:prstGeom prst="rect">
            <a:avLst/>
          </a:prstGeom>
          <a:noFill/>
        </p:spPr>
        <p:txBody>
          <a:bodyPr wrap="square">
            <a:spAutoFit/>
          </a:bodyPr>
          <a:lstStyle/>
          <a:p>
            <a:pPr algn="ctr">
              <a:defRPr sz="1300" b="1">
                <a:solidFill>
                  <a:srgbClr val="8E24AA"/>
                </a:solidFill>
                <a:latin typeface="Calibri"/>
              </a:defRPr>
            </a:pPr>
            <a:r>
              <a:t>F</a:t>
            </a:r>
          </a:p>
        </p:txBody>
      </p:sp>
      <p:sp>
        <p:nvSpPr>
          <p:cNvPr id="43" name="TextBox 42"/>
          <p:cNvSpPr txBox="1"/>
          <p:nvPr/>
        </p:nvSpPr>
        <p:spPr>
          <a:xfrm>
            <a:off x="1783080" y="4023359"/>
            <a:ext cx="1188720" cy="320040"/>
          </a:xfrm>
          <a:prstGeom prst="rect">
            <a:avLst/>
          </a:prstGeom>
          <a:noFill/>
        </p:spPr>
        <p:txBody>
          <a:bodyPr wrap="square">
            <a:spAutoFit/>
          </a:bodyPr>
          <a:lstStyle/>
          <a:p>
            <a:pPr algn="ctr">
              <a:defRPr sz="1200" b="0">
                <a:solidFill>
                  <a:srgbClr val="333333"/>
                </a:solidFill>
                <a:latin typeface="Calibri"/>
              </a:defRPr>
            </a:pPr>
            <a:r>
              <a:t>Strain</a:t>
            </a:r>
          </a:p>
        </p:txBody>
      </p:sp>
      <p:sp>
        <p:nvSpPr>
          <p:cNvPr id="44" name="TextBox 43"/>
          <p:cNvSpPr txBox="1"/>
          <p:nvPr/>
        </p:nvSpPr>
        <p:spPr>
          <a:xfrm>
            <a:off x="3017520" y="4023359"/>
            <a:ext cx="1188720" cy="320040"/>
          </a:xfrm>
          <a:prstGeom prst="rect">
            <a:avLst/>
          </a:prstGeom>
          <a:noFill/>
        </p:spPr>
        <p:txBody>
          <a:bodyPr wrap="square">
            <a:spAutoFit/>
          </a:bodyPr>
          <a:lstStyle/>
          <a:p>
            <a:pPr algn="ctr">
              <a:defRPr sz="1200" b="0">
                <a:solidFill>
                  <a:srgbClr val="333333"/>
                </a:solidFill>
                <a:latin typeface="Consolas"/>
              </a:defRPr>
            </a:pPr>
            <a:r>
              <a:t>d ≤ 0.001</a:t>
            </a:r>
          </a:p>
        </p:txBody>
      </p:sp>
      <p:sp>
        <p:nvSpPr>
          <p:cNvPr id="45" name="TextBox 44"/>
          <p:cNvSpPr txBox="1"/>
          <p:nvPr/>
        </p:nvSpPr>
        <p:spPr>
          <a:xfrm>
            <a:off x="4251960" y="4023359"/>
            <a:ext cx="1188720" cy="320040"/>
          </a:xfrm>
          <a:prstGeom prst="rect">
            <a:avLst/>
          </a:prstGeom>
          <a:noFill/>
        </p:spPr>
        <p:txBody>
          <a:bodyPr wrap="square">
            <a:spAutoFit/>
          </a:bodyPr>
          <a:lstStyle/>
          <a:p>
            <a:pPr algn="ctr">
              <a:defRPr sz="1200" b="0">
                <a:solidFill>
                  <a:srgbClr val="333333"/>
                </a:solidFill>
                <a:latin typeface="Calibri"/>
              </a:defRPr>
            </a:pPr>
            <a:r>
              <a:t>~99.9%</a:t>
            </a:r>
          </a:p>
        </p:txBody>
      </p:sp>
      <p:sp>
        <p:nvSpPr>
          <p:cNvPr id="46" name="Rounded Rectangle 45"/>
          <p:cNvSpPr/>
          <p:nvPr/>
        </p:nvSpPr>
        <p:spPr>
          <a:xfrm>
            <a:off x="457200" y="4572000"/>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663440"/>
            <a:ext cx="4572000" cy="365760"/>
          </a:xfrm>
          <a:prstGeom prst="rect">
            <a:avLst/>
          </a:prstGeom>
          <a:noFill/>
        </p:spPr>
        <p:txBody>
          <a:bodyPr wrap="square">
            <a:spAutoFit/>
          </a:bodyPr>
          <a:lstStyle/>
          <a:p>
            <a:pPr algn="l">
              <a:defRPr sz="1300" b="1">
                <a:solidFill>
                  <a:srgbClr val="0D47A1"/>
                </a:solidFill>
                <a:latin typeface="Calibri"/>
              </a:defRPr>
            </a:pPr>
            <a:r>
              <a:t>Example pLIN Code:</a:t>
            </a:r>
          </a:p>
        </p:txBody>
      </p:sp>
      <p:sp>
        <p:nvSpPr>
          <p:cNvPr id="48" name="TextBox 47"/>
          <p:cNvSpPr txBox="1"/>
          <p:nvPr/>
        </p:nvSpPr>
        <p:spPr>
          <a:xfrm>
            <a:off x="640080" y="5029200"/>
            <a:ext cx="4572000" cy="365760"/>
          </a:xfrm>
          <a:prstGeom prst="rect">
            <a:avLst/>
          </a:prstGeom>
          <a:noFill/>
        </p:spPr>
        <p:txBody>
          <a:bodyPr wrap="square">
            <a:spAutoFit/>
          </a:bodyPr>
          <a:lstStyle/>
          <a:p>
            <a:pPr algn="ctr">
              <a:defRPr sz="2400" b="1">
                <a:solidFill>
                  <a:srgbClr val="0D47A1"/>
                </a:solidFill>
                <a:latin typeface="Consolas"/>
              </a:defRPr>
            </a:pPr>
            <a:r>
              <a:t>1 . 1 . 1 . 1 . 2 . 5</a:t>
            </a:r>
          </a:p>
        </p:txBody>
      </p:sp>
      <p:sp>
        <p:nvSpPr>
          <p:cNvPr id="49" name="TextBox 48"/>
          <p:cNvSpPr txBox="1"/>
          <p:nvPr/>
        </p:nvSpPr>
        <p:spPr>
          <a:xfrm>
            <a:off x="6217920" y="1463040"/>
            <a:ext cx="5486400" cy="457200"/>
          </a:xfrm>
          <a:prstGeom prst="rect">
            <a:avLst/>
          </a:prstGeom>
          <a:noFill/>
        </p:spPr>
        <p:txBody>
          <a:bodyPr wrap="square">
            <a:spAutoFit/>
          </a:bodyPr>
          <a:lstStyle/>
          <a:p>
            <a:pPr algn="l">
              <a:defRPr sz="2000" b="1">
                <a:solidFill>
                  <a:srgbClr val="0D47A1"/>
                </a:solidFill>
                <a:latin typeface="Calibri"/>
              </a:defRPr>
            </a:pPr>
            <a:r>
              <a:t>Classification Algorithm</a:t>
            </a:r>
          </a:p>
        </p:txBody>
      </p:sp>
      <p:sp>
        <p:nvSpPr>
          <p:cNvPr id="50" name="Oval 49"/>
          <p:cNvSpPr/>
          <p:nvPr/>
        </p:nvSpPr>
        <p:spPr>
          <a:xfrm>
            <a:off x="6217920" y="2011680"/>
            <a:ext cx="365760" cy="36576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1</a:t>
            </a:r>
          </a:p>
        </p:txBody>
      </p:sp>
      <p:sp>
        <p:nvSpPr>
          <p:cNvPr id="51" name="TextBox 50"/>
          <p:cNvSpPr txBox="1"/>
          <p:nvPr/>
        </p:nvSpPr>
        <p:spPr>
          <a:xfrm>
            <a:off x="6766560" y="1993392"/>
            <a:ext cx="5029200" cy="274320"/>
          </a:xfrm>
          <a:prstGeom prst="rect">
            <a:avLst/>
          </a:prstGeom>
          <a:noFill/>
        </p:spPr>
        <p:txBody>
          <a:bodyPr wrap="square">
            <a:spAutoFit/>
          </a:bodyPr>
          <a:lstStyle/>
          <a:p>
            <a:pPr algn="l">
              <a:defRPr sz="1400" b="1">
                <a:solidFill>
                  <a:srgbClr val="43A047"/>
                </a:solidFill>
                <a:latin typeface="Calibri"/>
              </a:defRPr>
            </a:pPr>
            <a:r>
              <a:t>Parse FASTA</a:t>
            </a:r>
          </a:p>
        </p:txBody>
      </p:sp>
      <p:sp>
        <p:nvSpPr>
          <p:cNvPr id="52" name="TextBox 51"/>
          <p:cNvSpPr txBox="1"/>
          <p:nvPr/>
        </p:nvSpPr>
        <p:spPr>
          <a:xfrm>
            <a:off x="6766560" y="2267712"/>
            <a:ext cx="5029200" cy="274320"/>
          </a:xfrm>
          <a:prstGeom prst="rect">
            <a:avLst/>
          </a:prstGeom>
          <a:noFill/>
        </p:spPr>
        <p:txBody>
          <a:bodyPr wrap="square">
            <a:spAutoFit/>
          </a:bodyPr>
          <a:lstStyle/>
          <a:p>
            <a:pPr algn="l">
              <a:defRPr sz="1100" b="0">
                <a:solidFill>
                  <a:srgbClr val="757575"/>
                </a:solidFill>
                <a:latin typeface="Calibri"/>
              </a:defRPr>
            </a:pPr>
            <a:r>
              <a:t>Read plasmid sequences using BioPython</a:t>
            </a:r>
          </a:p>
        </p:txBody>
      </p:sp>
      <p:cxnSp>
        <p:nvCxnSpPr>
          <p:cNvPr id="53" name="Connector 52"/>
          <p:cNvCxnSpPr/>
          <p:nvPr/>
        </p:nvCxnSpPr>
        <p:spPr>
          <a:xfrm>
            <a:off x="6400800" y="2377440"/>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6217920" y="2670048"/>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2</a:t>
            </a:r>
          </a:p>
        </p:txBody>
      </p:sp>
      <p:sp>
        <p:nvSpPr>
          <p:cNvPr id="55" name="TextBox 54"/>
          <p:cNvSpPr txBox="1"/>
          <p:nvPr/>
        </p:nvSpPr>
        <p:spPr>
          <a:xfrm>
            <a:off x="6766560" y="2651760"/>
            <a:ext cx="5029200" cy="274320"/>
          </a:xfrm>
          <a:prstGeom prst="rect">
            <a:avLst/>
          </a:prstGeom>
          <a:noFill/>
        </p:spPr>
        <p:txBody>
          <a:bodyPr wrap="square">
            <a:spAutoFit/>
          </a:bodyPr>
          <a:lstStyle/>
          <a:p>
            <a:pPr algn="l">
              <a:defRPr sz="1400" b="1">
                <a:solidFill>
                  <a:srgbClr val="FB8C00"/>
                </a:solidFill>
                <a:latin typeface="Calibri"/>
              </a:defRPr>
            </a:pPr>
            <a:r>
              <a:t>Compute 4-mer Vectors</a:t>
            </a:r>
          </a:p>
        </p:txBody>
      </p:sp>
      <p:sp>
        <p:nvSpPr>
          <p:cNvPr id="56" name="TextBox 55"/>
          <p:cNvSpPr txBox="1"/>
          <p:nvPr/>
        </p:nvSpPr>
        <p:spPr>
          <a:xfrm>
            <a:off x="6766560" y="2926080"/>
            <a:ext cx="5029200" cy="274320"/>
          </a:xfrm>
          <a:prstGeom prst="rect">
            <a:avLst/>
          </a:prstGeom>
          <a:noFill/>
        </p:spPr>
        <p:txBody>
          <a:bodyPr wrap="square">
            <a:spAutoFit/>
          </a:bodyPr>
          <a:lstStyle/>
          <a:p>
            <a:pPr algn="l">
              <a:defRPr sz="1100" b="0">
                <a:solidFill>
                  <a:srgbClr val="757575"/>
                </a:solidFill>
                <a:latin typeface="Calibri"/>
              </a:defRPr>
            </a:pPr>
            <a:r>
              <a:t>256-dimensional normalised frequency vectors</a:t>
            </a:r>
          </a:p>
        </p:txBody>
      </p:sp>
      <p:cxnSp>
        <p:nvCxnSpPr>
          <p:cNvPr id="57" name="Connector 56"/>
          <p:cNvCxnSpPr/>
          <p:nvPr/>
        </p:nvCxnSpPr>
        <p:spPr>
          <a:xfrm>
            <a:off x="6400800" y="3035808"/>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217920" y="3328416"/>
            <a:ext cx="365760" cy="36576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3</a:t>
            </a:r>
          </a:p>
        </p:txBody>
      </p:sp>
      <p:sp>
        <p:nvSpPr>
          <p:cNvPr id="59" name="TextBox 58"/>
          <p:cNvSpPr txBox="1"/>
          <p:nvPr/>
        </p:nvSpPr>
        <p:spPr>
          <a:xfrm>
            <a:off x="6766560" y="3310128"/>
            <a:ext cx="5029200" cy="274320"/>
          </a:xfrm>
          <a:prstGeom prst="rect">
            <a:avLst/>
          </a:prstGeom>
          <a:noFill/>
        </p:spPr>
        <p:txBody>
          <a:bodyPr wrap="square">
            <a:spAutoFit/>
          </a:bodyPr>
          <a:lstStyle/>
          <a:p>
            <a:pPr algn="l">
              <a:defRPr sz="1400" b="1">
                <a:solidFill>
                  <a:srgbClr val="1E88E5"/>
                </a:solidFill>
                <a:latin typeface="Calibri"/>
              </a:defRPr>
            </a:pPr>
            <a:r>
              <a:t>Cosine Distance Matrix</a:t>
            </a:r>
          </a:p>
        </p:txBody>
      </p:sp>
      <p:sp>
        <p:nvSpPr>
          <p:cNvPr id="60" name="TextBox 59"/>
          <p:cNvSpPr txBox="1"/>
          <p:nvPr/>
        </p:nvSpPr>
        <p:spPr>
          <a:xfrm>
            <a:off x="6766560" y="3584448"/>
            <a:ext cx="5029200" cy="274320"/>
          </a:xfrm>
          <a:prstGeom prst="rect">
            <a:avLst/>
          </a:prstGeom>
          <a:noFill/>
        </p:spPr>
        <p:txBody>
          <a:bodyPr wrap="square">
            <a:spAutoFit/>
          </a:bodyPr>
          <a:lstStyle/>
          <a:p>
            <a:pPr algn="l">
              <a:defRPr sz="1100" b="0">
                <a:solidFill>
                  <a:srgbClr val="757575"/>
                </a:solidFill>
                <a:latin typeface="Calibri"/>
              </a:defRPr>
            </a:pPr>
            <a:r>
              <a:t>Pairwise distance between all sequences</a:t>
            </a:r>
          </a:p>
        </p:txBody>
      </p:sp>
      <p:cxnSp>
        <p:nvCxnSpPr>
          <p:cNvPr id="61" name="Connector 60"/>
          <p:cNvCxnSpPr/>
          <p:nvPr/>
        </p:nvCxnSpPr>
        <p:spPr>
          <a:xfrm>
            <a:off x="6400800" y="3694176"/>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217920" y="3986784"/>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4</a:t>
            </a:r>
          </a:p>
        </p:txBody>
      </p:sp>
      <p:sp>
        <p:nvSpPr>
          <p:cNvPr id="63" name="TextBox 62"/>
          <p:cNvSpPr txBox="1"/>
          <p:nvPr/>
        </p:nvSpPr>
        <p:spPr>
          <a:xfrm>
            <a:off x="6766560" y="3968496"/>
            <a:ext cx="5029200" cy="274320"/>
          </a:xfrm>
          <a:prstGeom prst="rect">
            <a:avLst/>
          </a:prstGeom>
          <a:noFill/>
        </p:spPr>
        <p:txBody>
          <a:bodyPr wrap="square">
            <a:spAutoFit/>
          </a:bodyPr>
          <a:lstStyle/>
          <a:p>
            <a:pPr algn="l">
              <a:defRPr sz="1400" b="1">
                <a:solidFill>
                  <a:srgbClr val="8E24AA"/>
                </a:solidFill>
                <a:latin typeface="Calibri"/>
              </a:defRPr>
            </a:pPr>
            <a:r>
              <a:t>Single-Linkage Clustering</a:t>
            </a:r>
          </a:p>
        </p:txBody>
      </p:sp>
      <p:sp>
        <p:nvSpPr>
          <p:cNvPr id="64" name="TextBox 63"/>
          <p:cNvSpPr txBox="1"/>
          <p:nvPr/>
        </p:nvSpPr>
        <p:spPr>
          <a:xfrm>
            <a:off x="6766560" y="4242816"/>
            <a:ext cx="5029200" cy="274320"/>
          </a:xfrm>
          <a:prstGeom prst="rect">
            <a:avLst/>
          </a:prstGeom>
          <a:noFill/>
        </p:spPr>
        <p:txBody>
          <a:bodyPr wrap="square">
            <a:spAutoFit/>
          </a:bodyPr>
          <a:lstStyle/>
          <a:p>
            <a:pPr algn="l">
              <a:defRPr sz="1100" b="0">
                <a:solidFill>
                  <a:srgbClr val="757575"/>
                </a:solidFill>
                <a:latin typeface="Calibri"/>
              </a:defRPr>
            </a:pPr>
            <a:r>
              <a:t>Hierarchical agglomerative clustering (scipy)</a:t>
            </a:r>
          </a:p>
        </p:txBody>
      </p:sp>
      <p:cxnSp>
        <p:nvCxnSpPr>
          <p:cNvPr id="65" name="Connector 64"/>
          <p:cNvCxnSpPr/>
          <p:nvPr/>
        </p:nvCxnSpPr>
        <p:spPr>
          <a:xfrm>
            <a:off x="6400800" y="4352544"/>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6217920" y="4645152"/>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5</a:t>
            </a:r>
          </a:p>
        </p:txBody>
      </p:sp>
      <p:sp>
        <p:nvSpPr>
          <p:cNvPr id="67" name="TextBox 66"/>
          <p:cNvSpPr txBox="1"/>
          <p:nvPr/>
        </p:nvSpPr>
        <p:spPr>
          <a:xfrm>
            <a:off x="6766560" y="4626864"/>
            <a:ext cx="5029200" cy="274320"/>
          </a:xfrm>
          <a:prstGeom prst="rect">
            <a:avLst/>
          </a:prstGeom>
          <a:noFill/>
        </p:spPr>
        <p:txBody>
          <a:bodyPr wrap="square">
            <a:spAutoFit/>
          </a:bodyPr>
          <a:lstStyle/>
          <a:p>
            <a:pPr algn="l">
              <a:defRPr sz="1400" b="1">
                <a:solidFill>
                  <a:srgbClr val="E53935"/>
                </a:solidFill>
                <a:latin typeface="Calibri"/>
              </a:defRPr>
            </a:pPr>
            <a:r>
              <a:t>Threshold Cutting</a:t>
            </a:r>
          </a:p>
        </p:txBody>
      </p:sp>
      <p:sp>
        <p:nvSpPr>
          <p:cNvPr id="68" name="TextBox 67"/>
          <p:cNvSpPr txBox="1"/>
          <p:nvPr/>
        </p:nvSpPr>
        <p:spPr>
          <a:xfrm>
            <a:off x="6766560" y="4901184"/>
            <a:ext cx="5029200" cy="274320"/>
          </a:xfrm>
          <a:prstGeom prst="rect">
            <a:avLst/>
          </a:prstGeom>
          <a:noFill/>
        </p:spPr>
        <p:txBody>
          <a:bodyPr wrap="square">
            <a:spAutoFit/>
          </a:bodyPr>
          <a:lstStyle/>
          <a:p>
            <a:pPr algn="l">
              <a:defRPr sz="1100" b="0">
                <a:solidFill>
                  <a:srgbClr val="757575"/>
                </a:solidFill>
                <a:latin typeface="Calibri"/>
              </a:defRPr>
            </a:pPr>
            <a:r>
              <a:t>Cut dendrogram at 6 thresholds → 6 cluster IDs</a:t>
            </a:r>
          </a:p>
        </p:txBody>
      </p:sp>
      <p:cxnSp>
        <p:nvCxnSpPr>
          <p:cNvPr id="69" name="Connector 68"/>
          <p:cNvCxnSpPr/>
          <p:nvPr/>
        </p:nvCxnSpPr>
        <p:spPr>
          <a:xfrm>
            <a:off x="6400800" y="5010912"/>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6217920" y="5303520"/>
            <a:ext cx="365760" cy="365760"/>
          </a:xfrm>
          <a:prstGeom prst="ellipse">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6</a:t>
            </a:r>
          </a:p>
        </p:txBody>
      </p:sp>
      <p:sp>
        <p:nvSpPr>
          <p:cNvPr id="71" name="TextBox 70"/>
          <p:cNvSpPr txBox="1"/>
          <p:nvPr/>
        </p:nvSpPr>
        <p:spPr>
          <a:xfrm>
            <a:off x="6766560" y="5285232"/>
            <a:ext cx="5029200" cy="274320"/>
          </a:xfrm>
          <a:prstGeom prst="rect">
            <a:avLst/>
          </a:prstGeom>
          <a:noFill/>
        </p:spPr>
        <p:txBody>
          <a:bodyPr wrap="square">
            <a:spAutoFit/>
          </a:bodyPr>
          <a:lstStyle/>
          <a:p>
            <a:pPr algn="l">
              <a:defRPr sz="1400" b="1">
                <a:solidFill>
                  <a:srgbClr val="0D47A1"/>
                </a:solidFill>
                <a:latin typeface="Calibri"/>
              </a:defRPr>
            </a:pPr>
            <a:r>
              <a:t>Assign pLIN Codes</a:t>
            </a:r>
          </a:p>
        </p:txBody>
      </p:sp>
      <p:sp>
        <p:nvSpPr>
          <p:cNvPr id="72" name="TextBox 71"/>
          <p:cNvSpPr txBox="1"/>
          <p:nvPr/>
        </p:nvSpPr>
        <p:spPr>
          <a:xfrm>
            <a:off x="6766560" y="5559552"/>
            <a:ext cx="5029200" cy="274320"/>
          </a:xfrm>
          <a:prstGeom prst="rect">
            <a:avLst/>
          </a:prstGeom>
          <a:noFill/>
        </p:spPr>
        <p:txBody>
          <a:bodyPr wrap="square">
            <a:spAutoFit/>
          </a:bodyPr>
          <a:lstStyle/>
          <a:p>
            <a:pPr algn="l">
              <a:defRPr sz="1100" b="0">
                <a:solidFill>
                  <a:srgbClr val="757575"/>
                </a:solidFill>
                <a:latin typeface="Calibri"/>
              </a:defRPr>
            </a:pPr>
            <a:r>
              <a:t>Concatenate cluster IDs: A.B.C.D.E.F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Inc Group Auto-Detection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KNN classifier trained on 6,346 RefSeq plasmids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0D47A1"/>
                </a:solidFill>
                <a:latin typeface="Calibri"/>
              </a:defRPr>
            </a:pPr>
            <a:r>
              <a:t>Training Dataset</a:t>
            </a:r>
          </a:p>
        </p:txBody>
      </p:sp>
      <p:sp>
        <p:nvSpPr>
          <p:cNvPr id="6" name="Rounded Rectangle 5"/>
          <p:cNvSpPr/>
          <p:nvPr/>
        </p:nvSpPr>
        <p:spPr>
          <a:xfrm>
            <a:off x="457200" y="2011680"/>
            <a:ext cx="3631082" cy="54864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743200" cy="365760"/>
          </a:xfrm>
          <a:prstGeom prst="rect">
            <a:avLst/>
          </a:prstGeom>
          <a:noFill/>
        </p:spPr>
        <p:txBody>
          <a:bodyPr wrap="square">
            <a:spAutoFit/>
          </a:bodyPr>
          <a:lstStyle/>
          <a:p>
            <a:pPr algn="l">
              <a:defRPr sz="1400" b="1">
                <a:solidFill>
                  <a:srgbClr val="FFFFFF"/>
                </a:solidFill>
                <a:latin typeface="Calibri"/>
              </a:defRPr>
            </a:pPr>
            <a:r>
              <a:t>IncFII  —  4,581 plasmids (72.2%)</a:t>
            </a:r>
          </a:p>
        </p:txBody>
      </p:sp>
      <p:sp>
        <p:nvSpPr>
          <p:cNvPr id="8" name="Rounded Rectangle 7"/>
          <p:cNvSpPr/>
          <p:nvPr/>
        </p:nvSpPr>
        <p:spPr>
          <a:xfrm>
            <a:off x="457200" y="2834640"/>
            <a:ext cx="844905" cy="5486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926080"/>
            <a:ext cx="2743200" cy="365760"/>
          </a:xfrm>
          <a:prstGeom prst="rect">
            <a:avLst/>
          </a:prstGeom>
          <a:noFill/>
        </p:spPr>
        <p:txBody>
          <a:bodyPr wrap="square">
            <a:spAutoFit/>
          </a:bodyPr>
          <a:lstStyle/>
          <a:p>
            <a:pPr algn="l">
              <a:defRPr sz="1400" b="1">
                <a:solidFill>
                  <a:srgbClr val="FFFFFF"/>
                </a:solidFill>
                <a:latin typeface="Calibri"/>
              </a:defRPr>
            </a:pPr>
            <a:r>
              <a:t>IncN  —  1,064 plasmids (16.8%)</a:t>
            </a:r>
          </a:p>
        </p:txBody>
      </p:sp>
      <p:sp>
        <p:nvSpPr>
          <p:cNvPr id="10" name="Rounded Rectangle 9"/>
          <p:cNvSpPr/>
          <p:nvPr/>
        </p:nvSpPr>
        <p:spPr>
          <a:xfrm>
            <a:off x="457200" y="3657600"/>
            <a:ext cx="553212"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749040"/>
            <a:ext cx="2743200" cy="365760"/>
          </a:xfrm>
          <a:prstGeom prst="rect">
            <a:avLst/>
          </a:prstGeom>
          <a:noFill/>
        </p:spPr>
        <p:txBody>
          <a:bodyPr wrap="square">
            <a:spAutoFit/>
          </a:bodyPr>
          <a:lstStyle/>
          <a:p>
            <a:pPr algn="l">
              <a:defRPr sz="1400" b="1">
                <a:solidFill>
                  <a:srgbClr val="FFFFFF"/>
                </a:solidFill>
                <a:latin typeface="Calibri"/>
              </a:defRPr>
            </a:pPr>
            <a:r>
              <a:t>IncX1  —  701 plasmids (11.0%)</a:t>
            </a:r>
          </a:p>
        </p:txBody>
      </p:sp>
      <p:sp>
        <p:nvSpPr>
          <p:cNvPr id="12" name="TextBox 11"/>
          <p:cNvSpPr txBox="1"/>
          <p:nvPr/>
        </p:nvSpPr>
        <p:spPr>
          <a:xfrm>
            <a:off x="457200" y="4572000"/>
            <a:ext cx="5486400" cy="457200"/>
          </a:xfrm>
          <a:prstGeom prst="rect">
            <a:avLst/>
          </a:prstGeom>
          <a:noFill/>
        </p:spPr>
        <p:txBody>
          <a:bodyPr wrap="square">
            <a:spAutoFit/>
          </a:bodyPr>
          <a:lstStyle/>
          <a:p>
            <a:pPr algn="l">
              <a:defRPr sz="1800" b="1">
                <a:solidFill>
                  <a:srgbClr val="0D47A1"/>
                </a:solidFill>
                <a:latin typeface="Calibri"/>
              </a:defRPr>
            </a:pPr>
            <a:r>
              <a:t>Classifier Details</a:t>
            </a:r>
          </a:p>
        </p:txBody>
      </p:sp>
      <p:sp>
        <p:nvSpPr>
          <p:cNvPr id="13" name="TextBox 12"/>
          <p:cNvSpPr txBox="1"/>
          <p:nvPr/>
        </p:nvSpPr>
        <p:spPr>
          <a:xfrm>
            <a:off x="457200" y="5029200"/>
            <a:ext cx="5486400" cy="1371600"/>
          </a:xfrm>
          <a:prstGeom prst="rect">
            <a:avLst/>
          </a:prstGeom>
          <a:noFill/>
        </p:spPr>
        <p:txBody>
          <a:bodyPr wrap="square">
            <a:spAutoFit/>
          </a:bodyPr>
          <a:lstStyle/>
          <a:p>
            <a:pPr>
              <a:spcAft>
                <a:spcPts val="200"/>
              </a:spcAft>
              <a:defRPr sz="1300">
                <a:solidFill>
                  <a:srgbClr val="333333"/>
                </a:solidFill>
                <a:latin typeface="Calibri"/>
              </a:defRPr>
            </a:pPr>
            <a:r>
              <a:t>Algorithm: K-Nearest Neighbors (k=5, distance-weighted)</a:t>
            </a:r>
          </a:p>
          <a:p>
            <a:pPr>
              <a:spcAft>
                <a:spcPts val="200"/>
              </a:spcAft>
              <a:defRPr sz="1300">
                <a:solidFill>
                  <a:srgbClr val="333333"/>
                </a:solidFill>
                <a:latin typeface="Calibri"/>
              </a:defRPr>
            </a:pPr>
            <a:r>
              <a:t>Distance metric: Cosine distance on 4-mer frequency vectors</a:t>
            </a:r>
          </a:p>
          <a:p>
            <a:pPr>
              <a:spcAft>
                <a:spcPts val="200"/>
              </a:spcAft>
              <a:defRPr sz="1300">
                <a:solidFill>
                  <a:srgbClr val="333333"/>
                </a:solidFill>
                <a:latin typeface="Calibri"/>
              </a:defRPr>
            </a:pPr>
            <a:r>
              <a:t>5-fold cross-validation accuracy: 96.1% ± 0.6%</a:t>
            </a:r>
          </a:p>
          <a:p>
            <a:pPr>
              <a:spcAft>
                <a:spcPts val="200"/>
              </a:spcAft>
              <a:defRPr sz="1300">
                <a:solidFill>
                  <a:srgbClr val="333333"/>
                </a:solidFill>
                <a:latin typeface="Calibri"/>
              </a:defRPr>
            </a:pPr>
            <a:r>
              <a:t>Hold-out test accuracy: 100% (200 samples per group)</a:t>
            </a:r>
          </a:p>
          <a:p>
            <a:pPr>
              <a:spcAft>
                <a:spcPts val="200"/>
              </a:spcAft>
              <a:defRPr sz="1300">
                <a:solidFill>
                  <a:srgbClr val="333333"/>
                </a:solidFill>
                <a:latin typeface="Calibri"/>
              </a:defRPr>
            </a:pPr>
            <a:r>
              <a:t>Model file: data/inc_classifier.npz (4.3 MB)</a:t>
            </a:r>
          </a:p>
        </p:txBody>
      </p:sp>
      <p:sp>
        <p:nvSpPr>
          <p:cNvPr id="14" name="TextBox 13"/>
          <p:cNvSpPr txBox="1"/>
          <p:nvPr/>
        </p:nvSpPr>
        <p:spPr>
          <a:xfrm>
            <a:off x="6400800" y="1463040"/>
            <a:ext cx="5486400" cy="457200"/>
          </a:xfrm>
          <a:prstGeom prst="rect">
            <a:avLst/>
          </a:prstGeom>
          <a:noFill/>
        </p:spPr>
        <p:txBody>
          <a:bodyPr wrap="square">
            <a:spAutoFit/>
          </a:bodyPr>
          <a:lstStyle/>
          <a:p>
            <a:pPr algn="l">
              <a:defRPr sz="2000" b="1">
                <a:solidFill>
                  <a:srgbClr val="0D47A1"/>
                </a:solidFill>
                <a:latin typeface="Calibri"/>
              </a:defRPr>
            </a:pPr>
            <a:r>
              <a:t>How Auto-Detection Works</a:t>
            </a:r>
          </a:p>
        </p:txBody>
      </p:sp>
      <p:sp>
        <p:nvSpPr>
          <p:cNvPr id="15" name="Oval 14"/>
          <p:cNvSpPr/>
          <p:nvPr/>
        </p:nvSpPr>
        <p:spPr>
          <a:xfrm>
            <a:off x="6400800" y="210312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16" name="TextBox 15"/>
          <p:cNvSpPr txBox="1"/>
          <p:nvPr/>
        </p:nvSpPr>
        <p:spPr>
          <a:xfrm>
            <a:off x="6858000" y="2103120"/>
            <a:ext cx="5029200" cy="320040"/>
          </a:xfrm>
          <a:prstGeom prst="rect">
            <a:avLst/>
          </a:prstGeom>
          <a:noFill/>
        </p:spPr>
        <p:txBody>
          <a:bodyPr wrap="square">
            <a:spAutoFit/>
          </a:bodyPr>
          <a:lstStyle/>
          <a:p>
            <a:pPr algn="l">
              <a:defRPr sz="1300" b="0">
                <a:solidFill>
                  <a:srgbClr val="333333"/>
                </a:solidFill>
                <a:latin typeface="Calibri"/>
              </a:defRPr>
            </a:pPr>
            <a:r>
              <a:t>Upload new plasmid FASTA</a:t>
            </a:r>
          </a:p>
        </p:txBody>
      </p:sp>
      <p:sp>
        <p:nvSpPr>
          <p:cNvPr id="17" name="Oval 16"/>
          <p:cNvSpPr/>
          <p:nvPr/>
        </p:nvSpPr>
        <p:spPr>
          <a:xfrm>
            <a:off x="6400800" y="269747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8" name="TextBox 17"/>
          <p:cNvSpPr txBox="1"/>
          <p:nvPr/>
        </p:nvSpPr>
        <p:spPr>
          <a:xfrm>
            <a:off x="6858000" y="2697479"/>
            <a:ext cx="5029200" cy="320040"/>
          </a:xfrm>
          <a:prstGeom prst="rect">
            <a:avLst/>
          </a:prstGeom>
          <a:noFill/>
        </p:spPr>
        <p:txBody>
          <a:bodyPr wrap="square">
            <a:spAutoFit/>
          </a:bodyPr>
          <a:lstStyle/>
          <a:p>
            <a:pPr algn="l">
              <a:defRPr sz="1300" b="0">
                <a:solidFill>
                  <a:srgbClr val="333333"/>
                </a:solidFill>
                <a:latin typeface="Calibri"/>
              </a:defRPr>
            </a:pPr>
            <a:r>
              <a:t>Compute 4-mer frequency vector (256 features)</a:t>
            </a:r>
          </a:p>
        </p:txBody>
      </p:sp>
      <p:sp>
        <p:nvSpPr>
          <p:cNvPr id="19" name="Oval 18"/>
          <p:cNvSpPr/>
          <p:nvPr/>
        </p:nvSpPr>
        <p:spPr>
          <a:xfrm>
            <a:off x="6400800" y="329183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20" name="TextBox 19"/>
          <p:cNvSpPr txBox="1"/>
          <p:nvPr/>
        </p:nvSpPr>
        <p:spPr>
          <a:xfrm>
            <a:off x="6858000" y="3291839"/>
            <a:ext cx="5029200" cy="320040"/>
          </a:xfrm>
          <a:prstGeom prst="rect">
            <a:avLst/>
          </a:prstGeom>
          <a:noFill/>
        </p:spPr>
        <p:txBody>
          <a:bodyPr wrap="square">
            <a:spAutoFit/>
          </a:bodyPr>
          <a:lstStyle/>
          <a:p>
            <a:pPr algn="l">
              <a:defRPr sz="1300" b="0">
                <a:solidFill>
                  <a:srgbClr val="333333"/>
                </a:solidFill>
                <a:latin typeface="Calibri"/>
              </a:defRPr>
            </a:pPr>
            <a:r>
              <a:t>Find 5 nearest neighbors in training set (cosine distance)</a:t>
            </a:r>
          </a:p>
        </p:txBody>
      </p:sp>
      <p:sp>
        <p:nvSpPr>
          <p:cNvPr id="21" name="Oval 20"/>
          <p:cNvSpPr/>
          <p:nvPr/>
        </p:nvSpPr>
        <p:spPr>
          <a:xfrm>
            <a:off x="6400800" y="388620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2" name="TextBox 21"/>
          <p:cNvSpPr txBox="1"/>
          <p:nvPr/>
        </p:nvSpPr>
        <p:spPr>
          <a:xfrm>
            <a:off x="6858000" y="3886200"/>
            <a:ext cx="5029200" cy="320040"/>
          </a:xfrm>
          <a:prstGeom prst="rect">
            <a:avLst/>
          </a:prstGeom>
          <a:noFill/>
        </p:spPr>
        <p:txBody>
          <a:bodyPr wrap="square">
            <a:spAutoFit/>
          </a:bodyPr>
          <a:lstStyle/>
          <a:p>
            <a:pPr algn="l">
              <a:defRPr sz="1300" b="0">
                <a:solidFill>
                  <a:srgbClr val="333333"/>
                </a:solidFill>
                <a:latin typeface="Calibri"/>
              </a:defRPr>
            </a:pPr>
            <a:r>
              <a:t>Distance-weighted vote → Inc group prediction</a:t>
            </a:r>
          </a:p>
        </p:txBody>
      </p:sp>
      <p:sp>
        <p:nvSpPr>
          <p:cNvPr id="23" name="Oval 22"/>
          <p:cNvSpPr/>
          <p:nvPr/>
        </p:nvSpPr>
        <p:spPr>
          <a:xfrm>
            <a:off x="64008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24" name="TextBox 23"/>
          <p:cNvSpPr txBox="1"/>
          <p:nvPr/>
        </p:nvSpPr>
        <p:spPr>
          <a:xfrm>
            <a:off x="6858000" y="4480560"/>
            <a:ext cx="5029200" cy="320040"/>
          </a:xfrm>
          <a:prstGeom prst="rect">
            <a:avLst/>
          </a:prstGeom>
          <a:noFill/>
        </p:spPr>
        <p:txBody>
          <a:bodyPr wrap="square">
            <a:spAutoFit/>
          </a:bodyPr>
          <a:lstStyle/>
          <a:p>
            <a:pPr algn="l">
              <a:defRPr sz="1300" b="0">
                <a:solidFill>
                  <a:srgbClr val="333333"/>
                </a:solidFill>
                <a:latin typeface="Calibri"/>
              </a:defRPr>
            </a:pPr>
            <a:r>
              <a:t>Return predicted group + confidence probability</a:t>
            </a:r>
          </a:p>
        </p:txBody>
      </p:sp>
      <p:sp>
        <p:nvSpPr>
          <p:cNvPr id="25" name="Rounded Rectangle 24"/>
          <p:cNvSpPr/>
          <p:nvPr/>
        </p:nvSpPr>
        <p:spPr>
          <a:xfrm>
            <a:off x="6400800" y="5212080"/>
            <a:ext cx="5303520" cy="1188720"/>
          </a:xfrm>
          <a:prstGeom prst="roundRect">
            <a:avLst/>
          </a:prstGeom>
          <a:solidFill>
            <a:srgbClr val="FFF8E1"/>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5303520"/>
            <a:ext cx="4937760" cy="274320"/>
          </a:xfrm>
          <a:prstGeom prst="rect">
            <a:avLst/>
          </a:prstGeom>
          <a:noFill/>
        </p:spPr>
        <p:txBody>
          <a:bodyPr wrap="square">
            <a:spAutoFit/>
          </a:bodyPr>
          <a:lstStyle/>
          <a:p>
            <a:pPr algn="l">
              <a:defRPr sz="1200" b="1">
                <a:solidFill>
                  <a:srgbClr val="FB8C00"/>
                </a:solidFill>
                <a:latin typeface="Calibri"/>
              </a:defRPr>
            </a:pPr>
            <a:r>
              <a:t>Example Output:</a:t>
            </a:r>
          </a:p>
        </p:txBody>
      </p:sp>
      <p:sp>
        <p:nvSpPr>
          <p:cNvPr id="27" name="TextBox 26"/>
          <p:cNvSpPr txBox="1"/>
          <p:nvPr/>
        </p:nvSpPr>
        <p:spPr>
          <a:xfrm>
            <a:off x="6583680" y="5577840"/>
            <a:ext cx="4937760" cy="731520"/>
          </a:xfrm>
          <a:prstGeom prst="rect">
            <a:avLst/>
          </a:prstGeom>
          <a:noFill/>
        </p:spPr>
        <p:txBody>
          <a:bodyPr wrap="square">
            <a:spAutoFit/>
          </a:bodyPr>
          <a:lstStyle/>
          <a:p>
            <a:pPr>
              <a:spcAft>
                <a:spcPts val="200"/>
              </a:spcAft>
              <a:defRPr sz="1200">
                <a:solidFill>
                  <a:srgbClr val="333333"/>
                </a:solidFill>
                <a:latin typeface="Consolas"/>
              </a:defRPr>
            </a:pPr>
            <a:r>
              <a:t>Plasmid: SP12_P2  →  IncX1 (confidence: 0.79)</a:t>
            </a:r>
          </a:p>
          <a:p>
            <a:pPr>
              <a:spcAft>
                <a:spcPts val="200"/>
              </a:spcAft>
              <a:defRPr sz="1200">
                <a:solidFill>
                  <a:srgbClr val="333333"/>
                </a:solidFill>
                <a:latin typeface="Consolas"/>
              </a:defRPr>
            </a:pPr>
            <a:r>
              <a:t>  IncFII: 0.00  |  IncN: 0.21  |  IncX1: 0.79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AMRFinderPlus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NCBI antimicrobial resistance gene detection pipeline</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AMR Detection Pipeline</a:t>
            </a:r>
          </a:p>
        </p:txBody>
      </p:sp>
      <p:sp>
        <p:nvSpPr>
          <p:cNvPr id="6" name="Rounded Rectangle 5"/>
          <p:cNvSpPr/>
          <p:nvPr/>
        </p:nvSpPr>
        <p:spPr>
          <a:xfrm>
            <a:off x="457200" y="2103120"/>
            <a:ext cx="5303520" cy="640080"/>
          </a:xfrm>
          <a:prstGeom prst="roundRect">
            <a:avLst/>
          </a:prstGeom>
          <a:solidFill>
            <a:srgbClr val="FFFFFF"/>
          </a:solidFill>
          <a:ln w="25400">
            <a:solidFill>
              <a:srgbClr val="789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1645920" cy="274320"/>
          </a:xfrm>
          <a:prstGeom prst="rect">
            <a:avLst/>
          </a:prstGeom>
          <a:noFill/>
        </p:spPr>
        <p:txBody>
          <a:bodyPr wrap="square">
            <a:spAutoFit/>
          </a:bodyPr>
          <a:lstStyle/>
          <a:p>
            <a:pPr algn="l">
              <a:defRPr sz="1300" b="1">
                <a:solidFill>
                  <a:srgbClr val="78909C"/>
                </a:solidFill>
                <a:latin typeface="Calibri"/>
              </a:defRPr>
            </a:pPr>
            <a:r>
              <a:t>Auto-Detect</a:t>
            </a:r>
          </a:p>
        </p:txBody>
      </p:sp>
      <p:sp>
        <p:nvSpPr>
          <p:cNvPr id="8" name="TextBox 7"/>
          <p:cNvSpPr txBox="1"/>
          <p:nvPr/>
        </p:nvSpPr>
        <p:spPr>
          <a:xfrm>
            <a:off x="640080" y="2423160"/>
            <a:ext cx="4937760" cy="274320"/>
          </a:xfrm>
          <a:prstGeom prst="rect">
            <a:avLst/>
          </a:prstGeom>
          <a:noFill/>
        </p:spPr>
        <p:txBody>
          <a:bodyPr wrap="square">
            <a:spAutoFit/>
          </a:bodyPr>
          <a:lstStyle/>
          <a:p>
            <a:pPr algn="l">
              <a:defRPr sz="1100" b="0">
                <a:solidFill>
                  <a:srgbClr val="757575"/>
                </a:solidFill>
                <a:latin typeface="Calibri"/>
              </a:defRPr>
            </a:pPr>
            <a:r>
              <a:t>Search PATH, conda envs for amrfinder binary</a:t>
            </a:r>
          </a:p>
        </p:txBody>
      </p:sp>
      <p:sp>
        <p:nvSpPr>
          <p:cNvPr id="9" name="Rounded Rectangle 8"/>
          <p:cNvSpPr/>
          <p:nvPr/>
        </p:nvSpPr>
        <p:spPr>
          <a:xfrm>
            <a:off x="457200" y="2880360"/>
            <a:ext cx="5303520" cy="6400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926080"/>
            <a:ext cx="1645920" cy="274320"/>
          </a:xfrm>
          <a:prstGeom prst="rect">
            <a:avLst/>
          </a:prstGeom>
          <a:noFill/>
        </p:spPr>
        <p:txBody>
          <a:bodyPr wrap="square">
            <a:spAutoFit/>
          </a:bodyPr>
          <a:lstStyle/>
          <a:p>
            <a:pPr algn="l">
              <a:defRPr sz="1300" b="1">
                <a:solidFill>
                  <a:srgbClr val="E53935"/>
                </a:solidFill>
                <a:latin typeface="Calibri"/>
              </a:defRPr>
            </a:pPr>
            <a:r>
              <a:t>Run per File</a:t>
            </a:r>
          </a:p>
        </p:txBody>
      </p:sp>
      <p:sp>
        <p:nvSpPr>
          <p:cNvPr id="11" name="TextBox 10"/>
          <p:cNvSpPr txBox="1"/>
          <p:nvPr/>
        </p:nvSpPr>
        <p:spPr>
          <a:xfrm>
            <a:off x="640080" y="3200400"/>
            <a:ext cx="4937760" cy="274320"/>
          </a:xfrm>
          <a:prstGeom prst="rect">
            <a:avLst/>
          </a:prstGeom>
          <a:noFill/>
        </p:spPr>
        <p:txBody>
          <a:bodyPr wrap="square">
            <a:spAutoFit/>
          </a:bodyPr>
          <a:lstStyle/>
          <a:p>
            <a:pPr algn="l">
              <a:defRPr sz="1100" b="0">
                <a:solidFill>
                  <a:srgbClr val="757575"/>
                </a:solidFill>
                <a:latin typeface="Calibri"/>
              </a:defRPr>
            </a:pPr>
            <a:r>
              <a:t>amrfinder -n {fasta} -d {db} --plus -o {output}</a:t>
            </a:r>
          </a:p>
        </p:txBody>
      </p:sp>
      <p:sp>
        <p:nvSpPr>
          <p:cNvPr id="12" name="Rounded Rectangle 11"/>
          <p:cNvSpPr/>
          <p:nvPr/>
        </p:nvSpPr>
        <p:spPr>
          <a:xfrm>
            <a:off x="457200" y="3657600"/>
            <a:ext cx="5303520" cy="6400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1645920" cy="274320"/>
          </a:xfrm>
          <a:prstGeom prst="rect">
            <a:avLst/>
          </a:prstGeom>
          <a:noFill/>
        </p:spPr>
        <p:txBody>
          <a:bodyPr wrap="square">
            <a:spAutoFit/>
          </a:bodyPr>
          <a:lstStyle/>
          <a:p>
            <a:pPr algn="l">
              <a:defRPr sz="1300" b="1">
                <a:solidFill>
                  <a:srgbClr val="FB8C00"/>
                </a:solidFill>
                <a:latin typeface="Calibri"/>
              </a:defRPr>
            </a:pPr>
            <a:r>
              <a:t>Parse Results</a:t>
            </a:r>
          </a:p>
        </p:txBody>
      </p:sp>
      <p:sp>
        <p:nvSpPr>
          <p:cNvPr id="14" name="TextBox 13"/>
          <p:cNvSpPr txBox="1"/>
          <p:nvPr/>
        </p:nvSpPr>
        <p:spPr>
          <a:xfrm>
            <a:off x="640080" y="3977640"/>
            <a:ext cx="4937760" cy="274320"/>
          </a:xfrm>
          <a:prstGeom prst="rect">
            <a:avLst/>
          </a:prstGeom>
          <a:noFill/>
        </p:spPr>
        <p:txBody>
          <a:bodyPr wrap="square">
            <a:spAutoFit/>
          </a:bodyPr>
          <a:lstStyle/>
          <a:p>
            <a:pPr algn="l">
              <a:defRPr sz="1100" b="0">
                <a:solidFill>
                  <a:srgbClr val="757575"/>
                </a:solidFill>
                <a:latin typeface="Calibri"/>
              </a:defRPr>
            </a:pPr>
            <a:r>
              <a:t>Read TSV output: gene, class, type, coordinates</a:t>
            </a:r>
          </a:p>
        </p:txBody>
      </p:sp>
      <p:sp>
        <p:nvSpPr>
          <p:cNvPr id="15" name="Rounded Rectangle 14"/>
          <p:cNvSpPr/>
          <p:nvPr/>
        </p:nvSpPr>
        <p:spPr>
          <a:xfrm>
            <a:off x="457200" y="4434840"/>
            <a:ext cx="5303520" cy="6400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480560"/>
            <a:ext cx="1645920" cy="274320"/>
          </a:xfrm>
          <a:prstGeom prst="rect">
            <a:avLst/>
          </a:prstGeom>
          <a:noFill/>
        </p:spPr>
        <p:txBody>
          <a:bodyPr wrap="square">
            <a:spAutoFit/>
          </a:bodyPr>
          <a:lstStyle/>
          <a:p>
            <a:pPr algn="l">
              <a:defRPr sz="1300" b="1">
                <a:solidFill>
                  <a:srgbClr val="8E24AA"/>
                </a:solidFill>
                <a:latin typeface="Calibri"/>
              </a:defRPr>
            </a:pPr>
            <a:r>
              <a:t>Integrate</a:t>
            </a:r>
          </a:p>
        </p:txBody>
      </p:sp>
      <p:sp>
        <p:nvSpPr>
          <p:cNvPr id="17" name="TextBox 16"/>
          <p:cNvSpPr txBox="1"/>
          <p:nvPr/>
        </p:nvSpPr>
        <p:spPr>
          <a:xfrm>
            <a:off x="640080" y="4754880"/>
            <a:ext cx="4937760" cy="274320"/>
          </a:xfrm>
          <a:prstGeom prst="rect">
            <a:avLst/>
          </a:prstGeom>
          <a:noFill/>
        </p:spPr>
        <p:txBody>
          <a:bodyPr wrap="square">
            <a:spAutoFit/>
          </a:bodyPr>
          <a:lstStyle/>
          <a:p>
            <a:pPr algn="l">
              <a:defRPr sz="1100" b="0">
                <a:solidFill>
                  <a:srgbClr val="757575"/>
                </a:solidFill>
                <a:latin typeface="Calibri"/>
              </a:defRPr>
            </a:pPr>
            <a:r>
              <a:t>Merge AMR hits with pLIN assignments per plasmid</a:t>
            </a:r>
          </a:p>
        </p:txBody>
      </p:sp>
      <p:sp>
        <p:nvSpPr>
          <p:cNvPr id="18" name="Rounded Rectangle 17"/>
          <p:cNvSpPr/>
          <p:nvPr/>
        </p:nvSpPr>
        <p:spPr>
          <a:xfrm>
            <a:off x="457200" y="5212079"/>
            <a:ext cx="5303520" cy="640080"/>
          </a:xfrm>
          <a:prstGeom prst="roundRect">
            <a:avLst/>
          </a:prstGeom>
          <a:solidFill>
            <a:srgbClr val="FFFFFF"/>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57799"/>
            <a:ext cx="1645920" cy="274320"/>
          </a:xfrm>
          <a:prstGeom prst="rect">
            <a:avLst/>
          </a:prstGeom>
          <a:noFill/>
        </p:spPr>
        <p:txBody>
          <a:bodyPr wrap="square">
            <a:spAutoFit/>
          </a:bodyPr>
          <a:lstStyle/>
          <a:p>
            <a:pPr algn="l">
              <a:defRPr sz="1300" b="1">
                <a:solidFill>
                  <a:srgbClr val="009688"/>
                </a:solidFill>
                <a:latin typeface="Calibri"/>
              </a:defRPr>
            </a:pPr>
            <a:r>
              <a:t>Visualize</a:t>
            </a:r>
          </a:p>
        </p:txBody>
      </p:sp>
      <p:sp>
        <p:nvSpPr>
          <p:cNvPr id="20" name="TextBox 19"/>
          <p:cNvSpPr txBox="1"/>
          <p:nvPr/>
        </p:nvSpPr>
        <p:spPr>
          <a:xfrm>
            <a:off x="640080" y="5532119"/>
            <a:ext cx="4937760" cy="274320"/>
          </a:xfrm>
          <a:prstGeom prst="rect">
            <a:avLst/>
          </a:prstGeom>
          <a:noFill/>
        </p:spPr>
        <p:txBody>
          <a:bodyPr wrap="square">
            <a:spAutoFit/>
          </a:bodyPr>
          <a:lstStyle/>
          <a:p>
            <a:pPr algn="l">
              <a:defRPr sz="1100" b="0">
                <a:solidFill>
                  <a:srgbClr val="757575"/>
                </a:solidFill>
                <a:latin typeface="Calibri"/>
              </a:defRPr>
            </a:pPr>
            <a:r>
              <a:t>Heatmaps, bar charts, pie charts, alerts</a:t>
            </a:r>
          </a:p>
        </p:txBody>
      </p:sp>
      <p:sp>
        <p:nvSpPr>
          <p:cNvPr id="21" name="TextBox 20"/>
          <p:cNvSpPr txBox="1"/>
          <p:nvPr/>
        </p:nvSpPr>
        <p:spPr>
          <a:xfrm>
            <a:off x="6400800" y="1463040"/>
            <a:ext cx="5486400" cy="457200"/>
          </a:xfrm>
          <a:prstGeom prst="rect">
            <a:avLst/>
          </a:prstGeom>
          <a:noFill/>
        </p:spPr>
        <p:txBody>
          <a:bodyPr wrap="square">
            <a:spAutoFit/>
          </a:bodyPr>
          <a:lstStyle/>
          <a:p>
            <a:pPr algn="l">
              <a:defRPr sz="2000" b="1">
                <a:solidFill>
                  <a:srgbClr val="E53935"/>
                </a:solidFill>
                <a:latin typeface="Calibri"/>
              </a:defRPr>
            </a:pPr>
            <a:r>
              <a:t>Detection Categories</a:t>
            </a:r>
          </a:p>
        </p:txBody>
      </p:sp>
      <p:sp>
        <p:nvSpPr>
          <p:cNvPr id="22" name="Rounded Rectangle 21"/>
          <p:cNvSpPr/>
          <p:nvPr/>
        </p:nvSpPr>
        <p:spPr>
          <a:xfrm>
            <a:off x="6400800" y="2103120"/>
            <a:ext cx="5303520" cy="10972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0" y="2423160"/>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2194560"/>
            <a:ext cx="2743200" cy="320040"/>
          </a:xfrm>
          <a:prstGeom prst="rect">
            <a:avLst/>
          </a:prstGeom>
          <a:noFill/>
        </p:spPr>
        <p:txBody>
          <a:bodyPr wrap="square">
            <a:spAutoFit/>
          </a:bodyPr>
          <a:lstStyle/>
          <a:p>
            <a:pPr algn="l">
              <a:defRPr sz="1500" b="1">
                <a:solidFill>
                  <a:srgbClr val="E53935"/>
                </a:solidFill>
                <a:latin typeface="Calibri"/>
              </a:defRPr>
            </a:pPr>
            <a:r>
              <a:t>AMR Genes</a:t>
            </a:r>
          </a:p>
        </p:txBody>
      </p:sp>
      <p:sp>
        <p:nvSpPr>
          <p:cNvPr id="25" name="TextBox 24"/>
          <p:cNvSpPr txBox="1"/>
          <p:nvPr/>
        </p:nvSpPr>
        <p:spPr>
          <a:xfrm>
            <a:off x="7223760" y="2560320"/>
            <a:ext cx="4114800" cy="548640"/>
          </a:xfrm>
          <a:prstGeom prst="rect">
            <a:avLst/>
          </a:prstGeom>
          <a:noFill/>
        </p:spPr>
        <p:txBody>
          <a:bodyPr wrap="square">
            <a:spAutoFit/>
          </a:bodyPr>
          <a:lstStyle/>
          <a:p>
            <a:pPr algn="l">
              <a:defRPr sz="1100" b="0">
                <a:solidFill>
                  <a:srgbClr val="757575"/>
                </a:solidFill>
                <a:latin typeface="Calibri"/>
              </a:defRPr>
            </a:pPr>
            <a:r>
              <a:t>Antibiotic resistance genes</a:t>
            </a:r>
            <a:br/>
            <a:r>
              <a:t>blaNDM, blaKPC, blaSHV, mcr, etc.</a:t>
            </a:r>
          </a:p>
        </p:txBody>
      </p:sp>
      <p:sp>
        <p:nvSpPr>
          <p:cNvPr id="26" name="TextBox 25"/>
          <p:cNvSpPr txBox="1"/>
          <p:nvPr/>
        </p:nvSpPr>
        <p:spPr>
          <a:xfrm>
            <a:off x="10058400" y="2286000"/>
            <a:ext cx="1371600" cy="731520"/>
          </a:xfrm>
          <a:prstGeom prst="rect">
            <a:avLst/>
          </a:prstGeom>
          <a:noFill/>
        </p:spPr>
        <p:txBody>
          <a:bodyPr wrap="square">
            <a:spAutoFit/>
          </a:bodyPr>
          <a:lstStyle/>
          <a:p>
            <a:pPr algn="r">
              <a:defRPr sz="2200" b="1">
                <a:solidFill>
                  <a:srgbClr val="E53935"/>
                </a:solidFill>
                <a:latin typeface="Calibri"/>
              </a:defRPr>
            </a:pPr>
            <a:r>
              <a:t>27,465</a:t>
            </a:r>
          </a:p>
        </p:txBody>
      </p:sp>
      <p:sp>
        <p:nvSpPr>
          <p:cNvPr id="27" name="Rounded Rectangle 26"/>
          <p:cNvSpPr/>
          <p:nvPr/>
        </p:nvSpPr>
        <p:spPr>
          <a:xfrm>
            <a:off x="6400800" y="3383279"/>
            <a:ext cx="5303520" cy="10972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75120" y="3703319"/>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0" y="3474719"/>
            <a:ext cx="2743200" cy="320040"/>
          </a:xfrm>
          <a:prstGeom prst="rect">
            <a:avLst/>
          </a:prstGeom>
          <a:noFill/>
        </p:spPr>
        <p:txBody>
          <a:bodyPr wrap="square">
            <a:spAutoFit/>
          </a:bodyPr>
          <a:lstStyle/>
          <a:p>
            <a:pPr algn="l">
              <a:defRPr sz="1500" b="1">
                <a:solidFill>
                  <a:srgbClr val="FB8C00"/>
                </a:solidFill>
                <a:latin typeface="Calibri"/>
              </a:defRPr>
            </a:pPr>
            <a:r>
              <a:t>Stress Genes</a:t>
            </a:r>
          </a:p>
        </p:txBody>
      </p:sp>
      <p:sp>
        <p:nvSpPr>
          <p:cNvPr id="30" name="TextBox 29"/>
          <p:cNvSpPr txBox="1"/>
          <p:nvPr/>
        </p:nvSpPr>
        <p:spPr>
          <a:xfrm>
            <a:off x="7223760" y="3840479"/>
            <a:ext cx="4114800" cy="548640"/>
          </a:xfrm>
          <a:prstGeom prst="rect">
            <a:avLst/>
          </a:prstGeom>
          <a:noFill/>
        </p:spPr>
        <p:txBody>
          <a:bodyPr wrap="square">
            <a:spAutoFit/>
          </a:bodyPr>
          <a:lstStyle/>
          <a:p>
            <a:pPr algn="l">
              <a:defRPr sz="1100" b="0">
                <a:solidFill>
                  <a:srgbClr val="757575"/>
                </a:solidFill>
                <a:latin typeface="Calibri"/>
              </a:defRPr>
            </a:pPr>
            <a:r>
              <a:t>Biocide/metal resistance</a:t>
            </a:r>
            <a:br/>
            <a:r>
              <a:t>bleomycin, mercury, arsenic, etc.</a:t>
            </a:r>
          </a:p>
        </p:txBody>
      </p:sp>
      <p:sp>
        <p:nvSpPr>
          <p:cNvPr id="31" name="TextBox 30"/>
          <p:cNvSpPr txBox="1"/>
          <p:nvPr/>
        </p:nvSpPr>
        <p:spPr>
          <a:xfrm>
            <a:off x="10058400" y="3566159"/>
            <a:ext cx="1371600" cy="731520"/>
          </a:xfrm>
          <a:prstGeom prst="rect">
            <a:avLst/>
          </a:prstGeom>
          <a:noFill/>
        </p:spPr>
        <p:txBody>
          <a:bodyPr wrap="square">
            <a:spAutoFit/>
          </a:bodyPr>
          <a:lstStyle/>
          <a:p>
            <a:pPr algn="r">
              <a:defRPr sz="2200" b="1">
                <a:solidFill>
                  <a:srgbClr val="FB8C00"/>
                </a:solidFill>
                <a:latin typeface="Calibri"/>
              </a:defRPr>
            </a:pPr>
            <a:r>
              <a:t>5,834</a:t>
            </a:r>
          </a:p>
        </p:txBody>
      </p:sp>
      <p:sp>
        <p:nvSpPr>
          <p:cNvPr id="32" name="Rounded Rectangle 31"/>
          <p:cNvSpPr/>
          <p:nvPr/>
        </p:nvSpPr>
        <p:spPr>
          <a:xfrm>
            <a:off x="6400800" y="4663440"/>
            <a:ext cx="5303520" cy="10972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4983480"/>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4754880"/>
            <a:ext cx="2743200" cy="320040"/>
          </a:xfrm>
          <a:prstGeom prst="rect">
            <a:avLst/>
          </a:prstGeom>
          <a:noFill/>
        </p:spPr>
        <p:txBody>
          <a:bodyPr wrap="square">
            <a:spAutoFit/>
          </a:bodyPr>
          <a:lstStyle/>
          <a:p>
            <a:pPr algn="l">
              <a:defRPr sz="1500" b="1">
                <a:solidFill>
                  <a:srgbClr val="8E24AA"/>
                </a:solidFill>
                <a:latin typeface="Calibri"/>
              </a:defRPr>
            </a:pPr>
            <a:r>
              <a:t>Virulence</a:t>
            </a:r>
          </a:p>
        </p:txBody>
      </p:sp>
      <p:sp>
        <p:nvSpPr>
          <p:cNvPr id="35" name="TextBox 34"/>
          <p:cNvSpPr txBox="1"/>
          <p:nvPr/>
        </p:nvSpPr>
        <p:spPr>
          <a:xfrm>
            <a:off x="7223760" y="5120640"/>
            <a:ext cx="4114800" cy="548640"/>
          </a:xfrm>
          <a:prstGeom prst="rect">
            <a:avLst/>
          </a:prstGeom>
          <a:noFill/>
        </p:spPr>
        <p:txBody>
          <a:bodyPr wrap="square">
            <a:spAutoFit/>
          </a:bodyPr>
          <a:lstStyle/>
          <a:p>
            <a:pPr algn="l">
              <a:defRPr sz="1100" b="0">
                <a:solidFill>
                  <a:srgbClr val="757575"/>
                </a:solidFill>
                <a:latin typeface="Calibri"/>
              </a:defRPr>
            </a:pPr>
            <a:r>
              <a:t>Virulence-associated factors</a:t>
            </a:r>
            <a:br/>
            <a:r>
              <a:t>Type III secretion, toxins, etc.</a:t>
            </a:r>
          </a:p>
        </p:txBody>
      </p:sp>
      <p:sp>
        <p:nvSpPr>
          <p:cNvPr id="36" name="TextBox 35"/>
          <p:cNvSpPr txBox="1"/>
          <p:nvPr/>
        </p:nvSpPr>
        <p:spPr>
          <a:xfrm>
            <a:off x="10058400" y="4846320"/>
            <a:ext cx="1371600" cy="731520"/>
          </a:xfrm>
          <a:prstGeom prst="rect">
            <a:avLst/>
          </a:prstGeom>
          <a:noFill/>
        </p:spPr>
        <p:txBody>
          <a:bodyPr wrap="square">
            <a:spAutoFit/>
          </a:bodyPr>
          <a:lstStyle/>
          <a:p>
            <a:pPr algn="r">
              <a:defRPr sz="2200" b="1">
                <a:solidFill>
                  <a:srgbClr val="8E24AA"/>
                </a:solidFill>
                <a:latin typeface="Calibri"/>
              </a:defRPr>
            </a:pPr>
            <a:r>
              <a:t>1,200+</a:t>
            </a:r>
          </a:p>
        </p:txBody>
      </p:sp>
      <p:sp>
        <p:nvSpPr>
          <p:cNvPr id="37" name="Rounded Rectangle 36"/>
          <p:cNvSpPr/>
          <p:nvPr/>
        </p:nvSpPr>
        <p:spPr>
          <a:xfrm>
            <a:off x="6400800" y="5486400"/>
            <a:ext cx="5303520" cy="91440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5577840"/>
            <a:ext cx="4937760" cy="274320"/>
          </a:xfrm>
          <a:prstGeom prst="rect">
            <a:avLst/>
          </a:prstGeom>
          <a:noFill/>
        </p:spPr>
        <p:txBody>
          <a:bodyPr wrap="square">
            <a:spAutoFit/>
          </a:bodyPr>
          <a:lstStyle/>
          <a:p>
            <a:pPr algn="l">
              <a:defRPr sz="1300" b="1">
                <a:solidFill>
                  <a:srgbClr val="E53935"/>
                </a:solidFill>
                <a:latin typeface="Calibri"/>
              </a:defRPr>
            </a:pPr>
            <a:r>
              <a:t>⚠️  Critical Gene Alert System</a:t>
            </a:r>
          </a:p>
        </p:txBody>
      </p:sp>
      <p:sp>
        <p:nvSpPr>
          <p:cNvPr id="39" name="TextBox 38"/>
          <p:cNvSpPr txBox="1"/>
          <p:nvPr/>
        </p:nvSpPr>
        <p:spPr>
          <a:xfrm>
            <a:off x="6583680" y="5897880"/>
            <a:ext cx="4937760" cy="365760"/>
          </a:xfrm>
          <a:prstGeom prst="rect">
            <a:avLst/>
          </a:prstGeom>
          <a:noFill/>
        </p:spPr>
        <p:txBody>
          <a:bodyPr wrap="square">
            <a:spAutoFit/>
          </a:bodyPr>
          <a:lstStyle/>
          <a:p>
            <a:pPr algn="l">
              <a:defRPr sz="1100" b="0">
                <a:solidFill>
                  <a:srgbClr val="333333"/>
                </a:solidFill>
                <a:latin typeface="Calibri"/>
              </a:defRPr>
            </a:pPr>
            <a:r>
              <a:t>Carbapenemases (KPC, NDM, OXA-48, VIM, IMP)  |  ESBLs (CTX-M, SHV-12, TEM)  |  Colistin (mcr)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Streamlit Web GUI</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Interactive web application for plasmid analysis (plin_app.py)</a:t>
            </a:r>
          </a:p>
        </p:txBody>
      </p:sp>
      <p:sp>
        <p:nvSpPr>
          <p:cNvPr id="5" name="TextBox 4"/>
          <p:cNvSpPr txBox="1"/>
          <p:nvPr/>
        </p:nvSpPr>
        <p:spPr>
          <a:xfrm>
            <a:off x="457200" y="1463040"/>
            <a:ext cx="10972800" cy="457200"/>
          </a:xfrm>
          <a:prstGeom prst="rect">
            <a:avLst/>
          </a:prstGeom>
          <a:noFill/>
        </p:spPr>
        <p:txBody>
          <a:bodyPr wrap="square">
            <a:spAutoFit/>
          </a:bodyPr>
          <a:lstStyle/>
          <a:p>
            <a:pPr algn="l">
              <a:defRPr sz="2000" b="1">
                <a:solidFill>
                  <a:srgbClr val="0D47A1"/>
                </a:solidFill>
                <a:latin typeface="Calibri"/>
              </a:defRPr>
            </a:pPr>
            <a:r>
              <a:t>Application Layout</a:t>
            </a:r>
          </a:p>
        </p:txBody>
      </p:sp>
      <p:sp>
        <p:nvSpPr>
          <p:cNvPr id="6" name="Rounded Rectangle 5"/>
          <p:cNvSpPr/>
          <p:nvPr/>
        </p:nvSpPr>
        <p:spPr>
          <a:xfrm>
            <a:off x="457200" y="2011680"/>
            <a:ext cx="7772400" cy="109728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3657600" cy="365760"/>
          </a:xfrm>
          <a:prstGeom prst="rect">
            <a:avLst/>
          </a:prstGeom>
          <a:noFill/>
        </p:spPr>
        <p:txBody>
          <a:bodyPr wrap="square">
            <a:spAutoFit/>
          </a:bodyPr>
          <a:lstStyle/>
          <a:p>
            <a:pPr algn="l">
              <a:defRPr sz="1400" b="1">
                <a:solidFill>
                  <a:srgbClr val="0D47A1"/>
                </a:solidFill>
                <a:latin typeface="Calibri"/>
              </a:defRPr>
            </a:pPr>
            <a:r>
              <a:t>↑ Upload FASTA Files</a:t>
            </a:r>
          </a:p>
        </p:txBody>
      </p:sp>
      <p:sp>
        <p:nvSpPr>
          <p:cNvPr id="8" name="TextBox 7"/>
          <p:cNvSpPr txBox="1"/>
          <p:nvPr/>
        </p:nvSpPr>
        <p:spPr>
          <a:xfrm>
            <a:off x="5029200" y="2103120"/>
            <a:ext cx="2743200" cy="365760"/>
          </a:xfrm>
          <a:prstGeom prst="rect">
            <a:avLst/>
          </a:prstGeom>
          <a:noFill/>
        </p:spPr>
        <p:txBody>
          <a:bodyPr wrap="square">
            <a:spAutoFit/>
          </a:bodyPr>
          <a:lstStyle/>
          <a:p>
            <a:pPr algn="l">
              <a:defRPr sz="1200" b="0">
                <a:solidFill>
                  <a:srgbClr val="333333"/>
                </a:solidFill>
                <a:latin typeface="Calibri"/>
              </a:defRPr>
            </a:pPr>
            <a:r>
              <a:t>Inc Group: [Auto-detect ▼]</a:t>
            </a:r>
          </a:p>
        </p:txBody>
      </p:sp>
      <p:sp>
        <p:nvSpPr>
          <p:cNvPr id="9" name="TextBox 8"/>
          <p:cNvSpPr txBox="1"/>
          <p:nvPr/>
        </p:nvSpPr>
        <p:spPr>
          <a:xfrm>
            <a:off x="5029200" y="2468880"/>
            <a:ext cx="2743200" cy="365760"/>
          </a:xfrm>
          <a:prstGeom prst="rect">
            <a:avLst/>
          </a:prstGeom>
          <a:noFill/>
        </p:spPr>
        <p:txBody>
          <a:bodyPr wrap="square">
            <a:spAutoFit/>
          </a:bodyPr>
          <a:lstStyle/>
          <a:p>
            <a:pPr algn="l">
              <a:defRPr sz="1200" b="0">
                <a:solidFill>
                  <a:srgbClr val="333333"/>
                </a:solidFill>
                <a:latin typeface="Calibri"/>
              </a:defRPr>
            </a:pPr>
            <a:r>
              <a:t>☑ Run AMRFinderPlus</a:t>
            </a:r>
          </a:p>
        </p:txBody>
      </p:sp>
      <p:sp>
        <p:nvSpPr>
          <p:cNvPr id="10" name="Rounded Rectangle 9"/>
          <p:cNvSpPr/>
          <p:nvPr/>
        </p:nvSpPr>
        <p:spPr>
          <a:xfrm>
            <a:off x="640080" y="265176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70048"/>
            <a:ext cx="1828800" cy="320040"/>
          </a:xfrm>
          <a:prstGeom prst="rect">
            <a:avLst/>
          </a:prstGeom>
          <a:noFill/>
        </p:spPr>
        <p:txBody>
          <a:bodyPr wrap="square">
            <a:spAutoFit/>
          </a:bodyPr>
          <a:lstStyle/>
          <a:p>
            <a:pPr algn="ctr">
              <a:defRPr sz="1200" b="1">
                <a:solidFill>
                  <a:srgbClr val="FFFFFF"/>
                </a:solidFill>
                <a:latin typeface="Calibri"/>
              </a:defRPr>
            </a:pPr>
            <a:r>
              <a:t>▶ Run Analysis</a:t>
            </a:r>
          </a:p>
        </p:txBody>
      </p:sp>
      <p:sp>
        <p:nvSpPr>
          <p:cNvPr id="12" name="Rounded Rectangle 11"/>
          <p:cNvSpPr/>
          <p:nvPr/>
        </p:nvSpPr>
        <p:spPr>
          <a:xfrm>
            <a:off x="457200" y="3474720"/>
            <a:ext cx="1783080" cy="4114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520440"/>
            <a:ext cx="1783080" cy="320040"/>
          </a:xfrm>
          <a:prstGeom prst="rect">
            <a:avLst/>
          </a:prstGeom>
          <a:noFill/>
        </p:spPr>
        <p:txBody>
          <a:bodyPr wrap="square">
            <a:spAutoFit/>
          </a:bodyPr>
          <a:lstStyle/>
          <a:p>
            <a:pPr algn="ctr">
              <a:defRPr sz="1100" b="1">
                <a:solidFill>
                  <a:srgbClr val="FFFFFF"/>
                </a:solidFill>
                <a:latin typeface="Calibri"/>
              </a:defRPr>
            </a:pPr>
            <a:r>
              <a:t>Overview</a:t>
            </a:r>
          </a:p>
        </p:txBody>
      </p:sp>
      <p:sp>
        <p:nvSpPr>
          <p:cNvPr id="14" name="Rounded Rectangle 13"/>
          <p:cNvSpPr/>
          <p:nvPr/>
        </p:nvSpPr>
        <p:spPr>
          <a:xfrm>
            <a:off x="457200" y="3886200"/>
            <a:ext cx="1783080" cy="22860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pLIN description</a:t>
            </a:r>
          </a:p>
          <a:p>
            <a:pPr>
              <a:spcAft>
                <a:spcPts val="200"/>
              </a:spcAft>
              <a:defRPr sz="900">
                <a:solidFill>
                  <a:srgbClr val="333333"/>
                </a:solidFill>
                <a:latin typeface="Calibri"/>
              </a:defRPr>
            </a:pPr>
            <a:r>
              <a:t>Threshold table</a:t>
            </a:r>
          </a:p>
          <a:p>
            <a:pPr>
              <a:spcAft>
                <a:spcPts val="200"/>
              </a:spcAft>
              <a:defRPr sz="900">
                <a:solidFill>
                  <a:srgbClr val="333333"/>
                </a:solidFill>
                <a:latin typeface="Calibri"/>
              </a:defRPr>
            </a:pPr>
            <a:r>
              <a:t>Metrics dashboard</a:t>
            </a:r>
          </a:p>
          <a:p>
            <a:pPr>
              <a:spcAft>
                <a:spcPts val="200"/>
              </a:spcAft>
              <a:defRPr sz="900">
                <a:solidFill>
                  <a:srgbClr val="333333"/>
                </a:solidFill>
                <a:latin typeface="Calibri"/>
              </a:defRPr>
            </a:pPr>
            <a:r>
              <a:t>Adaptive threshold info</a:t>
            </a:r>
          </a:p>
        </p:txBody>
      </p:sp>
      <p:sp>
        <p:nvSpPr>
          <p:cNvPr id="16" name="Rounded Rectangle 15"/>
          <p:cNvSpPr/>
          <p:nvPr/>
        </p:nvSpPr>
        <p:spPr>
          <a:xfrm>
            <a:off x="2377440" y="3474720"/>
            <a:ext cx="1783080" cy="4114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3520440"/>
            <a:ext cx="1783080" cy="320040"/>
          </a:xfrm>
          <a:prstGeom prst="rect">
            <a:avLst/>
          </a:prstGeom>
          <a:noFill/>
        </p:spPr>
        <p:txBody>
          <a:bodyPr wrap="square">
            <a:spAutoFit/>
          </a:bodyPr>
          <a:lstStyle/>
          <a:p>
            <a:pPr algn="ctr">
              <a:defRPr sz="1100" b="1">
                <a:solidFill>
                  <a:srgbClr val="FFFFFF"/>
                </a:solidFill>
                <a:latin typeface="Calibri"/>
              </a:defRPr>
            </a:pPr>
            <a:r>
              <a:t>Results</a:t>
            </a:r>
          </a:p>
        </p:txBody>
      </p:sp>
      <p:sp>
        <p:nvSpPr>
          <p:cNvPr id="18" name="Rounded Rectangle 17"/>
          <p:cNvSpPr/>
          <p:nvPr/>
        </p:nvSpPr>
        <p:spPr>
          <a:xfrm>
            <a:off x="2377440" y="3886200"/>
            <a:ext cx="1783080" cy="22860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Interactive data table</a:t>
            </a:r>
          </a:p>
          <a:p>
            <a:pPr>
              <a:spcAft>
                <a:spcPts val="200"/>
              </a:spcAft>
              <a:defRPr sz="900">
                <a:solidFill>
                  <a:srgbClr val="333333"/>
                </a:solidFill>
                <a:latin typeface="Calibri"/>
              </a:defRPr>
            </a:pPr>
            <a:r>
              <a:t>Search/filter</a:t>
            </a:r>
          </a:p>
          <a:p>
            <a:pPr>
              <a:spcAft>
                <a:spcPts val="200"/>
              </a:spcAft>
              <a:defRPr sz="900">
                <a:solidFill>
                  <a:srgbClr val="333333"/>
                </a:solidFill>
                <a:latin typeface="Calibri"/>
              </a:defRPr>
            </a:pPr>
            <a:r>
              <a:t>Mobility column</a:t>
            </a:r>
          </a:p>
          <a:p>
            <a:pPr>
              <a:spcAft>
                <a:spcPts val="200"/>
              </a:spcAft>
              <a:defRPr sz="900">
                <a:solidFill>
                  <a:srgbClr val="333333"/>
                </a:solidFill>
                <a:latin typeface="Calibri"/>
              </a:defRPr>
            </a:pPr>
            <a:r>
              <a:t>pLIN distribution</a:t>
            </a:r>
          </a:p>
        </p:txBody>
      </p:sp>
      <p:sp>
        <p:nvSpPr>
          <p:cNvPr id="20" name="Rounded Rectangle 19"/>
          <p:cNvSpPr/>
          <p:nvPr/>
        </p:nvSpPr>
        <p:spPr>
          <a:xfrm>
            <a:off x="4297680" y="3474720"/>
            <a:ext cx="1783080" cy="4114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3520440"/>
            <a:ext cx="1783080" cy="320040"/>
          </a:xfrm>
          <a:prstGeom prst="rect">
            <a:avLst/>
          </a:prstGeom>
          <a:noFill/>
        </p:spPr>
        <p:txBody>
          <a:bodyPr wrap="square">
            <a:spAutoFit/>
          </a:bodyPr>
          <a:lstStyle/>
          <a:p>
            <a:pPr algn="ctr">
              <a:defRPr sz="1100" b="1">
                <a:solidFill>
                  <a:srgbClr val="FFFFFF"/>
                </a:solidFill>
                <a:latin typeface="Calibri"/>
              </a:defRPr>
            </a:pPr>
            <a:r>
              <a:t>Cladogram</a:t>
            </a:r>
          </a:p>
        </p:txBody>
      </p:sp>
      <p:sp>
        <p:nvSpPr>
          <p:cNvPr id="22" name="Rounded Rectangle 21"/>
          <p:cNvSpPr/>
          <p:nvPr/>
        </p:nvSpPr>
        <p:spPr>
          <a:xfrm>
            <a:off x="4297680" y="3886200"/>
            <a:ext cx="1783080" cy="228600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4 visualization types:</a:t>
            </a:r>
          </a:p>
          <a:p>
            <a:pPr>
              <a:spcAft>
                <a:spcPts val="200"/>
              </a:spcAft>
              <a:defRPr sz="900">
                <a:solidFill>
                  <a:srgbClr val="333333"/>
                </a:solidFill>
                <a:latin typeface="Calibri"/>
              </a:defRPr>
            </a:pPr>
            <a:r>
              <a:t>• Rectangular</a:t>
            </a:r>
          </a:p>
          <a:p>
            <a:pPr>
              <a:spcAft>
                <a:spcPts val="200"/>
              </a:spcAft>
              <a:defRPr sz="900">
                <a:solidFill>
                  <a:srgbClr val="333333"/>
                </a:solidFill>
                <a:latin typeface="Calibri"/>
              </a:defRPr>
            </a:pPr>
            <a:r>
              <a:t>• Circular</a:t>
            </a:r>
          </a:p>
          <a:p>
            <a:pPr>
              <a:spcAft>
                <a:spcPts val="200"/>
              </a:spcAft>
              <a:defRPr sz="900">
                <a:solidFill>
                  <a:srgbClr val="333333"/>
                </a:solidFill>
                <a:latin typeface="Calibri"/>
              </a:defRPr>
            </a:pPr>
            <a:r>
              <a:t>• Heatmap</a:t>
            </a:r>
          </a:p>
          <a:p>
            <a:pPr>
              <a:spcAft>
                <a:spcPts val="200"/>
              </a:spcAft>
              <a:defRPr sz="900">
                <a:solidFill>
                  <a:srgbClr val="333333"/>
                </a:solidFill>
                <a:latin typeface="Calibri"/>
              </a:defRPr>
            </a:pPr>
            <a:r>
              <a:t>• AMR Annotated</a:t>
            </a:r>
          </a:p>
        </p:txBody>
      </p:sp>
      <p:sp>
        <p:nvSpPr>
          <p:cNvPr id="24" name="Rounded Rectangle 23"/>
          <p:cNvSpPr/>
          <p:nvPr/>
        </p:nvSpPr>
        <p:spPr>
          <a:xfrm>
            <a:off x="6217920" y="3474720"/>
            <a:ext cx="1783080" cy="4114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3520440"/>
            <a:ext cx="1783080" cy="320040"/>
          </a:xfrm>
          <a:prstGeom prst="rect">
            <a:avLst/>
          </a:prstGeom>
          <a:noFill/>
        </p:spPr>
        <p:txBody>
          <a:bodyPr wrap="square">
            <a:spAutoFit/>
          </a:bodyPr>
          <a:lstStyle/>
          <a:p>
            <a:pPr algn="ctr">
              <a:defRPr sz="1100" b="1">
                <a:solidFill>
                  <a:srgbClr val="FFFFFF"/>
                </a:solidFill>
                <a:latin typeface="Calibri"/>
              </a:defRPr>
            </a:pPr>
            <a:r>
              <a:t>AMR</a:t>
            </a:r>
          </a:p>
        </p:txBody>
      </p:sp>
      <p:sp>
        <p:nvSpPr>
          <p:cNvPr id="26" name="Rounded Rectangle 25"/>
          <p:cNvSpPr/>
          <p:nvPr/>
        </p:nvSpPr>
        <p:spPr>
          <a:xfrm>
            <a:off x="6217920" y="3886200"/>
            <a:ext cx="1783080" cy="228600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Gene prevalence</a:t>
            </a:r>
          </a:p>
          <a:p>
            <a:pPr>
              <a:spcAft>
                <a:spcPts val="200"/>
              </a:spcAft>
              <a:defRPr sz="900">
                <a:solidFill>
                  <a:srgbClr val="333333"/>
                </a:solidFill>
                <a:latin typeface="Calibri"/>
              </a:defRPr>
            </a:pPr>
            <a:r>
              <a:t>Drug class pie</a:t>
            </a:r>
          </a:p>
          <a:p>
            <a:pPr>
              <a:spcAft>
                <a:spcPts val="200"/>
              </a:spcAft>
              <a:defRPr sz="900">
                <a:solidFill>
                  <a:srgbClr val="333333"/>
                </a:solidFill>
                <a:latin typeface="Calibri"/>
              </a:defRPr>
            </a:pPr>
            <a:r>
              <a:t>Critical gene alerts</a:t>
            </a:r>
          </a:p>
          <a:p>
            <a:pPr>
              <a:spcAft>
                <a:spcPts val="200"/>
              </a:spcAft>
              <a:defRPr sz="900">
                <a:solidFill>
                  <a:srgbClr val="333333"/>
                </a:solidFill>
                <a:latin typeface="Calibri"/>
              </a:defRPr>
            </a:pPr>
            <a:r>
              <a:t>Full detection table</a:t>
            </a:r>
          </a:p>
        </p:txBody>
      </p:sp>
      <p:sp>
        <p:nvSpPr>
          <p:cNvPr id="28" name="Rounded Rectangle 27"/>
          <p:cNvSpPr/>
          <p:nvPr/>
        </p:nvSpPr>
        <p:spPr>
          <a:xfrm>
            <a:off x="8138160" y="3474720"/>
            <a:ext cx="1783080" cy="4114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0" y="3520440"/>
            <a:ext cx="1783080" cy="320040"/>
          </a:xfrm>
          <a:prstGeom prst="rect">
            <a:avLst/>
          </a:prstGeom>
          <a:noFill/>
        </p:spPr>
        <p:txBody>
          <a:bodyPr wrap="square">
            <a:spAutoFit/>
          </a:bodyPr>
          <a:lstStyle/>
          <a:p>
            <a:pPr algn="ctr">
              <a:defRPr sz="1100" b="1">
                <a:solidFill>
                  <a:srgbClr val="FFFFFF"/>
                </a:solidFill>
                <a:latin typeface="Calibri"/>
              </a:defRPr>
            </a:pPr>
            <a:r>
              <a:t>Epidemiology</a:t>
            </a:r>
          </a:p>
        </p:txBody>
      </p:sp>
      <p:sp>
        <p:nvSpPr>
          <p:cNvPr id="30" name="Rounded Rectangle 29"/>
          <p:cNvSpPr/>
          <p:nvPr/>
        </p:nvSpPr>
        <p:spPr>
          <a:xfrm>
            <a:off x="8138160" y="3886200"/>
            <a:ext cx="1783080" cy="228600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Mobility prediction</a:t>
            </a:r>
          </a:p>
          <a:p>
            <a:pPr>
              <a:spcAft>
                <a:spcPts val="200"/>
              </a:spcAft>
              <a:defRPr sz="900">
                <a:solidFill>
                  <a:srgbClr val="333333"/>
                </a:solidFill>
                <a:latin typeface="Calibri"/>
              </a:defRPr>
            </a:pPr>
            <a:r>
              <a:t>Outbreak detection</a:t>
            </a:r>
          </a:p>
          <a:p>
            <a:pPr>
              <a:spcAft>
                <a:spcPts val="200"/>
              </a:spcAft>
              <a:defRPr sz="900">
                <a:solidFill>
                  <a:srgbClr val="333333"/>
                </a:solidFill>
                <a:latin typeface="Calibri"/>
              </a:defRPr>
            </a:pPr>
            <a:r>
              <a:t>Risk stratification</a:t>
            </a:r>
          </a:p>
          <a:p>
            <a:pPr>
              <a:spcAft>
                <a:spcPts val="200"/>
              </a:spcAft>
              <a:defRPr sz="900">
                <a:solidFill>
                  <a:srgbClr val="333333"/>
                </a:solidFill>
                <a:latin typeface="Calibri"/>
              </a:defRPr>
            </a:pPr>
            <a:r>
              <a:t>Dissemination risk</a:t>
            </a:r>
          </a:p>
        </p:txBody>
      </p:sp>
      <p:sp>
        <p:nvSpPr>
          <p:cNvPr id="32" name="Rounded Rectangle 31"/>
          <p:cNvSpPr/>
          <p:nvPr/>
        </p:nvSpPr>
        <p:spPr>
          <a:xfrm>
            <a:off x="10058400" y="3474720"/>
            <a:ext cx="1783080" cy="4114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520440"/>
            <a:ext cx="1783080" cy="320040"/>
          </a:xfrm>
          <a:prstGeom prst="rect">
            <a:avLst/>
          </a:prstGeom>
          <a:noFill/>
        </p:spPr>
        <p:txBody>
          <a:bodyPr wrap="square">
            <a:spAutoFit/>
          </a:bodyPr>
          <a:lstStyle/>
          <a:p>
            <a:pPr algn="ctr">
              <a:defRPr sz="1100" b="1">
                <a:solidFill>
                  <a:srgbClr val="FFFFFF"/>
                </a:solidFill>
                <a:latin typeface="Calibri"/>
              </a:defRPr>
            </a:pPr>
            <a:r>
              <a:t>Export</a:t>
            </a:r>
          </a:p>
        </p:txBody>
      </p:sp>
      <p:sp>
        <p:nvSpPr>
          <p:cNvPr id="34" name="Rounded Rectangle 33"/>
          <p:cNvSpPr/>
          <p:nvPr/>
        </p:nvSpPr>
        <p:spPr>
          <a:xfrm>
            <a:off x="10058400" y="3886200"/>
            <a:ext cx="1783080" cy="22860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41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TSV tables</a:t>
            </a:r>
          </a:p>
          <a:p>
            <a:pPr>
              <a:spcAft>
                <a:spcPts val="200"/>
              </a:spcAft>
              <a:defRPr sz="900">
                <a:solidFill>
                  <a:srgbClr val="333333"/>
                </a:solidFill>
                <a:latin typeface="Calibri"/>
              </a:defRPr>
            </a:pPr>
            <a:r>
              <a:t>PNG/PDF figures</a:t>
            </a:r>
          </a:p>
          <a:p>
            <a:pPr>
              <a:spcAft>
                <a:spcPts val="200"/>
              </a:spcAft>
              <a:defRPr sz="900">
                <a:solidFill>
                  <a:srgbClr val="333333"/>
                </a:solidFill>
                <a:latin typeface="Calibri"/>
              </a:defRPr>
            </a:pPr>
            <a:r>
              <a:t>ZIP bundle</a:t>
            </a:r>
          </a:p>
          <a:p>
            <a:pPr>
              <a:spcAft>
                <a:spcPts val="200"/>
              </a:spcAft>
              <a:defRPr sz="900">
                <a:solidFill>
                  <a:srgbClr val="333333"/>
                </a:solidFill>
                <a:latin typeface="Calibri"/>
              </a:defRPr>
            </a:pPr>
            <a:r>
              <a:t>Mobility + outbreak</a:t>
            </a:r>
          </a:p>
        </p:txBody>
      </p:sp>
      <p:sp>
        <p:nvSpPr>
          <p:cNvPr id="36" name="Rounded Rectangle 35"/>
          <p:cNvSpPr/>
          <p:nvPr/>
        </p:nvSpPr>
        <p:spPr>
          <a:xfrm>
            <a:off x="8503920" y="2011680"/>
            <a:ext cx="3383280" cy="43891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0" y="2103120"/>
            <a:ext cx="3017520" cy="365760"/>
          </a:xfrm>
          <a:prstGeom prst="rect">
            <a:avLst/>
          </a:prstGeom>
          <a:noFill/>
        </p:spPr>
        <p:txBody>
          <a:bodyPr wrap="square">
            <a:spAutoFit/>
          </a:bodyPr>
          <a:lstStyle/>
          <a:p>
            <a:pPr algn="l">
              <a:defRPr sz="1600" b="1">
                <a:solidFill>
                  <a:srgbClr val="333333"/>
                </a:solidFill>
                <a:latin typeface="Calibri"/>
              </a:defRPr>
            </a:pPr>
            <a:r>
              <a:t>Sidebar</a:t>
            </a:r>
          </a:p>
        </p:txBody>
      </p:sp>
      <p:sp>
        <p:nvSpPr>
          <p:cNvPr id="38" name="TextBox 37"/>
          <p:cNvSpPr txBox="1"/>
          <p:nvPr/>
        </p:nvSpPr>
        <p:spPr>
          <a:xfrm>
            <a:off x="8686800" y="2560320"/>
            <a:ext cx="3017520" cy="3657600"/>
          </a:xfrm>
          <a:prstGeom prst="rect">
            <a:avLst/>
          </a:prstGeom>
          <a:noFill/>
        </p:spPr>
        <p:txBody>
          <a:bodyPr wrap="square">
            <a:spAutoFit/>
          </a:bodyPr>
          <a:lstStyle/>
          <a:p>
            <a:pPr>
              <a:spcAft>
                <a:spcPts val="200"/>
              </a:spcAft>
              <a:defRPr sz="1100">
                <a:solidFill>
                  <a:srgbClr val="333333"/>
                </a:solidFill>
                <a:latin typeface="Calibri"/>
              </a:defRPr>
            </a:pPr>
            <a:r>
              <a:t>Analysis status &amp; metrics</a:t>
            </a:r>
          </a:p>
          <a:p>
            <a:pPr>
              <a:spcAft>
                <a:spcPts val="200"/>
              </a:spcAft>
              <a:defRPr sz="1100">
                <a:solidFill>
                  <a:srgbClr val="333333"/>
                </a:solidFill>
                <a:latin typeface="Calibri"/>
              </a:defRPr>
            </a:pPr>
            <a:r>
              <a:t>Plasmid count</a:t>
            </a:r>
          </a:p>
          <a:p>
            <a:pPr>
              <a:spcAft>
                <a:spcPts val="200"/>
              </a:spcAft>
              <a:defRPr sz="1100">
                <a:solidFill>
                  <a:srgbClr val="333333"/>
                </a:solidFill>
                <a:latin typeface="Calibri"/>
              </a:defRPr>
            </a:pPr>
            <a:r>
              <a:t>Unique pLIN codes</a:t>
            </a:r>
          </a:p>
          <a:p>
            <a:pPr>
              <a:spcAft>
                <a:spcPts val="200"/>
              </a:spcAft>
              <a:defRPr sz="1100">
                <a:solidFill>
                  <a:srgbClr val="333333"/>
                </a:solidFill>
                <a:latin typeface="Calibri"/>
              </a:defRPr>
            </a:pPr>
            <a:r>
              <a:t>Detected Inc groups</a:t>
            </a:r>
          </a:p>
          <a:p>
            <a:pPr>
              <a:spcAft>
                <a:spcPts val="200"/>
              </a:spcAft>
              <a:defRPr sz="1100">
                <a:solidFill>
                  <a:srgbClr val="333333"/>
                </a:solidFill>
                <a:latin typeface="Calibri"/>
              </a:defRPr>
            </a:pPr>
          </a:p>
          <a:p>
            <a:pPr>
              <a:spcAft>
                <a:spcPts val="200"/>
              </a:spcAft>
              <a:defRPr sz="1100">
                <a:solidFill>
                  <a:srgbClr val="333333"/>
                </a:solidFill>
                <a:latin typeface="Calibri"/>
              </a:defRPr>
            </a:pPr>
            <a:r>
              <a:t>🔄 Clear &amp; Reset</a:t>
            </a:r>
          </a:p>
          <a:p>
            <a:pPr>
              <a:spcAft>
                <a:spcPts val="200"/>
              </a:spcAft>
              <a:defRPr sz="1100">
                <a:solidFill>
                  <a:srgbClr val="333333"/>
                </a:solidFill>
                <a:latin typeface="Calibri"/>
              </a:defRPr>
            </a:pPr>
            <a:r>
              <a:t>📂 New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Project Structure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File organization and data flow</a:t>
            </a:r>
          </a:p>
        </p:txBody>
      </p:sp>
      <p:sp>
        <p:nvSpPr>
          <p:cNvPr id="5" name="TextBox 4"/>
          <p:cNvSpPr txBox="1"/>
          <p:nvPr/>
        </p:nvSpPr>
        <p:spPr>
          <a:xfrm>
            <a:off x="457200" y="1463040"/>
            <a:ext cx="3657600" cy="457200"/>
          </a:xfrm>
          <a:prstGeom prst="rect">
            <a:avLst/>
          </a:prstGeom>
          <a:noFill/>
        </p:spPr>
        <p:txBody>
          <a:bodyPr wrap="square">
            <a:spAutoFit/>
          </a:bodyPr>
          <a:lstStyle/>
          <a:p>
            <a:pPr algn="l">
              <a:defRPr sz="1800" b="1">
                <a:solidFill>
                  <a:srgbClr val="0D47A1"/>
                </a:solidFill>
                <a:latin typeface="Calibri"/>
              </a:defRPr>
            </a:pPr>
            <a:r>
              <a:t>Python Scripts</a:t>
            </a:r>
          </a:p>
        </p:txBody>
      </p:sp>
      <p:sp>
        <p:nvSpPr>
          <p:cNvPr id="6" name="Oval 5"/>
          <p:cNvSpPr/>
          <p:nvPr/>
        </p:nvSpPr>
        <p:spPr>
          <a:xfrm>
            <a:off x="548640" y="1993392"/>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828800" cy="320040"/>
          </a:xfrm>
          <a:prstGeom prst="rect">
            <a:avLst/>
          </a:prstGeom>
          <a:noFill/>
        </p:spPr>
        <p:txBody>
          <a:bodyPr wrap="square">
            <a:spAutoFit/>
          </a:bodyPr>
          <a:lstStyle/>
          <a:p>
            <a:pPr algn="l">
              <a:defRPr sz="1100" b="1">
                <a:solidFill>
                  <a:srgbClr val="333333"/>
                </a:solidFill>
                <a:latin typeface="Consolas"/>
              </a:defRPr>
            </a:pPr>
            <a:r>
              <a:t>plin_app.py</a:t>
            </a:r>
          </a:p>
        </p:txBody>
      </p:sp>
      <p:sp>
        <p:nvSpPr>
          <p:cNvPr id="8" name="TextBox 7"/>
          <p:cNvSpPr txBox="1"/>
          <p:nvPr/>
        </p:nvSpPr>
        <p:spPr>
          <a:xfrm>
            <a:off x="2743200" y="1920240"/>
            <a:ext cx="1828800" cy="320040"/>
          </a:xfrm>
          <a:prstGeom prst="rect">
            <a:avLst/>
          </a:prstGeom>
          <a:noFill/>
        </p:spPr>
        <p:txBody>
          <a:bodyPr wrap="square">
            <a:spAutoFit/>
          </a:bodyPr>
          <a:lstStyle/>
          <a:p>
            <a:pPr algn="l">
              <a:defRPr sz="1000" b="0">
                <a:solidFill>
                  <a:srgbClr val="757575"/>
                </a:solidFill>
                <a:latin typeface="Calibri"/>
              </a:defRPr>
            </a:pPr>
            <a:r>
              <a:t>Streamlit GUI (main app)</a:t>
            </a:r>
          </a:p>
        </p:txBody>
      </p:sp>
      <p:sp>
        <p:nvSpPr>
          <p:cNvPr id="9" name="Oval 8"/>
          <p:cNvSpPr/>
          <p:nvPr/>
        </p:nvSpPr>
        <p:spPr>
          <a:xfrm>
            <a:off x="548640" y="2414016"/>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40864"/>
            <a:ext cx="1828800" cy="320040"/>
          </a:xfrm>
          <a:prstGeom prst="rect">
            <a:avLst/>
          </a:prstGeom>
          <a:noFill/>
        </p:spPr>
        <p:txBody>
          <a:bodyPr wrap="square">
            <a:spAutoFit/>
          </a:bodyPr>
          <a:lstStyle/>
          <a:p>
            <a:pPr algn="l">
              <a:defRPr sz="1100" b="1">
                <a:solidFill>
                  <a:srgbClr val="333333"/>
                </a:solidFill>
                <a:latin typeface="Consolas"/>
              </a:defRPr>
            </a:pPr>
            <a:r>
              <a:t>assign_pLIN.py</a:t>
            </a:r>
          </a:p>
        </p:txBody>
      </p:sp>
      <p:sp>
        <p:nvSpPr>
          <p:cNvPr id="11" name="TextBox 10"/>
          <p:cNvSpPr txBox="1"/>
          <p:nvPr/>
        </p:nvSpPr>
        <p:spPr>
          <a:xfrm>
            <a:off x="2743200" y="2340864"/>
            <a:ext cx="1828800" cy="320040"/>
          </a:xfrm>
          <a:prstGeom prst="rect">
            <a:avLst/>
          </a:prstGeom>
          <a:noFill/>
        </p:spPr>
        <p:txBody>
          <a:bodyPr wrap="square">
            <a:spAutoFit/>
          </a:bodyPr>
          <a:lstStyle/>
          <a:p>
            <a:pPr algn="l">
              <a:defRPr sz="1000" b="0">
                <a:solidFill>
                  <a:srgbClr val="757575"/>
                </a:solidFill>
                <a:latin typeface="Calibri"/>
              </a:defRPr>
            </a:pPr>
            <a:r>
              <a:t>Batch pLIN assignment</a:t>
            </a:r>
          </a:p>
        </p:txBody>
      </p:sp>
      <p:sp>
        <p:nvSpPr>
          <p:cNvPr id="12" name="Oval 11"/>
          <p:cNvSpPr/>
          <p:nvPr/>
        </p:nvSpPr>
        <p:spPr>
          <a:xfrm>
            <a:off x="548640" y="2834640"/>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61488"/>
            <a:ext cx="1828800" cy="320040"/>
          </a:xfrm>
          <a:prstGeom prst="rect">
            <a:avLst/>
          </a:prstGeom>
          <a:noFill/>
        </p:spPr>
        <p:txBody>
          <a:bodyPr wrap="square">
            <a:spAutoFit/>
          </a:bodyPr>
          <a:lstStyle/>
          <a:p>
            <a:pPr algn="l">
              <a:defRPr sz="1100" b="1">
                <a:solidFill>
                  <a:srgbClr val="333333"/>
                </a:solidFill>
                <a:latin typeface="Consolas"/>
              </a:defRPr>
            </a:pPr>
            <a:r>
              <a:t>integrate_pLIN_AMR.py</a:t>
            </a:r>
          </a:p>
        </p:txBody>
      </p:sp>
      <p:sp>
        <p:nvSpPr>
          <p:cNvPr id="14" name="TextBox 13"/>
          <p:cNvSpPr txBox="1"/>
          <p:nvPr/>
        </p:nvSpPr>
        <p:spPr>
          <a:xfrm>
            <a:off x="2743200" y="2761488"/>
            <a:ext cx="1828800" cy="320040"/>
          </a:xfrm>
          <a:prstGeom prst="rect">
            <a:avLst/>
          </a:prstGeom>
          <a:noFill/>
        </p:spPr>
        <p:txBody>
          <a:bodyPr wrap="square">
            <a:spAutoFit/>
          </a:bodyPr>
          <a:lstStyle/>
          <a:p>
            <a:pPr algn="l">
              <a:defRPr sz="1000" b="0">
                <a:solidFill>
                  <a:srgbClr val="757575"/>
                </a:solidFill>
                <a:latin typeface="Calibri"/>
              </a:defRPr>
            </a:pPr>
            <a:r>
              <a:t>pLIN + AMR integration</a:t>
            </a:r>
          </a:p>
        </p:txBody>
      </p:sp>
      <p:sp>
        <p:nvSpPr>
          <p:cNvPr id="15" name="Oval 14"/>
          <p:cNvSpPr/>
          <p:nvPr/>
        </p:nvSpPr>
        <p:spPr>
          <a:xfrm>
            <a:off x="548640" y="3255264"/>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82112"/>
            <a:ext cx="1828800" cy="320040"/>
          </a:xfrm>
          <a:prstGeom prst="rect">
            <a:avLst/>
          </a:prstGeom>
          <a:noFill/>
        </p:spPr>
        <p:txBody>
          <a:bodyPr wrap="square">
            <a:spAutoFit/>
          </a:bodyPr>
          <a:lstStyle/>
          <a:p>
            <a:pPr algn="l">
              <a:defRPr sz="1100" b="1">
                <a:solidFill>
                  <a:srgbClr val="333333"/>
                </a:solidFill>
                <a:latin typeface="Consolas"/>
              </a:defRPr>
            </a:pPr>
            <a:r>
              <a:t>generate_figures.py</a:t>
            </a:r>
          </a:p>
        </p:txBody>
      </p:sp>
      <p:sp>
        <p:nvSpPr>
          <p:cNvPr id="17" name="TextBox 16"/>
          <p:cNvSpPr txBox="1"/>
          <p:nvPr/>
        </p:nvSpPr>
        <p:spPr>
          <a:xfrm>
            <a:off x="2743200" y="3182112"/>
            <a:ext cx="1828800" cy="320040"/>
          </a:xfrm>
          <a:prstGeom prst="rect">
            <a:avLst/>
          </a:prstGeom>
          <a:noFill/>
        </p:spPr>
        <p:txBody>
          <a:bodyPr wrap="square">
            <a:spAutoFit/>
          </a:bodyPr>
          <a:lstStyle/>
          <a:p>
            <a:pPr algn="l">
              <a:defRPr sz="1000" b="0">
                <a:solidFill>
                  <a:srgbClr val="757575"/>
                </a:solidFill>
                <a:latin typeface="Calibri"/>
              </a:defRPr>
            </a:pPr>
            <a:r>
              <a:t>Publication figures</a:t>
            </a:r>
          </a:p>
        </p:txBody>
      </p:sp>
      <p:sp>
        <p:nvSpPr>
          <p:cNvPr id="18" name="Oval 17"/>
          <p:cNvSpPr/>
          <p:nvPr/>
        </p:nvSpPr>
        <p:spPr>
          <a:xfrm>
            <a:off x="548640" y="3675888"/>
            <a:ext cx="182880" cy="18288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2736"/>
            <a:ext cx="1828800" cy="320040"/>
          </a:xfrm>
          <a:prstGeom prst="rect">
            <a:avLst/>
          </a:prstGeom>
          <a:noFill/>
        </p:spPr>
        <p:txBody>
          <a:bodyPr wrap="square">
            <a:spAutoFit/>
          </a:bodyPr>
          <a:lstStyle/>
          <a:p>
            <a:pPr algn="l">
              <a:defRPr sz="1100" b="1">
                <a:solidFill>
                  <a:srgbClr val="333333"/>
                </a:solidFill>
                <a:latin typeface="Consolas"/>
              </a:defRPr>
            </a:pPr>
            <a:r>
              <a:t>build_inc_centroids.py</a:t>
            </a:r>
          </a:p>
        </p:txBody>
      </p:sp>
      <p:sp>
        <p:nvSpPr>
          <p:cNvPr id="20" name="TextBox 19"/>
          <p:cNvSpPr txBox="1"/>
          <p:nvPr/>
        </p:nvSpPr>
        <p:spPr>
          <a:xfrm>
            <a:off x="2743200" y="3602736"/>
            <a:ext cx="1828800" cy="320040"/>
          </a:xfrm>
          <a:prstGeom prst="rect">
            <a:avLst/>
          </a:prstGeom>
          <a:noFill/>
        </p:spPr>
        <p:txBody>
          <a:bodyPr wrap="square">
            <a:spAutoFit/>
          </a:bodyPr>
          <a:lstStyle/>
          <a:p>
            <a:pPr algn="l">
              <a:defRPr sz="1000" b="0">
                <a:solidFill>
                  <a:srgbClr val="757575"/>
                </a:solidFill>
                <a:latin typeface="Calibri"/>
              </a:defRPr>
            </a:pPr>
            <a:r>
              <a:t>Train Inc classifier</a:t>
            </a:r>
          </a:p>
        </p:txBody>
      </p:sp>
      <p:sp>
        <p:nvSpPr>
          <p:cNvPr id="21" name="Oval 20"/>
          <p:cNvSpPr/>
          <p:nvPr/>
        </p:nvSpPr>
        <p:spPr>
          <a:xfrm>
            <a:off x="548640" y="4096512"/>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023360"/>
            <a:ext cx="1828800" cy="320040"/>
          </a:xfrm>
          <a:prstGeom prst="rect">
            <a:avLst/>
          </a:prstGeom>
          <a:noFill/>
        </p:spPr>
        <p:txBody>
          <a:bodyPr wrap="square">
            <a:spAutoFit/>
          </a:bodyPr>
          <a:lstStyle/>
          <a:p>
            <a:pPr algn="l">
              <a:defRPr sz="1100" b="1">
                <a:solidFill>
                  <a:srgbClr val="333333"/>
                </a:solidFill>
                <a:latin typeface="Consolas"/>
              </a:defRPr>
            </a:pPr>
            <a:r>
              <a:t>test_pLIN.py</a:t>
            </a:r>
          </a:p>
        </p:txBody>
      </p:sp>
      <p:sp>
        <p:nvSpPr>
          <p:cNvPr id="23" name="TextBox 22"/>
          <p:cNvSpPr txBox="1"/>
          <p:nvPr/>
        </p:nvSpPr>
        <p:spPr>
          <a:xfrm>
            <a:off x="2743200" y="4023360"/>
            <a:ext cx="1828800" cy="320040"/>
          </a:xfrm>
          <a:prstGeom prst="rect">
            <a:avLst/>
          </a:prstGeom>
          <a:noFill/>
        </p:spPr>
        <p:txBody>
          <a:bodyPr wrap="square">
            <a:spAutoFit/>
          </a:bodyPr>
          <a:lstStyle/>
          <a:p>
            <a:pPr algn="l">
              <a:defRPr sz="1000" b="0">
                <a:solidFill>
                  <a:srgbClr val="757575"/>
                </a:solidFill>
                <a:latin typeface="Calibri"/>
              </a:defRPr>
            </a:pPr>
            <a:r>
              <a:t>Test pLIN on 22 plasmids</a:t>
            </a:r>
          </a:p>
        </p:txBody>
      </p:sp>
      <p:sp>
        <p:nvSpPr>
          <p:cNvPr id="24" name="Oval 23"/>
          <p:cNvSpPr/>
          <p:nvPr/>
        </p:nvSpPr>
        <p:spPr>
          <a:xfrm>
            <a:off x="548640" y="4517136"/>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443984"/>
            <a:ext cx="1828800" cy="320040"/>
          </a:xfrm>
          <a:prstGeom prst="rect">
            <a:avLst/>
          </a:prstGeom>
          <a:noFill/>
        </p:spPr>
        <p:txBody>
          <a:bodyPr wrap="square">
            <a:spAutoFit/>
          </a:bodyPr>
          <a:lstStyle/>
          <a:p>
            <a:pPr algn="l">
              <a:defRPr sz="1100" b="1">
                <a:solidFill>
                  <a:srgbClr val="333333"/>
                </a:solidFill>
                <a:latin typeface="Consolas"/>
              </a:defRPr>
            </a:pPr>
            <a:r>
              <a:t>test_cladogram.py</a:t>
            </a:r>
          </a:p>
        </p:txBody>
      </p:sp>
      <p:sp>
        <p:nvSpPr>
          <p:cNvPr id="26" name="TextBox 25"/>
          <p:cNvSpPr txBox="1"/>
          <p:nvPr/>
        </p:nvSpPr>
        <p:spPr>
          <a:xfrm>
            <a:off x="2743200" y="4443984"/>
            <a:ext cx="1828800" cy="320040"/>
          </a:xfrm>
          <a:prstGeom prst="rect">
            <a:avLst/>
          </a:prstGeom>
          <a:noFill/>
        </p:spPr>
        <p:txBody>
          <a:bodyPr wrap="square">
            <a:spAutoFit/>
          </a:bodyPr>
          <a:lstStyle/>
          <a:p>
            <a:pPr algn="l">
              <a:defRPr sz="1000" b="0">
                <a:solidFill>
                  <a:srgbClr val="757575"/>
                </a:solidFill>
                <a:latin typeface="Calibri"/>
              </a:defRPr>
            </a:pPr>
            <a:r>
              <a:t>Test cladogram generation</a:t>
            </a:r>
          </a:p>
        </p:txBody>
      </p:sp>
      <p:sp>
        <p:nvSpPr>
          <p:cNvPr id="27" name="Oval 26"/>
          <p:cNvSpPr/>
          <p:nvPr/>
        </p:nvSpPr>
        <p:spPr>
          <a:xfrm>
            <a:off x="548640" y="4937760"/>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64608"/>
            <a:ext cx="1828800" cy="320040"/>
          </a:xfrm>
          <a:prstGeom prst="rect">
            <a:avLst/>
          </a:prstGeom>
          <a:noFill/>
        </p:spPr>
        <p:txBody>
          <a:bodyPr wrap="square">
            <a:spAutoFit/>
          </a:bodyPr>
          <a:lstStyle/>
          <a:p>
            <a:pPr algn="l">
              <a:defRPr sz="1100" b="1">
                <a:solidFill>
                  <a:srgbClr val="333333"/>
                </a:solidFill>
                <a:latin typeface="Consolas"/>
              </a:defRPr>
            </a:pPr>
            <a:r>
              <a:t>test_integrate_and_cladogram.py</a:t>
            </a:r>
          </a:p>
        </p:txBody>
      </p:sp>
      <p:sp>
        <p:nvSpPr>
          <p:cNvPr id="29" name="TextBox 28"/>
          <p:cNvSpPr txBox="1"/>
          <p:nvPr/>
        </p:nvSpPr>
        <p:spPr>
          <a:xfrm>
            <a:off x="2743200" y="4864608"/>
            <a:ext cx="1828800" cy="320040"/>
          </a:xfrm>
          <a:prstGeom prst="rect">
            <a:avLst/>
          </a:prstGeom>
          <a:noFill/>
        </p:spPr>
        <p:txBody>
          <a:bodyPr wrap="square">
            <a:spAutoFit/>
          </a:bodyPr>
          <a:lstStyle/>
          <a:p>
            <a:pPr algn="l">
              <a:defRPr sz="1000" b="0">
                <a:solidFill>
                  <a:srgbClr val="757575"/>
                </a:solidFill>
                <a:latin typeface="Calibri"/>
              </a:defRPr>
            </a:pPr>
            <a:r>
              <a:t>Test AMR + cladogram</a:t>
            </a:r>
          </a:p>
        </p:txBody>
      </p:sp>
      <p:sp>
        <p:nvSpPr>
          <p:cNvPr id="30" name="TextBox 29"/>
          <p:cNvSpPr txBox="1"/>
          <p:nvPr/>
        </p:nvSpPr>
        <p:spPr>
          <a:xfrm>
            <a:off x="4754880" y="1463040"/>
            <a:ext cx="3200400" cy="457200"/>
          </a:xfrm>
          <a:prstGeom prst="rect">
            <a:avLst/>
          </a:prstGeom>
          <a:noFill/>
        </p:spPr>
        <p:txBody>
          <a:bodyPr wrap="square">
            <a:spAutoFit/>
          </a:bodyPr>
          <a:lstStyle/>
          <a:p>
            <a:pPr algn="l">
              <a:defRPr sz="1800" b="1">
                <a:solidFill>
                  <a:srgbClr val="0D47A1"/>
                </a:solidFill>
                <a:latin typeface="Calibri"/>
              </a:defRPr>
            </a:pPr>
            <a:r>
              <a:t>Data &amp; Training</a:t>
            </a:r>
          </a:p>
        </p:txBody>
      </p:sp>
      <p:sp>
        <p:nvSpPr>
          <p:cNvPr id="31" name="TextBox 30"/>
          <p:cNvSpPr txBox="1"/>
          <p:nvPr/>
        </p:nvSpPr>
        <p:spPr>
          <a:xfrm>
            <a:off x="4754880" y="1920240"/>
            <a:ext cx="3474720" cy="4114800"/>
          </a:xfrm>
          <a:prstGeom prst="rect">
            <a:avLst/>
          </a:prstGeom>
          <a:noFill/>
        </p:spPr>
        <p:txBody>
          <a:bodyPr wrap="square">
            <a:spAutoFit/>
          </a:bodyPr>
          <a:lstStyle/>
          <a:p>
            <a:pPr>
              <a:spcAft>
                <a:spcPts val="200"/>
              </a:spcAft>
              <a:defRPr sz="1100">
                <a:solidFill>
                  <a:srgbClr val="333333"/>
                </a:solidFill>
                <a:latin typeface="Consolas"/>
              </a:defRPr>
            </a:pPr>
            <a:r>
              <a:t>plasmid_sequences_for_training/</a:t>
            </a:r>
          </a:p>
          <a:p>
            <a:pPr>
              <a:spcAft>
                <a:spcPts val="200"/>
              </a:spcAft>
              <a:defRPr sz="1100">
                <a:solidFill>
                  <a:srgbClr val="333333"/>
                </a:solidFill>
                <a:latin typeface="Consolas"/>
              </a:defRPr>
            </a:pPr>
            <a:r>
              <a:t>  ├─ IncFII/fastas/  (4,581 files)</a:t>
            </a:r>
          </a:p>
          <a:p>
            <a:pPr>
              <a:spcAft>
                <a:spcPts val="200"/>
              </a:spcAft>
              <a:defRPr sz="1100">
                <a:solidFill>
                  <a:srgbClr val="333333"/>
                </a:solidFill>
                <a:latin typeface="Consolas"/>
              </a:defRPr>
            </a:pPr>
            <a:r>
              <a:t>  ├─ IncN/fastas/    (1,064 files)</a:t>
            </a:r>
          </a:p>
          <a:p>
            <a:pPr>
              <a:spcAft>
                <a:spcPts val="200"/>
              </a:spcAft>
              <a:defRPr sz="1100">
                <a:solidFill>
                  <a:srgbClr val="333333"/>
                </a:solidFill>
                <a:latin typeface="Consolas"/>
              </a:defRPr>
            </a:pPr>
            <a:r>
              <a:t>  └─ IncX1/fastas/   (701 files)</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data/</a:t>
            </a:r>
          </a:p>
          <a:p>
            <a:pPr>
              <a:spcAft>
                <a:spcPts val="200"/>
              </a:spcAft>
              <a:defRPr sz="1100">
                <a:solidFill>
                  <a:srgbClr val="333333"/>
                </a:solidFill>
                <a:latin typeface="Consolas"/>
              </a:defRPr>
            </a:pPr>
            <a:r>
              <a:t>  ├─ inc_classifier.npz (4.3 MB)</a:t>
            </a:r>
          </a:p>
          <a:p>
            <a:pPr>
              <a:spcAft>
                <a:spcPts val="200"/>
              </a:spcAft>
              <a:defRPr sz="1100">
                <a:solidFill>
                  <a:srgbClr val="333333"/>
                </a:solidFill>
                <a:latin typeface="Consolas"/>
              </a:defRPr>
            </a:pPr>
            <a:r>
              <a:t>  └─ inc_centroids.npz</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test_plasmids/</a:t>
            </a:r>
          </a:p>
          <a:p>
            <a:pPr>
              <a:spcAft>
                <a:spcPts val="200"/>
              </a:spcAft>
              <a:defRPr sz="1100">
                <a:solidFill>
                  <a:srgbClr val="333333"/>
                </a:solidFill>
                <a:latin typeface="Consolas"/>
              </a:defRPr>
            </a:pPr>
            <a:r>
              <a:t>  └─ IncX/  (22 FASTA files)</a:t>
            </a:r>
          </a:p>
        </p:txBody>
      </p:sp>
      <p:sp>
        <p:nvSpPr>
          <p:cNvPr id="32" name="TextBox 31"/>
          <p:cNvSpPr txBox="1"/>
          <p:nvPr/>
        </p:nvSpPr>
        <p:spPr>
          <a:xfrm>
            <a:off x="8686800" y="1463040"/>
            <a:ext cx="3200400" cy="457200"/>
          </a:xfrm>
          <a:prstGeom prst="rect">
            <a:avLst/>
          </a:prstGeom>
          <a:noFill/>
        </p:spPr>
        <p:txBody>
          <a:bodyPr wrap="square">
            <a:spAutoFit/>
          </a:bodyPr>
          <a:lstStyle/>
          <a:p>
            <a:pPr algn="l">
              <a:defRPr sz="1800" b="1">
                <a:solidFill>
                  <a:srgbClr val="0D47A1"/>
                </a:solidFill>
                <a:latin typeface="Calibri"/>
              </a:defRPr>
            </a:pPr>
            <a:r>
              <a:t>Output</a:t>
            </a:r>
          </a:p>
        </p:txBody>
      </p:sp>
      <p:sp>
        <p:nvSpPr>
          <p:cNvPr id="33" name="TextBox 32"/>
          <p:cNvSpPr txBox="1"/>
          <p:nvPr/>
        </p:nvSpPr>
        <p:spPr>
          <a:xfrm>
            <a:off x="8686800" y="1920240"/>
            <a:ext cx="3200400" cy="4114800"/>
          </a:xfrm>
          <a:prstGeom prst="rect">
            <a:avLst/>
          </a:prstGeom>
          <a:noFill/>
        </p:spPr>
        <p:txBody>
          <a:bodyPr wrap="square">
            <a:spAutoFit/>
          </a:bodyPr>
          <a:lstStyle/>
          <a:p>
            <a:pPr>
              <a:spcAft>
                <a:spcPts val="200"/>
              </a:spcAft>
              <a:defRPr sz="1100">
                <a:solidFill>
                  <a:srgbClr val="333333"/>
                </a:solidFill>
                <a:latin typeface="Consolas"/>
              </a:defRPr>
            </a:pPr>
            <a:r>
              <a:t>output/</a:t>
            </a:r>
          </a:p>
          <a:p>
            <a:pPr>
              <a:spcAft>
                <a:spcPts val="200"/>
              </a:spcAft>
              <a:defRPr sz="1100">
                <a:solidFill>
                  <a:srgbClr val="333333"/>
                </a:solidFill>
                <a:latin typeface="Consolas"/>
              </a:defRPr>
            </a:pPr>
            <a:r>
              <a:t>  ├─ pLIN_assignments.tsv</a:t>
            </a:r>
          </a:p>
          <a:p>
            <a:pPr>
              <a:spcAft>
                <a:spcPts val="200"/>
              </a:spcAft>
              <a:defRPr sz="1100">
                <a:solidFill>
                  <a:srgbClr val="333333"/>
                </a:solidFill>
                <a:latin typeface="Consolas"/>
              </a:defRPr>
            </a:pPr>
            <a:r>
              <a:t>  ├─ amrfinder/</a:t>
            </a:r>
          </a:p>
          <a:p>
            <a:pPr>
              <a:spcAft>
                <a:spcPts val="200"/>
              </a:spcAft>
              <a:defRPr sz="1100">
                <a:solidFill>
                  <a:srgbClr val="333333"/>
                </a:solidFill>
                <a:latin typeface="Consolas"/>
              </a:defRPr>
            </a:pPr>
            <a:r>
              <a:t>  │   └─ amrfinder_all_plasmids.tsv</a:t>
            </a:r>
          </a:p>
          <a:p>
            <a:pPr>
              <a:spcAft>
                <a:spcPts val="200"/>
              </a:spcAft>
              <a:defRPr sz="1100">
                <a:solidFill>
                  <a:srgbClr val="333333"/>
                </a:solidFill>
                <a:latin typeface="Consolas"/>
              </a:defRPr>
            </a:pPr>
            <a:r>
              <a:t>  ├─ integrated/</a:t>
            </a:r>
          </a:p>
          <a:p>
            <a:pPr>
              <a:spcAft>
                <a:spcPts val="200"/>
              </a:spcAft>
              <a:defRPr sz="1100">
                <a:solidFill>
                  <a:srgbClr val="333333"/>
                </a:solidFill>
                <a:latin typeface="Consolas"/>
              </a:defRPr>
            </a:pPr>
            <a:r>
              <a:t>  │   ├─ pLIN_AMR_integrated.tsv</a:t>
            </a:r>
          </a:p>
          <a:p>
            <a:pPr>
              <a:spcAft>
                <a:spcPts val="200"/>
              </a:spcAft>
              <a:defRPr sz="1100">
                <a:solidFill>
                  <a:srgbClr val="333333"/>
                </a:solidFill>
                <a:latin typeface="Consolas"/>
              </a:defRPr>
            </a:pPr>
            <a:r>
              <a:t>  │   └─ pLIN_lineage_AMR_summary.tsv</a:t>
            </a:r>
          </a:p>
          <a:p>
            <a:pPr>
              <a:spcAft>
                <a:spcPts val="200"/>
              </a:spcAft>
              <a:defRPr sz="1100">
                <a:solidFill>
                  <a:srgbClr val="333333"/>
                </a:solidFill>
                <a:latin typeface="Consolas"/>
              </a:defRPr>
            </a:pPr>
            <a:r>
              <a:t>  ├─ figures/ (7 figs, PNG+PDF)</a:t>
            </a:r>
          </a:p>
          <a:p>
            <a:pPr>
              <a:spcAft>
                <a:spcPts val="200"/>
              </a:spcAft>
              <a:defRPr sz="1100">
                <a:solidFill>
                  <a:srgbClr val="333333"/>
                </a:solidFill>
                <a:latin typeface="Consolas"/>
              </a:defRPr>
            </a:pPr>
            <a:r>
              <a:t>  └─ test/ (test results)</a:t>
            </a:r>
          </a:p>
        </p:txBody>
      </p:sp>
      <p:sp>
        <p:nvSpPr>
          <p:cNvPr id="34" name="Rounded Rectangle 33"/>
          <p:cNvSpPr/>
          <p:nvPr/>
        </p:nvSpPr>
        <p:spPr>
          <a:xfrm>
            <a:off x="457200" y="5486400"/>
            <a:ext cx="11338560" cy="91440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532120"/>
            <a:ext cx="2743200" cy="320040"/>
          </a:xfrm>
          <a:prstGeom prst="rect">
            <a:avLst/>
          </a:prstGeom>
          <a:noFill/>
        </p:spPr>
        <p:txBody>
          <a:bodyPr wrap="square">
            <a:spAutoFit/>
          </a:bodyPr>
          <a:lstStyle/>
          <a:p>
            <a:pPr algn="l">
              <a:defRPr sz="1300" b="1">
                <a:solidFill>
                  <a:srgbClr val="333333"/>
                </a:solidFill>
                <a:latin typeface="Calibri"/>
              </a:defRPr>
            </a:pPr>
            <a:r>
              <a:t>Automation Scripts:</a:t>
            </a:r>
          </a:p>
        </p:txBody>
      </p:sp>
      <p:sp>
        <p:nvSpPr>
          <p:cNvPr id="36" name="TextBox 35"/>
          <p:cNvSpPr txBox="1"/>
          <p:nvPr/>
        </p:nvSpPr>
        <p:spPr>
          <a:xfrm>
            <a:off x="640080" y="5806440"/>
            <a:ext cx="10515600" cy="548640"/>
          </a:xfrm>
          <a:prstGeom prst="rect">
            <a:avLst/>
          </a:prstGeom>
          <a:noFill/>
        </p:spPr>
        <p:txBody>
          <a:bodyPr wrap="square">
            <a:spAutoFit/>
          </a:bodyPr>
          <a:lstStyle/>
          <a:p>
            <a:pPr>
              <a:spcAft>
                <a:spcPts val="200"/>
              </a:spcAft>
              <a:defRPr sz="1100">
                <a:solidFill>
                  <a:srgbClr val="333333"/>
                </a:solidFill>
                <a:latin typeface="Consolas"/>
              </a:defRPr>
            </a:pPr>
            <a:r>
              <a:t>setup.sh / setup.bat  —  Create venv &amp; install deps</a:t>
            </a:r>
          </a:p>
          <a:p>
            <a:pPr>
              <a:spcAft>
                <a:spcPts val="200"/>
              </a:spcAft>
              <a:defRPr sz="1100">
                <a:solidFill>
                  <a:srgbClr val="333333"/>
                </a:solidFill>
                <a:latin typeface="Consolas"/>
              </a:defRPr>
            </a:pPr>
            <a:r>
              <a:t>run_all.sh / run_all.bat  —  Full pipeline: pLIN → AMR → Integration → Figures</a:t>
            </a:r>
          </a:p>
          <a:p>
            <a:pPr>
              <a:spcAft>
                <a:spcPts val="200"/>
              </a:spcAft>
              <a:defRPr sz="1100">
                <a:solidFill>
                  <a:srgbClr val="333333"/>
                </a:solidFill>
                <a:latin typeface="Consolas"/>
              </a:defRPr>
            </a:pPr>
            <a:r>
              <a:t>run_amrfinder_all.sh  —  Batch AMRFinderPlus on all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Technology Stack</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Core dependencies and tools</a:t>
            </a:r>
          </a:p>
        </p:txBody>
      </p:sp>
      <p:sp>
        <p:nvSpPr>
          <p:cNvPr id="5" name="Rounded Rectangle 4"/>
          <p:cNvSpPr/>
          <p:nvPr/>
        </p:nvSpPr>
        <p:spPr>
          <a:xfrm>
            <a:off x="457200" y="1463040"/>
            <a:ext cx="274320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90472"/>
            <a:ext cx="2743200" cy="365760"/>
          </a:xfrm>
          <a:prstGeom prst="rect">
            <a:avLst/>
          </a:prstGeom>
          <a:noFill/>
        </p:spPr>
        <p:txBody>
          <a:bodyPr wrap="square">
            <a:spAutoFit/>
          </a:bodyPr>
          <a:lstStyle/>
          <a:p>
            <a:pPr algn="ctr">
              <a:defRPr sz="1400" b="1">
                <a:solidFill>
                  <a:srgbClr val="FFFFFF"/>
                </a:solidFill>
                <a:latin typeface="Calibri"/>
              </a:defRPr>
            </a:pPr>
            <a:r>
              <a:t>Core Scientific</a:t>
            </a:r>
          </a:p>
        </p:txBody>
      </p:sp>
      <p:sp>
        <p:nvSpPr>
          <p:cNvPr id="7" name="Rounded Rectangle 6"/>
          <p:cNvSpPr/>
          <p:nvPr/>
        </p:nvSpPr>
        <p:spPr>
          <a:xfrm>
            <a:off x="457200" y="21031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30552"/>
            <a:ext cx="2560320" cy="274320"/>
          </a:xfrm>
          <a:prstGeom prst="rect">
            <a:avLst/>
          </a:prstGeom>
          <a:noFill/>
        </p:spPr>
        <p:txBody>
          <a:bodyPr wrap="square">
            <a:spAutoFit/>
          </a:bodyPr>
          <a:lstStyle/>
          <a:p>
            <a:pPr algn="l">
              <a:defRPr sz="1200" b="1">
                <a:solidFill>
                  <a:srgbClr val="1E88E5"/>
                </a:solidFill>
                <a:latin typeface="Consolas"/>
              </a:defRPr>
            </a:pPr>
            <a:r>
              <a:t>NumPy ≥ 2.0</a:t>
            </a:r>
          </a:p>
        </p:txBody>
      </p:sp>
      <p:sp>
        <p:nvSpPr>
          <p:cNvPr id="9" name="TextBox 8"/>
          <p:cNvSpPr txBox="1"/>
          <p:nvPr/>
        </p:nvSpPr>
        <p:spPr>
          <a:xfrm>
            <a:off x="548640" y="2404872"/>
            <a:ext cx="2560320" cy="274320"/>
          </a:xfrm>
          <a:prstGeom prst="rect">
            <a:avLst/>
          </a:prstGeom>
          <a:noFill/>
        </p:spPr>
        <p:txBody>
          <a:bodyPr wrap="square">
            <a:spAutoFit/>
          </a:bodyPr>
          <a:lstStyle/>
          <a:p>
            <a:pPr algn="l">
              <a:defRPr sz="1000" b="0">
                <a:solidFill>
                  <a:srgbClr val="757575"/>
                </a:solidFill>
                <a:latin typeface="Calibri"/>
              </a:defRPr>
            </a:pPr>
            <a:r>
              <a:t>Array operations, k-mer vectors</a:t>
            </a:r>
          </a:p>
        </p:txBody>
      </p:sp>
      <p:sp>
        <p:nvSpPr>
          <p:cNvPr id="10" name="Rounded Rectangle 9"/>
          <p:cNvSpPr/>
          <p:nvPr/>
        </p:nvSpPr>
        <p:spPr>
          <a:xfrm>
            <a:off x="457200" y="27889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16352"/>
            <a:ext cx="2560320" cy="274320"/>
          </a:xfrm>
          <a:prstGeom prst="rect">
            <a:avLst/>
          </a:prstGeom>
          <a:noFill/>
        </p:spPr>
        <p:txBody>
          <a:bodyPr wrap="square">
            <a:spAutoFit/>
          </a:bodyPr>
          <a:lstStyle/>
          <a:p>
            <a:pPr algn="l">
              <a:defRPr sz="1200" b="1">
                <a:solidFill>
                  <a:srgbClr val="1E88E5"/>
                </a:solidFill>
                <a:latin typeface="Consolas"/>
              </a:defRPr>
            </a:pPr>
            <a:r>
              <a:t>Pandas ≥ 2.0</a:t>
            </a:r>
          </a:p>
        </p:txBody>
      </p:sp>
      <p:sp>
        <p:nvSpPr>
          <p:cNvPr id="12" name="TextBox 11"/>
          <p:cNvSpPr txBox="1"/>
          <p:nvPr/>
        </p:nvSpPr>
        <p:spPr>
          <a:xfrm>
            <a:off x="548640" y="3090672"/>
            <a:ext cx="2560320" cy="274320"/>
          </a:xfrm>
          <a:prstGeom prst="rect">
            <a:avLst/>
          </a:prstGeom>
          <a:noFill/>
        </p:spPr>
        <p:txBody>
          <a:bodyPr wrap="square">
            <a:spAutoFit/>
          </a:bodyPr>
          <a:lstStyle/>
          <a:p>
            <a:pPr algn="l">
              <a:defRPr sz="1000" b="0">
                <a:solidFill>
                  <a:srgbClr val="757575"/>
                </a:solidFill>
                <a:latin typeface="Calibri"/>
              </a:defRPr>
            </a:pPr>
            <a:r>
              <a:t>DataFrames, TSV I/O</a:t>
            </a:r>
          </a:p>
        </p:txBody>
      </p:sp>
      <p:sp>
        <p:nvSpPr>
          <p:cNvPr id="13" name="Rounded Rectangle 12"/>
          <p:cNvSpPr/>
          <p:nvPr/>
        </p:nvSpPr>
        <p:spPr>
          <a:xfrm>
            <a:off x="457200" y="34747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502152"/>
            <a:ext cx="2560320" cy="274320"/>
          </a:xfrm>
          <a:prstGeom prst="rect">
            <a:avLst/>
          </a:prstGeom>
          <a:noFill/>
        </p:spPr>
        <p:txBody>
          <a:bodyPr wrap="square">
            <a:spAutoFit/>
          </a:bodyPr>
          <a:lstStyle/>
          <a:p>
            <a:pPr algn="l">
              <a:defRPr sz="1200" b="1">
                <a:solidFill>
                  <a:srgbClr val="1E88E5"/>
                </a:solidFill>
                <a:latin typeface="Consolas"/>
              </a:defRPr>
            </a:pPr>
            <a:r>
              <a:t>SciPy ≥ 1.12</a:t>
            </a:r>
          </a:p>
        </p:txBody>
      </p:sp>
      <p:sp>
        <p:nvSpPr>
          <p:cNvPr id="15" name="TextBox 14"/>
          <p:cNvSpPr txBox="1"/>
          <p:nvPr/>
        </p:nvSpPr>
        <p:spPr>
          <a:xfrm>
            <a:off x="548640" y="3776472"/>
            <a:ext cx="2560320" cy="274320"/>
          </a:xfrm>
          <a:prstGeom prst="rect">
            <a:avLst/>
          </a:prstGeom>
          <a:noFill/>
        </p:spPr>
        <p:txBody>
          <a:bodyPr wrap="square">
            <a:spAutoFit/>
          </a:bodyPr>
          <a:lstStyle/>
          <a:p>
            <a:pPr algn="l">
              <a:defRPr sz="1000" b="0">
                <a:solidFill>
                  <a:srgbClr val="757575"/>
                </a:solidFill>
                <a:latin typeface="Calibri"/>
              </a:defRPr>
            </a:pPr>
            <a:r>
              <a:t>pdist, linkage, fcluster, dendrogram</a:t>
            </a:r>
          </a:p>
        </p:txBody>
      </p:sp>
      <p:sp>
        <p:nvSpPr>
          <p:cNvPr id="16" name="Rounded Rectangle 15"/>
          <p:cNvSpPr/>
          <p:nvPr/>
        </p:nvSpPr>
        <p:spPr>
          <a:xfrm>
            <a:off x="457200" y="41605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87952"/>
            <a:ext cx="2560320" cy="274320"/>
          </a:xfrm>
          <a:prstGeom prst="rect">
            <a:avLst/>
          </a:prstGeom>
          <a:noFill/>
        </p:spPr>
        <p:txBody>
          <a:bodyPr wrap="square">
            <a:spAutoFit/>
          </a:bodyPr>
          <a:lstStyle/>
          <a:p>
            <a:pPr algn="l">
              <a:defRPr sz="1200" b="1">
                <a:solidFill>
                  <a:srgbClr val="1E88E5"/>
                </a:solidFill>
                <a:latin typeface="Consolas"/>
              </a:defRPr>
            </a:pPr>
            <a:r>
              <a:t>BioPython ≥ 1.80</a:t>
            </a:r>
          </a:p>
        </p:txBody>
      </p:sp>
      <p:sp>
        <p:nvSpPr>
          <p:cNvPr id="18" name="TextBox 17"/>
          <p:cNvSpPr txBox="1"/>
          <p:nvPr/>
        </p:nvSpPr>
        <p:spPr>
          <a:xfrm>
            <a:off x="548640" y="4462272"/>
            <a:ext cx="2560320" cy="274320"/>
          </a:xfrm>
          <a:prstGeom prst="rect">
            <a:avLst/>
          </a:prstGeom>
          <a:noFill/>
        </p:spPr>
        <p:txBody>
          <a:bodyPr wrap="square">
            <a:spAutoFit/>
          </a:bodyPr>
          <a:lstStyle/>
          <a:p>
            <a:pPr algn="l">
              <a:defRPr sz="1000" b="0">
                <a:solidFill>
                  <a:srgbClr val="757575"/>
                </a:solidFill>
                <a:latin typeface="Calibri"/>
              </a:defRPr>
            </a:pPr>
            <a:r>
              <a:t>FASTA parsing (SeqIO)</a:t>
            </a:r>
          </a:p>
        </p:txBody>
      </p:sp>
      <p:sp>
        <p:nvSpPr>
          <p:cNvPr id="19" name="Rounded Rectangle 18"/>
          <p:cNvSpPr/>
          <p:nvPr/>
        </p:nvSpPr>
        <p:spPr>
          <a:xfrm>
            <a:off x="3383280" y="1463040"/>
            <a:ext cx="27432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1490472"/>
            <a:ext cx="2743200" cy="365760"/>
          </a:xfrm>
          <a:prstGeom prst="rect">
            <a:avLst/>
          </a:prstGeom>
          <a:noFill/>
        </p:spPr>
        <p:txBody>
          <a:bodyPr wrap="square">
            <a:spAutoFit/>
          </a:bodyPr>
          <a:lstStyle/>
          <a:p>
            <a:pPr algn="ctr">
              <a:defRPr sz="1400" b="1">
                <a:solidFill>
                  <a:srgbClr val="FFFFFF"/>
                </a:solidFill>
                <a:latin typeface="Calibri"/>
              </a:defRPr>
            </a:pPr>
            <a:r>
              <a:t>Machine Learning</a:t>
            </a:r>
          </a:p>
        </p:txBody>
      </p:sp>
      <p:sp>
        <p:nvSpPr>
          <p:cNvPr id="21" name="Rounded Rectangle 20"/>
          <p:cNvSpPr/>
          <p:nvPr/>
        </p:nvSpPr>
        <p:spPr>
          <a:xfrm>
            <a:off x="3383280" y="21031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0" y="2130552"/>
            <a:ext cx="2560320" cy="274320"/>
          </a:xfrm>
          <a:prstGeom prst="rect">
            <a:avLst/>
          </a:prstGeom>
          <a:noFill/>
        </p:spPr>
        <p:txBody>
          <a:bodyPr wrap="square">
            <a:spAutoFit/>
          </a:bodyPr>
          <a:lstStyle/>
          <a:p>
            <a:pPr algn="l">
              <a:defRPr sz="1200" b="1">
                <a:solidFill>
                  <a:srgbClr val="43A047"/>
                </a:solidFill>
                <a:latin typeface="Consolas"/>
              </a:defRPr>
            </a:pPr>
            <a:r>
              <a:t>scikit-learn ≥ 1.4</a:t>
            </a:r>
          </a:p>
        </p:txBody>
      </p:sp>
      <p:sp>
        <p:nvSpPr>
          <p:cNvPr id="23" name="TextBox 22"/>
          <p:cNvSpPr txBox="1"/>
          <p:nvPr/>
        </p:nvSpPr>
        <p:spPr>
          <a:xfrm>
            <a:off x="3474720" y="2404872"/>
            <a:ext cx="2560320" cy="274320"/>
          </a:xfrm>
          <a:prstGeom prst="rect">
            <a:avLst/>
          </a:prstGeom>
          <a:noFill/>
        </p:spPr>
        <p:txBody>
          <a:bodyPr wrap="square">
            <a:spAutoFit/>
          </a:bodyPr>
          <a:lstStyle/>
          <a:p>
            <a:pPr algn="l">
              <a:defRPr sz="1000" b="0">
                <a:solidFill>
                  <a:srgbClr val="757575"/>
                </a:solidFill>
                <a:latin typeface="Calibri"/>
              </a:defRPr>
            </a:pPr>
            <a:r>
              <a:t>KNN classifier for Inc detection</a:t>
            </a:r>
          </a:p>
        </p:txBody>
      </p:sp>
      <p:sp>
        <p:nvSpPr>
          <p:cNvPr id="24" name="Rounded Rectangle 23"/>
          <p:cNvSpPr/>
          <p:nvPr/>
        </p:nvSpPr>
        <p:spPr>
          <a:xfrm>
            <a:off x="3383280" y="27889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2816352"/>
            <a:ext cx="2560320" cy="274320"/>
          </a:xfrm>
          <a:prstGeom prst="rect">
            <a:avLst/>
          </a:prstGeom>
          <a:noFill/>
        </p:spPr>
        <p:txBody>
          <a:bodyPr wrap="square">
            <a:spAutoFit/>
          </a:bodyPr>
          <a:lstStyle/>
          <a:p>
            <a:pPr algn="l">
              <a:defRPr sz="1200" b="1">
                <a:solidFill>
                  <a:srgbClr val="43A047"/>
                </a:solidFill>
                <a:latin typeface="Consolas"/>
              </a:defRPr>
            </a:pPr>
            <a:r>
              <a:t>XGBoost ≥ 2.0</a:t>
            </a:r>
          </a:p>
        </p:txBody>
      </p:sp>
      <p:sp>
        <p:nvSpPr>
          <p:cNvPr id="26" name="TextBox 25"/>
          <p:cNvSpPr txBox="1"/>
          <p:nvPr/>
        </p:nvSpPr>
        <p:spPr>
          <a:xfrm>
            <a:off x="3474720" y="3090672"/>
            <a:ext cx="2560320" cy="274320"/>
          </a:xfrm>
          <a:prstGeom prst="rect">
            <a:avLst/>
          </a:prstGeom>
          <a:noFill/>
        </p:spPr>
        <p:txBody>
          <a:bodyPr wrap="square">
            <a:spAutoFit/>
          </a:bodyPr>
          <a:lstStyle/>
          <a:p>
            <a:pPr algn="l">
              <a:defRPr sz="1000" b="0">
                <a:solidFill>
                  <a:srgbClr val="757575"/>
                </a:solidFill>
                <a:latin typeface="Calibri"/>
              </a:defRPr>
            </a:pPr>
            <a:r>
              <a:t>Validation classifier (F1=0.903)</a:t>
            </a:r>
          </a:p>
        </p:txBody>
      </p:sp>
      <p:sp>
        <p:nvSpPr>
          <p:cNvPr id="27" name="Rounded Rectangle 26"/>
          <p:cNvSpPr/>
          <p:nvPr/>
        </p:nvSpPr>
        <p:spPr>
          <a:xfrm>
            <a:off x="3383280" y="34747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3502152"/>
            <a:ext cx="2560320" cy="274320"/>
          </a:xfrm>
          <a:prstGeom prst="rect">
            <a:avLst/>
          </a:prstGeom>
          <a:noFill/>
        </p:spPr>
        <p:txBody>
          <a:bodyPr wrap="square">
            <a:spAutoFit/>
          </a:bodyPr>
          <a:lstStyle/>
          <a:p>
            <a:pPr algn="l">
              <a:defRPr sz="1200" b="1">
                <a:solidFill>
                  <a:srgbClr val="43A047"/>
                </a:solidFill>
                <a:latin typeface="Consolas"/>
              </a:defRPr>
            </a:pPr>
            <a:r>
              <a:t>Optuna ≥ 3.5</a:t>
            </a:r>
          </a:p>
        </p:txBody>
      </p:sp>
      <p:sp>
        <p:nvSpPr>
          <p:cNvPr id="29" name="TextBox 28"/>
          <p:cNvSpPr txBox="1"/>
          <p:nvPr/>
        </p:nvSpPr>
        <p:spPr>
          <a:xfrm>
            <a:off x="3474720" y="3776472"/>
            <a:ext cx="2560320" cy="274320"/>
          </a:xfrm>
          <a:prstGeom prst="rect">
            <a:avLst/>
          </a:prstGeom>
          <a:noFill/>
        </p:spPr>
        <p:txBody>
          <a:bodyPr wrap="square">
            <a:spAutoFit/>
          </a:bodyPr>
          <a:lstStyle/>
          <a:p>
            <a:pPr algn="l">
              <a:defRPr sz="1000" b="0">
                <a:solidFill>
                  <a:srgbClr val="757575"/>
                </a:solidFill>
                <a:latin typeface="Calibri"/>
              </a:defRPr>
            </a:pPr>
            <a:r>
              <a:t>Hyperparameter optimization</a:t>
            </a:r>
          </a:p>
        </p:txBody>
      </p:sp>
      <p:sp>
        <p:nvSpPr>
          <p:cNvPr id="30" name="Rounded Rectangle 29"/>
          <p:cNvSpPr/>
          <p:nvPr/>
        </p:nvSpPr>
        <p:spPr>
          <a:xfrm>
            <a:off x="6309360" y="1463040"/>
            <a:ext cx="2743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1490472"/>
            <a:ext cx="2743200" cy="365760"/>
          </a:xfrm>
          <a:prstGeom prst="rect">
            <a:avLst/>
          </a:prstGeom>
          <a:noFill/>
        </p:spPr>
        <p:txBody>
          <a:bodyPr wrap="square">
            <a:spAutoFit/>
          </a:bodyPr>
          <a:lstStyle/>
          <a:p>
            <a:pPr algn="ctr">
              <a:defRPr sz="1400" b="1">
                <a:solidFill>
                  <a:srgbClr val="FFFFFF"/>
                </a:solidFill>
                <a:latin typeface="Calibri"/>
              </a:defRPr>
            </a:pPr>
            <a:r>
              <a:t>Visualization</a:t>
            </a:r>
          </a:p>
        </p:txBody>
      </p:sp>
      <p:sp>
        <p:nvSpPr>
          <p:cNvPr id="32" name="Rounded Rectangle 31"/>
          <p:cNvSpPr/>
          <p:nvPr/>
        </p:nvSpPr>
        <p:spPr>
          <a:xfrm>
            <a:off x="6309360" y="21031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130552"/>
            <a:ext cx="2560320" cy="274320"/>
          </a:xfrm>
          <a:prstGeom prst="rect">
            <a:avLst/>
          </a:prstGeom>
          <a:noFill/>
        </p:spPr>
        <p:txBody>
          <a:bodyPr wrap="square">
            <a:spAutoFit/>
          </a:bodyPr>
          <a:lstStyle/>
          <a:p>
            <a:pPr algn="l">
              <a:defRPr sz="1200" b="1">
                <a:solidFill>
                  <a:srgbClr val="FB8C00"/>
                </a:solidFill>
                <a:latin typeface="Consolas"/>
              </a:defRPr>
            </a:pPr>
            <a:r>
              <a:t>Matplotlib ≥ 3.8</a:t>
            </a:r>
          </a:p>
        </p:txBody>
      </p:sp>
      <p:sp>
        <p:nvSpPr>
          <p:cNvPr id="34" name="TextBox 33"/>
          <p:cNvSpPr txBox="1"/>
          <p:nvPr/>
        </p:nvSpPr>
        <p:spPr>
          <a:xfrm>
            <a:off x="6400800" y="2404872"/>
            <a:ext cx="2560320" cy="274320"/>
          </a:xfrm>
          <a:prstGeom prst="rect">
            <a:avLst/>
          </a:prstGeom>
          <a:noFill/>
        </p:spPr>
        <p:txBody>
          <a:bodyPr wrap="square">
            <a:spAutoFit/>
          </a:bodyPr>
          <a:lstStyle/>
          <a:p>
            <a:pPr algn="l">
              <a:defRPr sz="1000" b="0">
                <a:solidFill>
                  <a:srgbClr val="757575"/>
                </a:solidFill>
                <a:latin typeface="Calibri"/>
              </a:defRPr>
            </a:pPr>
            <a:r>
              <a:t>Cladograms, static figures</a:t>
            </a:r>
          </a:p>
        </p:txBody>
      </p:sp>
      <p:sp>
        <p:nvSpPr>
          <p:cNvPr id="35" name="Rounded Rectangle 34"/>
          <p:cNvSpPr/>
          <p:nvPr/>
        </p:nvSpPr>
        <p:spPr>
          <a:xfrm>
            <a:off x="6309360" y="27889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2816352"/>
            <a:ext cx="2560320" cy="274320"/>
          </a:xfrm>
          <a:prstGeom prst="rect">
            <a:avLst/>
          </a:prstGeom>
          <a:noFill/>
        </p:spPr>
        <p:txBody>
          <a:bodyPr wrap="square">
            <a:spAutoFit/>
          </a:bodyPr>
          <a:lstStyle/>
          <a:p>
            <a:pPr algn="l">
              <a:defRPr sz="1200" b="1">
                <a:solidFill>
                  <a:srgbClr val="FB8C00"/>
                </a:solidFill>
                <a:latin typeface="Consolas"/>
              </a:defRPr>
            </a:pPr>
            <a:r>
              <a:t>Seaborn ≥ 0.13</a:t>
            </a:r>
          </a:p>
        </p:txBody>
      </p:sp>
      <p:sp>
        <p:nvSpPr>
          <p:cNvPr id="37" name="TextBox 36"/>
          <p:cNvSpPr txBox="1"/>
          <p:nvPr/>
        </p:nvSpPr>
        <p:spPr>
          <a:xfrm>
            <a:off x="6400800" y="3090672"/>
            <a:ext cx="2560320" cy="274320"/>
          </a:xfrm>
          <a:prstGeom prst="rect">
            <a:avLst/>
          </a:prstGeom>
          <a:noFill/>
        </p:spPr>
        <p:txBody>
          <a:bodyPr wrap="square">
            <a:spAutoFit/>
          </a:bodyPr>
          <a:lstStyle/>
          <a:p>
            <a:pPr algn="l">
              <a:defRPr sz="1000" b="0">
                <a:solidFill>
                  <a:srgbClr val="757575"/>
                </a:solidFill>
                <a:latin typeface="Calibri"/>
              </a:defRPr>
            </a:pPr>
            <a:r>
              <a:t>Statistical plots, heatmaps</a:t>
            </a:r>
          </a:p>
        </p:txBody>
      </p:sp>
      <p:sp>
        <p:nvSpPr>
          <p:cNvPr id="38" name="Rounded Rectangle 37"/>
          <p:cNvSpPr/>
          <p:nvPr/>
        </p:nvSpPr>
        <p:spPr>
          <a:xfrm>
            <a:off x="6309360" y="34747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3502152"/>
            <a:ext cx="2560320" cy="274320"/>
          </a:xfrm>
          <a:prstGeom prst="rect">
            <a:avLst/>
          </a:prstGeom>
          <a:noFill/>
        </p:spPr>
        <p:txBody>
          <a:bodyPr wrap="square">
            <a:spAutoFit/>
          </a:bodyPr>
          <a:lstStyle/>
          <a:p>
            <a:pPr algn="l">
              <a:defRPr sz="1200" b="1">
                <a:solidFill>
                  <a:srgbClr val="FB8C00"/>
                </a:solidFill>
                <a:latin typeface="Consolas"/>
              </a:defRPr>
            </a:pPr>
            <a:r>
              <a:t>Plotly ≥ 5.18</a:t>
            </a:r>
          </a:p>
        </p:txBody>
      </p:sp>
      <p:sp>
        <p:nvSpPr>
          <p:cNvPr id="40" name="TextBox 39"/>
          <p:cNvSpPr txBox="1"/>
          <p:nvPr/>
        </p:nvSpPr>
        <p:spPr>
          <a:xfrm>
            <a:off x="6400800" y="3776472"/>
            <a:ext cx="2560320" cy="274320"/>
          </a:xfrm>
          <a:prstGeom prst="rect">
            <a:avLst/>
          </a:prstGeom>
          <a:noFill/>
        </p:spPr>
        <p:txBody>
          <a:bodyPr wrap="square">
            <a:spAutoFit/>
          </a:bodyPr>
          <a:lstStyle/>
          <a:p>
            <a:pPr algn="l">
              <a:defRPr sz="1000" b="0">
                <a:solidFill>
                  <a:srgbClr val="757575"/>
                </a:solidFill>
                <a:latin typeface="Calibri"/>
              </a:defRPr>
            </a:pPr>
            <a:r>
              <a:t>Interactive charts (AMR tab)</a:t>
            </a:r>
          </a:p>
        </p:txBody>
      </p:sp>
      <p:sp>
        <p:nvSpPr>
          <p:cNvPr id="41" name="Rounded Rectangle 40"/>
          <p:cNvSpPr/>
          <p:nvPr/>
        </p:nvSpPr>
        <p:spPr>
          <a:xfrm>
            <a:off x="9235440" y="1463040"/>
            <a:ext cx="2743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1490472"/>
            <a:ext cx="2743200" cy="365760"/>
          </a:xfrm>
          <a:prstGeom prst="rect">
            <a:avLst/>
          </a:prstGeom>
          <a:noFill/>
        </p:spPr>
        <p:txBody>
          <a:bodyPr wrap="square">
            <a:spAutoFit/>
          </a:bodyPr>
          <a:lstStyle/>
          <a:p>
            <a:pPr algn="ctr">
              <a:defRPr sz="1400" b="1">
                <a:solidFill>
                  <a:srgbClr val="FFFFFF"/>
                </a:solidFill>
                <a:latin typeface="Calibri"/>
              </a:defRPr>
            </a:pPr>
            <a:r>
              <a:t>Web &amp; External</a:t>
            </a:r>
          </a:p>
        </p:txBody>
      </p:sp>
      <p:sp>
        <p:nvSpPr>
          <p:cNvPr id="43" name="Rounded Rectangle 42"/>
          <p:cNvSpPr/>
          <p:nvPr/>
        </p:nvSpPr>
        <p:spPr>
          <a:xfrm>
            <a:off x="9235440" y="21031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2130552"/>
            <a:ext cx="2560320" cy="274320"/>
          </a:xfrm>
          <a:prstGeom prst="rect">
            <a:avLst/>
          </a:prstGeom>
          <a:noFill/>
        </p:spPr>
        <p:txBody>
          <a:bodyPr wrap="square">
            <a:spAutoFit/>
          </a:bodyPr>
          <a:lstStyle/>
          <a:p>
            <a:pPr algn="l">
              <a:defRPr sz="1200" b="1">
                <a:solidFill>
                  <a:srgbClr val="8E24AA"/>
                </a:solidFill>
                <a:latin typeface="Consolas"/>
              </a:defRPr>
            </a:pPr>
            <a:r>
              <a:t>Streamlit ≥ 1.31</a:t>
            </a:r>
          </a:p>
        </p:txBody>
      </p:sp>
      <p:sp>
        <p:nvSpPr>
          <p:cNvPr id="45" name="TextBox 44"/>
          <p:cNvSpPr txBox="1"/>
          <p:nvPr/>
        </p:nvSpPr>
        <p:spPr>
          <a:xfrm>
            <a:off x="9326880" y="2404872"/>
            <a:ext cx="2560320" cy="274320"/>
          </a:xfrm>
          <a:prstGeom prst="rect">
            <a:avLst/>
          </a:prstGeom>
          <a:noFill/>
        </p:spPr>
        <p:txBody>
          <a:bodyPr wrap="square">
            <a:spAutoFit/>
          </a:bodyPr>
          <a:lstStyle/>
          <a:p>
            <a:pPr algn="l">
              <a:defRPr sz="1000" b="0">
                <a:solidFill>
                  <a:srgbClr val="757575"/>
                </a:solidFill>
                <a:latin typeface="Calibri"/>
              </a:defRPr>
            </a:pPr>
            <a:r>
              <a:t>Web GUI framework</a:t>
            </a:r>
          </a:p>
        </p:txBody>
      </p:sp>
      <p:sp>
        <p:nvSpPr>
          <p:cNvPr id="46" name="Rounded Rectangle 45"/>
          <p:cNvSpPr/>
          <p:nvPr/>
        </p:nvSpPr>
        <p:spPr>
          <a:xfrm>
            <a:off x="9235440" y="27889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2816352"/>
            <a:ext cx="2560320" cy="274320"/>
          </a:xfrm>
          <a:prstGeom prst="rect">
            <a:avLst/>
          </a:prstGeom>
          <a:noFill/>
        </p:spPr>
        <p:txBody>
          <a:bodyPr wrap="square">
            <a:spAutoFit/>
          </a:bodyPr>
          <a:lstStyle/>
          <a:p>
            <a:pPr algn="l">
              <a:defRPr sz="1200" b="1">
                <a:solidFill>
                  <a:srgbClr val="8E24AA"/>
                </a:solidFill>
                <a:latin typeface="Consolas"/>
              </a:defRPr>
            </a:pPr>
            <a:r>
              <a:t>AMRFinderPlus</a:t>
            </a:r>
          </a:p>
        </p:txBody>
      </p:sp>
      <p:sp>
        <p:nvSpPr>
          <p:cNvPr id="48" name="TextBox 47"/>
          <p:cNvSpPr txBox="1"/>
          <p:nvPr/>
        </p:nvSpPr>
        <p:spPr>
          <a:xfrm>
            <a:off x="9326880" y="3090672"/>
            <a:ext cx="2560320" cy="274320"/>
          </a:xfrm>
          <a:prstGeom prst="rect">
            <a:avLst/>
          </a:prstGeom>
          <a:noFill/>
        </p:spPr>
        <p:txBody>
          <a:bodyPr wrap="square">
            <a:spAutoFit/>
          </a:bodyPr>
          <a:lstStyle/>
          <a:p>
            <a:pPr algn="l">
              <a:defRPr sz="1000" b="0">
                <a:solidFill>
                  <a:srgbClr val="757575"/>
                </a:solidFill>
                <a:latin typeface="Calibri"/>
              </a:defRPr>
            </a:pPr>
            <a:r>
              <a:t>NCBI AMR gene detection</a:t>
            </a:r>
          </a:p>
        </p:txBody>
      </p:sp>
      <p:sp>
        <p:nvSpPr>
          <p:cNvPr id="49" name="Rounded Rectangle 48"/>
          <p:cNvSpPr/>
          <p:nvPr/>
        </p:nvSpPr>
        <p:spPr>
          <a:xfrm>
            <a:off x="9235440" y="34747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0" y="3502152"/>
            <a:ext cx="2560320" cy="274320"/>
          </a:xfrm>
          <a:prstGeom prst="rect">
            <a:avLst/>
          </a:prstGeom>
          <a:noFill/>
        </p:spPr>
        <p:txBody>
          <a:bodyPr wrap="square">
            <a:spAutoFit/>
          </a:bodyPr>
          <a:lstStyle/>
          <a:p>
            <a:pPr algn="l">
              <a:defRPr sz="1200" b="1">
                <a:solidFill>
                  <a:srgbClr val="8E24AA"/>
                </a:solidFill>
                <a:latin typeface="Consolas"/>
              </a:defRPr>
            </a:pPr>
            <a:r>
              <a:t>python-pptx</a:t>
            </a:r>
          </a:p>
        </p:txBody>
      </p:sp>
      <p:sp>
        <p:nvSpPr>
          <p:cNvPr id="51" name="TextBox 50"/>
          <p:cNvSpPr txBox="1"/>
          <p:nvPr/>
        </p:nvSpPr>
        <p:spPr>
          <a:xfrm>
            <a:off x="9326880" y="3776472"/>
            <a:ext cx="2560320" cy="274320"/>
          </a:xfrm>
          <a:prstGeom prst="rect">
            <a:avLst/>
          </a:prstGeom>
          <a:noFill/>
        </p:spPr>
        <p:txBody>
          <a:bodyPr wrap="square">
            <a:spAutoFit/>
          </a:bodyPr>
          <a:lstStyle/>
          <a:p>
            <a:pPr algn="l">
              <a:defRPr sz="1000" b="0">
                <a:solidFill>
                  <a:srgbClr val="757575"/>
                </a:solidFill>
                <a:latin typeface="Calibri"/>
              </a:defRPr>
            </a:pPr>
            <a:r>
              <a:t>PowerPoint generation</a:t>
            </a:r>
          </a:p>
        </p:txBody>
      </p:sp>
      <p:sp>
        <p:nvSpPr>
          <p:cNvPr id="52" name="Rounded Rectangle 51"/>
          <p:cNvSpPr/>
          <p:nvPr/>
        </p:nvSpPr>
        <p:spPr>
          <a:xfrm>
            <a:off x="457200" y="5120640"/>
            <a:ext cx="1133856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212080"/>
            <a:ext cx="10972800" cy="365760"/>
          </a:xfrm>
          <a:prstGeom prst="rect">
            <a:avLst/>
          </a:prstGeom>
          <a:noFill/>
        </p:spPr>
        <p:txBody>
          <a:bodyPr wrap="square">
            <a:spAutoFit/>
          </a:bodyPr>
          <a:lstStyle/>
          <a:p>
            <a:pPr algn="l">
              <a:defRPr sz="1600" b="1">
                <a:solidFill>
                  <a:srgbClr val="43A047"/>
                </a:solidFill>
                <a:latin typeface="Calibri"/>
              </a:defRPr>
            </a:pPr>
            <a:r>
              <a:t>Key Performance Metrics</a:t>
            </a:r>
          </a:p>
        </p:txBody>
      </p:sp>
      <p:sp>
        <p:nvSpPr>
          <p:cNvPr id="54" name="TextBox 53"/>
          <p:cNvSpPr txBox="1"/>
          <p:nvPr/>
        </p:nvSpPr>
        <p:spPr>
          <a:xfrm>
            <a:off x="640080" y="5577840"/>
            <a:ext cx="2560320" cy="320040"/>
          </a:xfrm>
          <a:prstGeom prst="rect">
            <a:avLst/>
          </a:prstGeom>
          <a:noFill/>
        </p:spPr>
        <p:txBody>
          <a:bodyPr wrap="square">
            <a:spAutoFit/>
          </a:bodyPr>
          <a:lstStyle/>
          <a:p>
            <a:pPr algn="l">
              <a:defRPr sz="1400" b="1">
                <a:solidFill>
                  <a:srgbClr val="0D47A1"/>
                </a:solidFill>
                <a:latin typeface="Calibri"/>
              </a:defRPr>
            </a:pPr>
            <a:r>
              <a:t>Simpson's D: 0.979</a:t>
            </a:r>
          </a:p>
        </p:txBody>
      </p:sp>
      <p:sp>
        <p:nvSpPr>
          <p:cNvPr id="55" name="TextBox 54"/>
          <p:cNvSpPr txBox="1"/>
          <p:nvPr/>
        </p:nvSpPr>
        <p:spPr>
          <a:xfrm>
            <a:off x="640080" y="5897880"/>
            <a:ext cx="2560320" cy="274320"/>
          </a:xfrm>
          <a:prstGeom prst="rect">
            <a:avLst/>
          </a:prstGeom>
          <a:noFill/>
        </p:spPr>
        <p:txBody>
          <a:bodyPr wrap="square">
            <a:spAutoFit/>
          </a:bodyPr>
          <a:lstStyle/>
          <a:p>
            <a:pPr algn="l">
              <a:defRPr sz="1100" b="0">
                <a:solidFill>
                  <a:srgbClr val="757575"/>
                </a:solidFill>
                <a:latin typeface="Calibri"/>
              </a:defRPr>
            </a:pPr>
            <a:r>
              <a:t>Discriminatory power of pLIN system</a:t>
            </a:r>
          </a:p>
        </p:txBody>
      </p:sp>
      <p:sp>
        <p:nvSpPr>
          <p:cNvPr id="56" name="TextBox 55"/>
          <p:cNvSpPr txBox="1"/>
          <p:nvPr/>
        </p:nvSpPr>
        <p:spPr>
          <a:xfrm>
            <a:off x="3474720" y="5577840"/>
            <a:ext cx="2560320" cy="320040"/>
          </a:xfrm>
          <a:prstGeom prst="rect">
            <a:avLst/>
          </a:prstGeom>
          <a:noFill/>
        </p:spPr>
        <p:txBody>
          <a:bodyPr wrap="square">
            <a:spAutoFit/>
          </a:bodyPr>
          <a:lstStyle/>
          <a:p>
            <a:pPr algn="l">
              <a:defRPr sz="1400" b="1">
                <a:solidFill>
                  <a:srgbClr val="0D47A1"/>
                </a:solidFill>
                <a:latin typeface="Calibri"/>
              </a:defRPr>
            </a:pPr>
            <a:r>
              <a:t>CV Accuracy: 96.1%</a:t>
            </a:r>
          </a:p>
        </p:txBody>
      </p:sp>
      <p:sp>
        <p:nvSpPr>
          <p:cNvPr id="57" name="TextBox 56"/>
          <p:cNvSpPr txBox="1"/>
          <p:nvPr/>
        </p:nvSpPr>
        <p:spPr>
          <a:xfrm>
            <a:off x="3474720" y="5897880"/>
            <a:ext cx="2560320" cy="274320"/>
          </a:xfrm>
          <a:prstGeom prst="rect">
            <a:avLst/>
          </a:prstGeom>
          <a:noFill/>
        </p:spPr>
        <p:txBody>
          <a:bodyPr wrap="square">
            <a:spAutoFit/>
          </a:bodyPr>
          <a:lstStyle/>
          <a:p>
            <a:pPr algn="l">
              <a:defRPr sz="1100" b="0">
                <a:solidFill>
                  <a:srgbClr val="757575"/>
                </a:solidFill>
                <a:latin typeface="Calibri"/>
              </a:defRPr>
            </a:pPr>
            <a:r>
              <a:t>Inc group auto-detection (5-fold)</a:t>
            </a:r>
          </a:p>
        </p:txBody>
      </p:sp>
      <p:sp>
        <p:nvSpPr>
          <p:cNvPr id="58" name="TextBox 57"/>
          <p:cNvSpPr txBox="1"/>
          <p:nvPr/>
        </p:nvSpPr>
        <p:spPr>
          <a:xfrm>
            <a:off x="6309360" y="5577840"/>
            <a:ext cx="2560320" cy="320040"/>
          </a:xfrm>
          <a:prstGeom prst="rect">
            <a:avLst/>
          </a:prstGeom>
          <a:noFill/>
        </p:spPr>
        <p:txBody>
          <a:bodyPr wrap="square">
            <a:spAutoFit/>
          </a:bodyPr>
          <a:lstStyle/>
          <a:p>
            <a:pPr algn="l">
              <a:defRPr sz="1400" b="1">
                <a:solidFill>
                  <a:srgbClr val="0D47A1"/>
                </a:solidFill>
                <a:latin typeface="Calibri"/>
              </a:defRPr>
            </a:pPr>
            <a:r>
              <a:t>XGBoost F1: 0.903</a:t>
            </a:r>
          </a:p>
        </p:txBody>
      </p:sp>
      <p:sp>
        <p:nvSpPr>
          <p:cNvPr id="59" name="TextBox 58"/>
          <p:cNvSpPr txBox="1"/>
          <p:nvPr/>
        </p:nvSpPr>
        <p:spPr>
          <a:xfrm>
            <a:off x="6309360" y="5897880"/>
            <a:ext cx="2560320" cy="274320"/>
          </a:xfrm>
          <a:prstGeom prst="rect">
            <a:avLst/>
          </a:prstGeom>
          <a:noFill/>
        </p:spPr>
        <p:txBody>
          <a:bodyPr wrap="square">
            <a:spAutoFit/>
          </a:bodyPr>
          <a:lstStyle/>
          <a:p>
            <a:pPr algn="l">
              <a:defRPr sz="1100" b="0">
                <a:solidFill>
                  <a:srgbClr val="757575"/>
                </a:solidFill>
                <a:latin typeface="Calibri"/>
              </a:defRPr>
            </a:pPr>
            <a:r>
              <a:t>ML validation of k-mer features</a:t>
            </a:r>
          </a:p>
        </p:txBody>
      </p:sp>
      <p:sp>
        <p:nvSpPr>
          <p:cNvPr id="60" name="TextBox 59"/>
          <p:cNvSpPr txBox="1"/>
          <p:nvPr/>
        </p:nvSpPr>
        <p:spPr>
          <a:xfrm>
            <a:off x="9144000" y="5577840"/>
            <a:ext cx="2560320" cy="320040"/>
          </a:xfrm>
          <a:prstGeom prst="rect">
            <a:avLst/>
          </a:prstGeom>
          <a:noFill/>
        </p:spPr>
        <p:txBody>
          <a:bodyPr wrap="square">
            <a:spAutoFit/>
          </a:bodyPr>
          <a:lstStyle/>
          <a:p>
            <a:pPr algn="l">
              <a:defRPr sz="1400" b="1">
                <a:solidFill>
                  <a:srgbClr val="0D47A1"/>
                </a:solidFill>
                <a:latin typeface="Calibri"/>
              </a:defRPr>
            </a:pPr>
            <a:r>
              <a:t>Concordance: 99.5%</a:t>
            </a:r>
          </a:p>
        </p:txBody>
      </p:sp>
      <p:sp>
        <p:nvSpPr>
          <p:cNvPr id="61" name="TextBox 60"/>
          <p:cNvSpPr txBox="1"/>
          <p:nvPr/>
        </p:nvSpPr>
        <p:spPr>
          <a:xfrm>
            <a:off x="9144000" y="5897880"/>
            <a:ext cx="2560320" cy="274320"/>
          </a:xfrm>
          <a:prstGeom prst="rect">
            <a:avLst/>
          </a:prstGeom>
          <a:noFill/>
        </p:spPr>
        <p:txBody>
          <a:bodyPr wrap="square">
            <a:spAutoFit/>
          </a:bodyPr>
          <a:lstStyle/>
          <a:p>
            <a:pPr algn="l">
              <a:defRPr sz="1100" b="0">
                <a:solidFill>
                  <a:srgbClr val="757575"/>
                </a:solidFill>
                <a:latin typeface="Calibri"/>
              </a:defRPr>
            </a:pPr>
            <a:r>
              <a:t>Composition vs known Inc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Advanced Analytical Features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Epidemiological intelligence integrated into the pLIN pipeline</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Per-Inc-Group Adaptive Thresholds</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Calibrates pLIN distance thresholds per Inc group from training data</a:t>
            </a:r>
          </a:p>
          <a:p>
            <a:pPr>
              <a:spcAft>
                <a:spcPts val="200"/>
              </a:spcAft>
              <a:defRPr sz="1100">
                <a:solidFill>
                  <a:srgbClr val="333333"/>
                </a:solidFill>
                <a:latin typeface="Calibri"/>
              </a:defRPr>
            </a:pPr>
            <a:r>
              <a:t>Uses quantile-based calibration on within-group distance distributions</a:t>
            </a:r>
          </a:p>
          <a:p>
            <a:pPr>
              <a:spcAft>
                <a:spcPts val="200"/>
              </a:spcAft>
              <a:defRPr sz="1100">
                <a:solidFill>
                  <a:srgbClr val="333333"/>
                </a:solidFill>
                <a:latin typeface="Calibri"/>
              </a:defRPr>
            </a:pPr>
            <a:r>
              <a:t>Addresses the limitation that fixed thresholds may not suit all Inc groups</a:t>
            </a:r>
          </a:p>
          <a:p>
            <a:pPr>
              <a:spcAft>
                <a:spcPts val="200"/>
              </a:spcAft>
              <a:defRPr sz="1100">
                <a:solidFill>
                  <a:srgbClr val="333333"/>
                </a:solidFill>
                <a:latin typeface="Calibri"/>
              </a:defRPr>
            </a:pPr>
            <a:r>
              <a:t>Example: IncFII (diverse, 4,581 plasmids) needs wider thresholds than IncX1 (compact, 701)</a:t>
            </a:r>
          </a:p>
          <a:p>
            <a:pPr>
              <a:spcAft>
                <a:spcPts val="200"/>
              </a:spcAft>
              <a:defRPr sz="1100">
                <a:solidFill>
                  <a:srgbClr val="333333"/>
                </a:solidFill>
                <a:latin typeface="Calibri"/>
              </a:defRPr>
            </a:pPr>
            <a:r>
              <a:t>Automatically selects thresholds for the dominant Inc group in each analysis</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Multi-Linkage Clustering</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User-selectable linkage method: Single, Complete, Average, Weighted</a:t>
            </a:r>
          </a:p>
          <a:p>
            <a:pPr>
              <a:spcAft>
                <a:spcPts val="200"/>
              </a:spcAft>
              <a:defRPr sz="1100">
                <a:solidFill>
                  <a:srgbClr val="333333"/>
                </a:solidFill>
                <a:latin typeface="Calibri"/>
              </a:defRPr>
            </a:pPr>
            <a:r>
              <a:t>Single (default): traditional chaining, sensitive to intermediates</a:t>
            </a:r>
          </a:p>
          <a:p>
            <a:pPr>
              <a:spcAft>
                <a:spcPts val="200"/>
              </a:spcAft>
              <a:defRPr sz="1100">
                <a:solidFill>
                  <a:srgbClr val="333333"/>
                </a:solidFill>
                <a:latin typeface="Calibri"/>
              </a:defRPr>
            </a:pPr>
            <a:r>
              <a:t>Complete: maximum inter-cluster distance, produces tighter clusters</a:t>
            </a:r>
          </a:p>
          <a:p>
            <a:pPr>
              <a:spcAft>
                <a:spcPts val="200"/>
              </a:spcAft>
              <a:defRPr sz="1100">
                <a:solidFill>
                  <a:srgbClr val="333333"/>
                </a:solidFill>
                <a:latin typeface="Calibri"/>
              </a:defRPr>
            </a:pPr>
            <a:r>
              <a:t>Average (UPGMA): balanced, widely used in phylogenetics</a:t>
            </a:r>
          </a:p>
          <a:p>
            <a:pPr>
              <a:spcAft>
                <a:spcPts val="200"/>
              </a:spcAft>
              <a:defRPr sz="1100">
                <a:solidFill>
                  <a:srgbClr val="333333"/>
                </a:solidFill>
                <a:latin typeface="Calibri"/>
              </a:defRPr>
            </a:pPr>
            <a:r>
              <a:t>Reduces chaining artifacts that can merge distinct lineages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Plasmid Mobility Prediction</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Classifies plasmids as Conjugative, Mobilizable, or Non-mobilizable</a:t>
            </a:r>
          </a:p>
          <a:p>
            <a:pPr>
              <a:spcAft>
                <a:spcPts val="200"/>
              </a:spcAft>
              <a:defRPr sz="1100">
                <a:solidFill>
                  <a:srgbClr val="333333"/>
                </a:solidFill>
                <a:latin typeface="Calibri"/>
              </a:defRPr>
            </a:pPr>
            <a:r>
              <a:t>Scans AMRFinderPlus output for transfer/mobilization gene markers:</a:t>
            </a:r>
          </a:p>
          <a:p>
            <a:pPr>
              <a:spcAft>
                <a:spcPts val="200"/>
              </a:spcAft>
              <a:defRPr sz="1100">
                <a:solidFill>
                  <a:srgbClr val="333333"/>
                </a:solidFill>
                <a:latin typeface="Calibri"/>
              </a:defRPr>
            </a:pPr>
            <a:r>
              <a:t>  Conjugative: tra/trb genes (Type IV secretion system)</a:t>
            </a:r>
          </a:p>
          <a:p>
            <a:pPr>
              <a:spcAft>
                <a:spcPts val="200"/>
              </a:spcAft>
              <a:defRPr sz="1100">
                <a:solidFill>
                  <a:srgbClr val="333333"/>
                </a:solidFill>
                <a:latin typeface="Calibri"/>
              </a:defRPr>
            </a:pPr>
            <a:r>
              <a:t>  Mobilizable: mob genes (relaxase, oriT)</a:t>
            </a:r>
          </a:p>
          <a:p>
            <a:pPr>
              <a:spcAft>
                <a:spcPts val="200"/>
              </a:spcAft>
              <a:defRPr sz="1100">
                <a:solidFill>
                  <a:srgbClr val="333333"/>
                </a:solidFill>
                <a:latin typeface="Calibri"/>
              </a:defRPr>
            </a:pPr>
            <a:r>
              <a:t>Conjugative + AMR plasmids flagged as HIGH RISK for dissemination</a:t>
            </a:r>
          </a:p>
          <a:p>
            <a:pPr>
              <a:spcAft>
                <a:spcPts val="200"/>
              </a:spcAft>
              <a:defRPr sz="1100">
                <a:solidFill>
                  <a:srgbClr val="333333"/>
                </a:solidFill>
                <a:latin typeface="Calibri"/>
              </a:defRPr>
            </a:pPr>
            <a:r>
              <a:t>Enables risk-stratified surveillance of AMR-carrying plasmids</a:t>
            </a:r>
          </a:p>
        </p:txBody>
      </p:sp>
      <p:sp>
        <p:nvSpPr>
          <p:cNvPr id="14" name="Rounded Rectangle 13"/>
          <p:cNvSpPr/>
          <p:nvPr/>
        </p:nvSpPr>
        <p:spPr>
          <a:xfrm>
            <a:off x="6309360" y="3931920"/>
            <a:ext cx="5486400" cy="256032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E53935"/>
                </a:solidFill>
                <a:latin typeface="Calibri"/>
              </a:defRPr>
            </a:pPr>
            <a:r>
              <a:t>Outbreak / Clone Detection</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Flags suspected outbreak clusters automatically</a:t>
            </a:r>
          </a:p>
          <a:p>
            <a:pPr>
              <a:spcAft>
                <a:spcPts val="200"/>
              </a:spcAft>
              <a:defRPr sz="1100">
                <a:solidFill>
                  <a:srgbClr val="333333"/>
                </a:solidFill>
                <a:latin typeface="Calibri"/>
              </a:defRPr>
            </a:pPr>
            <a:r>
              <a:t>Detection criteria: same pLIN strain code (F-level) + identical AMR profile</a:t>
            </a:r>
          </a:p>
          <a:p>
            <a:pPr>
              <a:spcAft>
                <a:spcPts val="200"/>
              </a:spcAft>
              <a:defRPr sz="1100">
                <a:solidFill>
                  <a:srgbClr val="333333"/>
                </a:solidFill>
                <a:latin typeface="Calibri"/>
              </a:defRPr>
            </a:pPr>
            <a:r>
              <a:t>Risk levels: HIGH (3+ shared AMR genes) / MODERATE (1-2 shared genes)</a:t>
            </a:r>
          </a:p>
          <a:p>
            <a:pPr>
              <a:spcAft>
                <a:spcPts val="200"/>
              </a:spcAft>
              <a:defRPr sz="1100">
                <a:solidFill>
                  <a:srgbClr val="333333"/>
                </a:solidFill>
                <a:latin typeface="Calibri"/>
              </a:defRPr>
            </a:pPr>
            <a:r>
              <a:t>Supports real-time surveillance for plasmid-mediated AMR spread</a:t>
            </a:r>
          </a:p>
          <a:p>
            <a:pPr>
              <a:spcAft>
                <a:spcPts val="200"/>
              </a:spcAft>
              <a:defRPr sz="1100">
                <a:solidFill>
                  <a:srgbClr val="333333"/>
                </a:solidFill>
                <a:latin typeface="Calibri"/>
              </a:defRPr>
            </a:pPr>
            <a:r>
              <a:t>Integrated into new Epidemiology tab with dissemination risk matrix</a:t>
            </a:r>
          </a:p>
          <a:p>
            <a:pPr>
              <a:spcAft>
                <a:spcPts val="200"/>
              </a:spcAft>
              <a:defRPr sz="1100">
                <a:solidFill>
                  <a:srgbClr val="333333"/>
                </a:solidFill>
                <a:latin typeface="Calibri"/>
              </a:defRPr>
            </a:pPr>
            <a:r>
              <a:t>Exportable as JSON for downstream analysis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Novelty of pLIN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What distinguishes pLIN from existing plasmid classification approaches</a:t>
            </a:r>
          </a:p>
        </p:txBody>
      </p:sp>
      <p:sp>
        <p:nvSpPr>
          <p:cNvPr id="5" name="Rounded Rectangle 4"/>
          <p:cNvSpPr/>
          <p:nvPr/>
        </p:nvSpPr>
        <p:spPr>
          <a:xfrm>
            <a:off x="365760" y="1371600"/>
            <a:ext cx="109728" cy="8686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155680" cy="320040"/>
          </a:xfrm>
          <a:prstGeom prst="rect">
            <a:avLst/>
          </a:prstGeom>
          <a:noFill/>
        </p:spPr>
        <p:txBody>
          <a:bodyPr wrap="square">
            <a:spAutoFit/>
          </a:bodyPr>
          <a:lstStyle/>
          <a:p>
            <a:pPr algn="l">
              <a:defRPr sz="1500" b="1">
                <a:solidFill>
                  <a:srgbClr val="1E88E5"/>
                </a:solidFill>
                <a:latin typeface="Calibri"/>
              </a:defRPr>
            </a:pPr>
            <a:r>
              <a:t>Reference-Free Classification</a:t>
            </a:r>
          </a:p>
        </p:txBody>
      </p:sp>
      <p:sp>
        <p:nvSpPr>
          <p:cNvPr id="7" name="TextBox 6"/>
          <p:cNvSpPr txBox="1"/>
          <p:nvPr/>
        </p:nvSpPr>
        <p:spPr>
          <a:xfrm>
            <a:off x="640080" y="1719072"/>
            <a:ext cx="11155680" cy="502920"/>
          </a:xfrm>
          <a:prstGeom prst="rect">
            <a:avLst/>
          </a:prstGeom>
          <a:noFill/>
        </p:spPr>
        <p:txBody>
          <a:bodyPr wrap="square">
            <a:spAutoFit/>
          </a:bodyPr>
          <a:lstStyle/>
          <a:p>
            <a:pPr algn="l">
              <a:defRPr sz="1100" b="0">
                <a:solidFill>
                  <a:srgbClr val="333333"/>
                </a:solidFill>
                <a:latin typeface="Calibri"/>
              </a:defRPr>
            </a:pPr>
            <a:r>
              <a:t>Unlike MOB-suite, PlasmidFinder, or replicon typing that rely on curated reference databases, pLIN uses intrinsic sequence composition (4-mer frequencies). New or divergent plasmids that lack known replicons are still classifiable — no database gaps.</a:t>
            </a:r>
          </a:p>
        </p:txBody>
      </p:sp>
      <p:sp>
        <p:nvSpPr>
          <p:cNvPr id="8" name="Rounded Rectangle 7"/>
          <p:cNvSpPr/>
          <p:nvPr/>
        </p:nvSpPr>
        <p:spPr>
          <a:xfrm>
            <a:off x="365760" y="2423160"/>
            <a:ext cx="109728" cy="8686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441448"/>
            <a:ext cx="11155680" cy="320040"/>
          </a:xfrm>
          <a:prstGeom prst="rect">
            <a:avLst/>
          </a:prstGeom>
          <a:noFill/>
        </p:spPr>
        <p:txBody>
          <a:bodyPr wrap="square">
            <a:spAutoFit/>
          </a:bodyPr>
          <a:lstStyle/>
          <a:p>
            <a:pPr algn="l">
              <a:defRPr sz="1500" b="1">
                <a:solidFill>
                  <a:srgbClr val="43A047"/>
                </a:solidFill>
                <a:latin typeface="Calibri"/>
              </a:defRPr>
            </a:pPr>
            <a:r>
              <a:t>Permanent, Hierarchical Codes</a:t>
            </a:r>
          </a:p>
        </p:txBody>
      </p:sp>
      <p:sp>
        <p:nvSpPr>
          <p:cNvPr id="10" name="TextBox 9"/>
          <p:cNvSpPr txBox="1"/>
          <p:nvPr/>
        </p:nvSpPr>
        <p:spPr>
          <a:xfrm>
            <a:off x="640080" y="2770632"/>
            <a:ext cx="11155680" cy="502920"/>
          </a:xfrm>
          <a:prstGeom prst="rect">
            <a:avLst/>
          </a:prstGeom>
          <a:noFill/>
        </p:spPr>
        <p:txBody>
          <a:bodyPr wrap="square">
            <a:spAutoFit/>
          </a:bodyPr>
          <a:lstStyle/>
          <a:p>
            <a:pPr algn="l">
              <a:defRPr sz="1100" b="0">
                <a:solidFill>
                  <a:srgbClr val="333333"/>
                </a:solidFill>
                <a:latin typeface="Calibri"/>
              </a:defRPr>
            </a:pPr>
            <a:r>
              <a:t>pLIN codes are stable and never change when new sequences are added. Existing plasmid typing schemes (e.g., pMLST) can reassign types as databases grow. The six-level hierarchy (Family → Strain) provides resolution at multiple scales in a single code — no existing system offers this.</a:t>
            </a:r>
          </a:p>
        </p:txBody>
      </p:sp>
      <p:sp>
        <p:nvSpPr>
          <p:cNvPr id="11" name="Rounded Rectangle 10"/>
          <p:cNvSpPr/>
          <p:nvPr/>
        </p:nvSpPr>
        <p:spPr>
          <a:xfrm>
            <a:off x="365760" y="3474720"/>
            <a:ext cx="109728" cy="8686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493008"/>
            <a:ext cx="11155680" cy="320040"/>
          </a:xfrm>
          <a:prstGeom prst="rect">
            <a:avLst/>
          </a:prstGeom>
          <a:noFill/>
        </p:spPr>
        <p:txBody>
          <a:bodyPr wrap="square">
            <a:spAutoFit/>
          </a:bodyPr>
          <a:lstStyle/>
          <a:p>
            <a:pPr algn="l">
              <a:defRPr sz="1500" b="1">
                <a:solidFill>
                  <a:srgbClr val="FB8C00"/>
                </a:solidFill>
                <a:latin typeface="Calibri"/>
              </a:defRPr>
            </a:pPr>
            <a:r>
              <a:t>Composition-Based Inc Group Detection</a:t>
            </a:r>
          </a:p>
        </p:txBody>
      </p:sp>
      <p:sp>
        <p:nvSpPr>
          <p:cNvPr id="13" name="TextBox 12"/>
          <p:cNvSpPr txBox="1"/>
          <p:nvPr/>
        </p:nvSpPr>
        <p:spPr>
          <a:xfrm>
            <a:off x="640080" y="3822192"/>
            <a:ext cx="11155680" cy="502920"/>
          </a:xfrm>
          <a:prstGeom prst="rect">
            <a:avLst/>
          </a:prstGeom>
          <a:noFill/>
        </p:spPr>
        <p:txBody>
          <a:bodyPr wrap="square">
            <a:spAutoFit/>
          </a:bodyPr>
          <a:lstStyle/>
          <a:p>
            <a:pPr algn="l">
              <a:defRPr sz="1100" b="0">
                <a:solidFill>
                  <a:srgbClr val="333333"/>
                </a:solidFill>
                <a:latin typeface="Calibri"/>
              </a:defRPr>
            </a:pPr>
            <a:r>
              <a:t>Most Inc group detection tools (PlasmidFinder, COPLA) require gene-level BLAST searches. pLIN's KNN classifier predicts Inc group from global k-mer composition alone (96% accuracy), enabling classification even when replicon genes are fragmented, truncated, or absent from assemblies.</a:t>
            </a:r>
          </a:p>
        </p:txBody>
      </p:sp>
      <p:sp>
        <p:nvSpPr>
          <p:cNvPr id="14" name="Rounded Rectangle 13"/>
          <p:cNvSpPr/>
          <p:nvPr/>
        </p:nvSpPr>
        <p:spPr>
          <a:xfrm>
            <a:off x="365760" y="4526279"/>
            <a:ext cx="109728" cy="8686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44567"/>
            <a:ext cx="11155680" cy="320040"/>
          </a:xfrm>
          <a:prstGeom prst="rect">
            <a:avLst/>
          </a:prstGeom>
          <a:noFill/>
        </p:spPr>
        <p:txBody>
          <a:bodyPr wrap="square">
            <a:spAutoFit/>
          </a:bodyPr>
          <a:lstStyle/>
          <a:p>
            <a:pPr algn="l">
              <a:defRPr sz="1500" b="1">
                <a:solidFill>
                  <a:srgbClr val="E53935"/>
                </a:solidFill>
                <a:latin typeface="Calibri"/>
              </a:defRPr>
            </a:pPr>
            <a:r>
              <a:t>Integrated AMR Surveillance Pipeline</a:t>
            </a:r>
          </a:p>
        </p:txBody>
      </p:sp>
      <p:sp>
        <p:nvSpPr>
          <p:cNvPr id="16" name="TextBox 15"/>
          <p:cNvSpPr txBox="1"/>
          <p:nvPr/>
        </p:nvSpPr>
        <p:spPr>
          <a:xfrm>
            <a:off x="640080" y="4873751"/>
            <a:ext cx="11155680" cy="502920"/>
          </a:xfrm>
          <a:prstGeom prst="rect">
            <a:avLst/>
          </a:prstGeom>
          <a:noFill/>
        </p:spPr>
        <p:txBody>
          <a:bodyPr wrap="square">
            <a:spAutoFit/>
          </a:bodyPr>
          <a:lstStyle/>
          <a:p>
            <a:pPr algn="l">
              <a:defRPr sz="1100" b="0">
                <a:solidFill>
                  <a:srgbClr val="333333"/>
                </a:solidFill>
                <a:latin typeface="Calibri"/>
              </a:defRPr>
            </a:pPr>
            <a:r>
              <a:t>pLIN is the first system to natively integrate plasmid hierarchical classification with AMRFinderPlus gene detection in a single automated pipeline. This enables direct mapping of resistance gene cargo onto the plasmid phylogeny — linking plasmid backbone evolution with AMR gene acquisition.</a:t>
            </a:r>
          </a:p>
        </p:txBody>
      </p:sp>
      <p:sp>
        <p:nvSpPr>
          <p:cNvPr id="17" name="Rounded Rectangle 16"/>
          <p:cNvSpPr/>
          <p:nvPr/>
        </p:nvSpPr>
        <p:spPr>
          <a:xfrm>
            <a:off x="365760" y="5577840"/>
            <a:ext cx="109728" cy="8686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596128"/>
            <a:ext cx="11155680" cy="320040"/>
          </a:xfrm>
          <a:prstGeom prst="rect">
            <a:avLst/>
          </a:prstGeom>
          <a:noFill/>
        </p:spPr>
        <p:txBody>
          <a:bodyPr wrap="square">
            <a:spAutoFit/>
          </a:bodyPr>
          <a:lstStyle/>
          <a:p>
            <a:pPr algn="l">
              <a:defRPr sz="1500" b="1">
                <a:solidFill>
                  <a:srgbClr val="8E24AA"/>
                </a:solidFill>
                <a:latin typeface="Calibri"/>
              </a:defRPr>
            </a:pPr>
            <a:r>
              <a:t>Interactive GUI with Epidemiological Intelligence</a:t>
            </a:r>
          </a:p>
        </p:txBody>
      </p:sp>
      <p:sp>
        <p:nvSpPr>
          <p:cNvPr id="19" name="TextBox 18"/>
          <p:cNvSpPr txBox="1"/>
          <p:nvPr/>
        </p:nvSpPr>
        <p:spPr>
          <a:xfrm>
            <a:off x="640080" y="5925312"/>
            <a:ext cx="11155680" cy="502920"/>
          </a:xfrm>
          <a:prstGeom prst="rect">
            <a:avLst/>
          </a:prstGeom>
          <a:noFill/>
        </p:spPr>
        <p:txBody>
          <a:bodyPr wrap="square">
            <a:spAutoFit/>
          </a:bodyPr>
          <a:lstStyle/>
          <a:p>
            <a:pPr algn="l">
              <a:defRPr sz="1100" b="0">
                <a:solidFill>
                  <a:srgbClr val="333333"/>
                </a:solidFill>
                <a:latin typeface="Calibri"/>
              </a:defRPr>
            </a:pPr>
            <a:r>
              <a:t>Unlike command-line-only tools (MOB-suite, plasmidfinder CLI), pLIN ships a Streamlit web app with upload, classification, AMR screening, cladogram visualization, mobility prediction, outbreak detection, adaptive thresholds, and multi-linkage clustering — accessible to non-bioinformaticians.</a:t>
            </a:r>
          </a:p>
        </p:txBody>
      </p:sp>
      <p:sp>
        <p:nvSpPr>
          <p:cNvPr id="20" name="Rounded Rectangle 19"/>
          <p:cNvSpPr/>
          <p:nvPr/>
        </p:nvSpPr>
        <p:spPr>
          <a:xfrm>
            <a:off x="365760" y="6400800"/>
            <a:ext cx="1143000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6419088"/>
            <a:ext cx="256032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22" name="TextBox 21"/>
          <p:cNvSpPr txBox="1"/>
          <p:nvPr/>
        </p:nvSpPr>
        <p:spPr>
          <a:xfrm>
            <a:off x="2971799" y="6419088"/>
            <a:ext cx="2011680" cy="274320"/>
          </a:xfrm>
          <a:prstGeom prst="rect">
            <a:avLst/>
          </a:prstGeom>
          <a:noFill/>
        </p:spPr>
        <p:txBody>
          <a:bodyPr wrap="square">
            <a:spAutoFit/>
          </a:bodyPr>
          <a:lstStyle/>
          <a:p>
            <a:pPr algn="ctr">
              <a:defRPr sz="1000" b="1">
                <a:solidFill>
                  <a:srgbClr val="FFFFFF"/>
                </a:solidFill>
                <a:latin typeface="Calibri"/>
              </a:defRPr>
            </a:pPr>
            <a:r>
              <a:t>pLIN</a:t>
            </a:r>
          </a:p>
        </p:txBody>
      </p:sp>
      <p:sp>
        <p:nvSpPr>
          <p:cNvPr id="23" name="TextBox 22"/>
          <p:cNvSpPr txBox="1"/>
          <p:nvPr/>
        </p:nvSpPr>
        <p:spPr>
          <a:xfrm>
            <a:off x="4983480" y="6419088"/>
            <a:ext cx="2286000" cy="274320"/>
          </a:xfrm>
          <a:prstGeom prst="rect">
            <a:avLst/>
          </a:prstGeom>
          <a:noFill/>
        </p:spPr>
        <p:txBody>
          <a:bodyPr wrap="square">
            <a:spAutoFit/>
          </a:bodyPr>
          <a:lstStyle/>
          <a:p>
            <a:pPr algn="ctr">
              <a:defRPr sz="1000" b="1">
                <a:solidFill>
                  <a:srgbClr val="FFFFFF"/>
                </a:solidFill>
                <a:latin typeface="Calibri"/>
              </a:defRPr>
            </a:pPr>
            <a:r>
              <a:t>MOB-suite</a:t>
            </a:r>
          </a:p>
        </p:txBody>
      </p:sp>
      <p:sp>
        <p:nvSpPr>
          <p:cNvPr id="24" name="TextBox 23"/>
          <p:cNvSpPr txBox="1"/>
          <p:nvPr/>
        </p:nvSpPr>
        <p:spPr>
          <a:xfrm>
            <a:off x="7269480" y="6419088"/>
            <a:ext cx="2286000" cy="274320"/>
          </a:xfrm>
          <a:prstGeom prst="rect">
            <a:avLst/>
          </a:prstGeom>
          <a:noFill/>
        </p:spPr>
        <p:txBody>
          <a:bodyPr wrap="square">
            <a:spAutoFit/>
          </a:bodyPr>
          <a:lstStyle/>
          <a:p>
            <a:pPr algn="ctr">
              <a:defRPr sz="1000" b="1">
                <a:solidFill>
                  <a:srgbClr val="FFFFFF"/>
                </a:solidFill>
                <a:latin typeface="Calibri"/>
              </a:defRPr>
            </a:pPr>
            <a:r>
              <a:t>PlasmidFinder</a:t>
            </a:r>
          </a:p>
        </p:txBody>
      </p:sp>
      <p:sp>
        <p:nvSpPr>
          <p:cNvPr id="25" name="TextBox 24"/>
          <p:cNvSpPr txBox="1"/>
          <p:nvPr/>
        </p:nvSpPr>
        <p:spPr>
          <a:xfrm>
            <a:off x="9555480" y="6419088"/>
            <a:ext cx="2286000" cy="274320"/>
          </a:xfrm>
          <a:prstGeom prst="rect">
            <a:avLst/>
          </a:prstGeom>
          <a:noFill/>
        </p:spPr>
        <p:txBody>
          <a:bodyPr wrap="square">
            <a:spAutoFit/>
          </a:bodyPr>
          <a:lstStyle/>
          <a:p>
            <a:pPr algn="ctr">
              <a:defRPr sz="1000" b="1">
                <a:solidFill>
                  <a:srgbClr val="FFFFFF"/>
                </a:solidFill>
                <a:latin typeface="Calibri"/>
              </a:defRPr>
            </a:pPr>
            <a:r>
              <a:t>pMLST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Limitations &amp; Future Directions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Current constraints and planned improvements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Current Limitations</a:t>
            </a:r>
          </a:p>
        </p:txBody>
      </p:sp>
      <p:sp>
        <p:nvSpPr>
          <p:cNvPr id="6" name="Oval 5"/>
          <p:cNvSpPr/>
          <p:nvPr/>
        </p:nvSpPr>
        <p:spPr>
          <a:xfrm>
            <a:off x="457200" y="201168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7" name="TextBox 6"/>
          <p:cNvSpPr txBox="1"/>
          <p:nvPr/>
        </p:nvSpPr>
        <p:spPr>
          <a:xfrm>
            <a:off x="868680" y="1965960"/>
            <a:ext cx="5303520" cy="274320"/>
          </a:xfrm>
          <a:prstGeom prst="rect">
            <a:avLst/>
          </a:prstGeom>
          <a:noFill/>
        </p:spPr>
        <p:txBody>
          <a:bodyPr wrap="square">
            <a:spAutoFit/>
          </a:bodyPr>
          <a:lstStyle/>
          <a:p>
            <a:pPr algn="l">
              <a:defRPr sz="1200" b="1">
                <a:solidFill>
                  <a:srgbClr val="E53935"/>
                </a:solidFill>
                <a:latin typeface="Calibri"/>
              </a:defRPr>
            </a:pPr>
            <a:r>
              <a:t>Limited Inc Group Coverage</a:t>
            </a:r>
          </a:p>
        </p:txBody>
      </p:sp>
      <p:sp>
        <p:nvSpPr>
          <p:cNvPr id="8" name="TextBox 7"/>
          <p:cNvSpPr txBox="1"/>
          <p:nvPr/>
        </p:nvSpPr>
        <p:spPr>
          <a:xfrm>
            <a:off x="868680" y="2240280"/>
            <a:ext cx="5303520" cy="457200"/>
          </a:xfrm>
          <a:prstGeom prst="rect">
            <a:avLst/>
          </a:prstGeom>
          <a:noFill/>
        </p:spPr>
        <p:txBody>
          <a:bodyPr wrap="square">
            <a:spAutoFit/>
          </a:bodyPr>
          <a:lstStyle/>
          <a:p>
            <a:pPr algn="l">
              <a:defRPr sz="900" b="0">
                <a:solidFill>
                  <a:srgbClr val="333333"/>
                </a:solidFill>
                <a:latin typeface="Calibri"/>
              </a:defRPr>
            </a:pPr>
            <a:r>
              <a:t>Classifier trained on 3 Inc groups only (IncFII, IncN, IncX1). Plasmids from IncA/C, IncI, IncL/M, IncP, IncQ, ColE-type, and other groups will be misclassified into the nearest available category. Expanding training data is essential.</a:t>
            </a:r>
          </a:p>
        </p:txBody>
      </p:sp>
      <p:sp>
        <p:nvSpPr>
          <p:cNvPr id="9" name="Oval 8"/>
          <p:cNvSpPr/>
          <p:nvPr/>
        </p:nvSpPr>
        <p:spPr>
          <a:xfrm>
            <a:off x="457200" y="2761488"/>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0" name="TextBox 9"/>
          <p:cNvSpPr txBox="1"/>
          <p:nvPr/>
        </p:nvSpPr>
        <p:spPr>
          <a:xfrm>
            <a:off x="868680" y="2715768"/>
            <a:ext cx="5303520" cy="274320"/>
          </a:xfrm>
          <a:prstGeom prst="rect">
            <a:avLst/>
          </a:prstGeom>
          <a:noFill/>
        </p:spPr>
        <p:txBody>
          <a:bodyPr wrap="square">
            <a:spAutoFit/>
          </a:bodyPr>
          <a:lstStyle/>
          <a:p>
            <a:pPr algn="l">
              <a:defRPr sz="1200" b="1">
                <a:solidFill>
                  <a:srgbClr val="E53935"/>
                </a:solidFill>
                <a:latin typeface="Calibri"/>
              </a:defRPr>
            </a:pPr>
            <a:r>
              <a:t>Composition-Only Features</a:t>
            </a:r>
          </a:p>
        </p:txBody>
      </p:sp>
      <p:sp>
        <p:nvSpPr>
          <p:cNvPr id="11" name="TextBox 10"/>
          <p:cNvSpPr txBox="1"/>
          <p:nvPr/>
        </p:nvSpPr>
        <p:spPr>
          <a:xfrm>
            <a:off x="868680" y="2990088"/>
            <a:ext cx="5303520" cy="457200"/>
          </a:xfrm>
          <a:prstGeom prst="rect">
            <a:avLst/>
          </a:prstGeom>
          <a:noFill/>
        </p:spPr>
        <p:txBody>
          <a:bodyPr wrap="square">
            <a:spAutoFit/>
          </a:bodyPr>
          <a:lstStyle/>
          <a:p>
            <a:pPr algn="l">
              <a:defRPr sz="900" b="0">
                <a:solidFill>
                  <a:srgbClr val="333333"/>
                </a:solidFill>
                <a:latin typeface="Calibri"/>
              </a:defRPr>
            </a:pPr>
            <a:r>
              <a:t>4-mer frequency captures global sequence composition but ignores gene content, synteny, and structural rearrangements. Two plasmids with similar base composition but different gene cargo may receive similar pLIN codes at coarse levels.</a:t>
            </a:r>
          </a:p>
        </p:txBody>
      </p:sp>
      <p:sp>
        <p:nvSpPr>
          <p:cNvPr id="12" name="Oval 11"/>
          <p:cNvSpPr/>
          <p:nvPr/>
        </p:nvSpPr>
        <p:spPr>
          <a:xfrm>
            <a:off x="457200" y="3511296"/>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3" name="TextBox 12"/>
          <p:cNvSpPr txBox="1"/>
          <p:nvPr/>
        </p:nvSpPr>
        <p:spPr>
          <a:xfrm>
            <a:off x="868680" y="3465576"/>
            <a:ext cx="5303520" cy="274320"/>
          </a:xfrm>
          <a:prstGeom prst="rect">
            <a:avLst/>
          </a:prstGeom>
          <a:noFill/>
        </p:spPr>
        <p:txBody>
          <a:bodyPr wrap="square">
            <a:spAutoFit/>
          </a:bodyPr>
          <a:lstStyle/>
          <a:p>
            <a:pPr algn="l">
              <a:defRPr sz="1200" b="1">
                <a:solidFill>
                  <a:srgbClr val="E53935"/>
                </a:solidFill>
                <a:latin typeface="Calibri"/>
              </a:defRPr>
            </a:pPr>
            <a:r>
              <a:t>Linkage Method Sensitivity</a:t>
            </a:r>
          </a:p>
        </p:txBody>
      </p:sp>
      <p:sp>
        <p:nvSpPr>
          <p:cNvPr id="14" name="TextBox 13"/>
          <p:cNvSpPr txBox="1"/>
          <p:nvPr/>
        </p:nvSpPr>
        <p:spPr>
          <a:xfrm>
            <a:off x="868680" y="3739896"/>
            <a:ext cx="5303520" cy="457200"/>
          </a:xfrm>
          <a:prstGeom prst="rect">
            <a:avLst/>
          </a:prstGeom>
          <a:noFill/>
        </p:spPr>
        <p:txBody>
          <a:bodyPr wrap="square">
            <a:spAutoFit/>
          </a:bodyPr>
          <a:lstStyle/>
          <a:p>
            <a:pPr algn="l">
              <a:defRPr sz="900" b="0">
                <a:solidFill>
                  <a:srgbClr val="333333"/>
                </a:solidFill>
                <a:latin typeface="Calibri"/>
              </a:defRPr>
            </a:pPr>
            <a:r>
              <a:t>Single-linkage clustering (default) can produce chain-like clusters. While the tool now supports complete, average, and weighted linkage as alternatives, the pLIN thresholds were originally calibrated for single-linkage — using other methods may require re-calibration.</a:t>
            </a:r>
          </a:p>
        </p:txBody>
      </p:sp>
      <p:sp>
        <p:nvSpPr>
          <p:cNvPr id="15" name="Oval 14"/>
          <p:cNvSpPr/>
          <p:nvPr/>
        </p:nvSpPr>
        <p:spPr>
          <a:xfrm>
            <a:off x="457200" y="4261103"/>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6" name="TextBox 15"/>
          <p:cNvSpPr txBox="1"/>
          <p:nvPr/>
        </p:nvSpPr>
        <p:spPr>
          <a:xfrm>
            <a:off x="868680" y="4215383"/>
            <a:ext cx="5303520" cy="274320"/>
          </a:xfrm>
          <a:prstGeom prst="rect">
            <a:avLst/>
          </a:prstGeom>
          <a:noFill/>
        </p:spPr>
        <p:txBody>
          <a:bodyPr wrap="square">
            <a:spAutoFit/>
          </a:bodyPr>
          <a:lstStyle/>
          <a:p>
            <a:pPr algn="l">
              <a:defRPr sz="1200" b="1">
                <a:solidFill>
                  <a:srgbClr val="E53935"/>
                </a:solidFill>
                <a:latin typeface="Calibri"/>
              </a:defRPr>
            </a:pPr>
            <a:r>
              <a:t>No Fragmented Assembly Handling</a:t>
            </a:r>
          </a:p>
        </p:txBody>
      </p:sp>
      <p:sp>
        <p:nvSpPr>
          <p:cNvPr id="17" name="TextBox 16"/>
          <p:cNvSpPr txBox="1"/>
          <p:nvPr/>
        </p:nvSpPr>
        <p:spPr>
          <a:xfrm>
            <a:off x="868680" y="4489703"/>
            <a:ext cx="5303520" cy="457200"/>
          </a:xfrm>
          <a:prstGeom prst="rect">
            <a:avLst/>
          </a:prstGeom>
          <a:noFill/>
        </p:spPr>
        <p:txBody>
          <a:bodyPr wrap="square">
            <a:spAutoFit/>
          </a:bodyPr>
          <a:lstStyle/>
          <a:p>
            <a:pPr algn="l">
              <a:defRPr sz="900" b="0">
                <a:solidFill>
                  <a:srgbClr val="333333"/>
                </a:solidFill>
                <a:latin typeface="Calibri"/>
              </a:defRPr>
            </a:pPr>
            <a:r>
              <a:t>pLIN expects complete or near-complete plasmid sequences. Short contigs from fragmented assemblies will have noisy k-mer profiles, reducing classification accuracy. No scaffolding or multi-contig plasmid reconstruction is performed.</a:t>
            </a:r>
          </a:p>
        </p:txBody>
      </p:sp>
      <p:sp>
        <p:nvSpPr>
          <p:cNvPr id="18" name="Oval 17"/>
          <p:cNvSpPr/>
          <p:nvPr/>
        </p:nvSpPr>
        <p:spPr>
          <a:xfrm>
            <a:off x="457200" y="5010912"/>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19" name="TextBox 18"/>
          <p:cNvSpPr txBox="1"/>
          <p:nvPr/>
        </p:nvSpPr>
        <p:spPr>
          <a:xfrm>
            <a:off x="868680" y="4965192"/>
            <a:ext cx="5303520" cy="274320"/>
          </a:xfrm>
          <a:prstGeom prst="rect">
            <a:avLst/>
          </a:prstGeom>
          <a:noFill/>
        </p:spPr>
        <p:txBody>
          <a:bodyPr wrap="square">
            <a:spAutoFit/>
          </a:bodyPr>
          <a:lstStyle/>
          <a:p>
            <a:pPr algn="l">
              <a:defRPr sz="1200" b="1">
                <a:solidFill>
                  <a:srgbClr val="E53935"/>
                </a:solidFill>
                <a:latin typeface="Calibri"/>
              </a:defRPr>
            </a:pPr>
            <a:r>
              <a:t>Threshold Calibration Coverage</a:t>
            </a:r>
          </a:p>
        </p:txBody>
      </p:sp>
      <p:sp>
        <p:nvSpPr>
          <p:cNvPr id="20" name="TextBox 19"/>
          <p:cNvSpPr txBox="1"/>
          <p:nvPr/>
        </p:nvSpPr>
        <p:spPr>
          <a:xfrm>
            <a:off x="868680" y="5239512"/>
            <a:ext cx="5303520" cy="457200"/>
          </a:xfrm>
          <a:prstGeom prst="rect">
            <a:avLst/>
          </a:prstGeom>
          <a:noFill/>
        </p:spPr>
        <p:txBody>
          <a:bodyPr wrap="square">
            <a:spAutoFit/>
          </a:bodyPr>
          <a:lstStyle/>
          <a:p>
            <a:pPr algn="l">
              <a:defRPr sz="900" b="0">
                <a:solidFill>
                  <a:srgbClr val="333333"/>
                </a:solidFill>
                <a:latin typeface="Calibri"/>
              </a:defRPr>
            </a:pPr>
            <a:r>
              <a:t>Adaptive per-Inc-group thresholds are now available, calibrated from training data quantiles. However, calibration quality depends on training set size and diversity — smaller groups (IncX1: 701 plasmids) may have less reliable thresholds than larger ones (IncFII: 4,581).</a:t>
            </a:r>
          </a:p>
        </p:txBody>
      </p:sp>
      <p:sp>
        <p:nvSpPr>
          <p:cNvPr id="21" name="Oval 20"/>
          <p:cNvSpPr/>
          <p:nvPr/>
        </p:nvSpPr>
        <p:spPr>
          <a:xfrm>
            <a:off x="457200" y="576072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2" name="TextBox 21"/>
          <p:cNvSpPr txBox="1"/>
          <p:nvPr/>
        </p:nvSpPr>
        <p:spPr>
          <a:xfrm>
            <a:off x="868680" y="5715000"/>
            <a:ext cx="5303520" cy="274320"/>
          </a:xfrm>
          <a:prstGeom prst="rect">
            <a:avLst/>
          </a:prstGeom>
          <a:noFill/>
        </p:spPr>
        <p:txBody>
          <a:bodyPr wrap="square">
            <a:spAutoFit/>
          </a:bodyPr>
          <a:lstStyle/>
          <a:p>
            <a:pPr algn="l">
              <a:defRPr sz="1200" b="1">
                <a:solidFill>
                  <a:srgbClr val="E53935"/>
                </a:solidFill>
                <a:latin typeface="Calibri"/>
              </a:defRPr>
            </a:pPr>
            <a:r>
              <a:t>No Real-Time Database Updates</a:t>
            </a:r>
          </a:p>
        </p:txBody>
      </p:sp>
      <p:sp>
        <p:nvSpPr>
          <p:cNvPr id="23" name="TextBox 22"/>
          <p:cNvSpPr txBox="1"/>
          <p:nvPr/>
        </p:nvSpPr>
        <p:spPr>
          <a:xfrm>
            <a:off x="868680" y="5989320"/>
            <a:ext cx="5303520" cy="457200"/>
          </a:xfrm>
          <a:prstGeom prst="rect">
            <a:avLst/>
          </a:prstGeom>
          <a:noFill/>
        </p:spPr>
        <p:txBody>
          <a:bodyPr wrap="square">
            <a:spAutoFit/>
          </a:bodyPr>
          <a:lstStyle/>
          <a:p>
            <a:pPr algn="l">
              <a:defRPr sz="900" b="0">
                <a:solidFill>
                  <a:srgbClr val="333333"/>
                </a:solidFill>
                <a:latin typeface="Calibri"/>
              </a:defRPr>
            </a:pPr>
            <a:r>
              <a:t>The KNN classifier uses a static training set. New plasmid submissions to GenBank/RefSeq are not automatically incorporated. Periodic retraining is needed to maintain accuracy as novel plasmid lineages emerge.</a:t>
            </a:r>
          </a:p>
        </p:txBody>
      </p:sp>
      <p:sp>
        <p:nvSpPr>
          <p:cNvPr id="24" name="TextBox 23"/>
          <p:cNvSpPr txBox="1"/>
          <p:nvPr/>
        </p:nvSpPr>
        <p:spPr>
          <a:xfrm>
            <a:off x="6400800" y="1463040"/>
            <a:ext cx="5486400" cy="457200"/>
          </a:xfrm>
          <a:prstGeom prst="rect">
            <a:avLst/>
          </a:prstGeom>
          <a:noFill/>
        </p:spPr>
        <p:txBody>
          <a:bodyPr wrap="square">
            <a:spAutoFit/>
          </a:bodyPr>
          <a:lstStyle/>
          <a:p>
            <a:pPr algn="l">
              <a:defRPr sz="2000" b="1">
                <a:solidFill>
                  <a:srgbClr val="43A047"/>
                </a:solidFill>
                <a:latin typeface="Calibri"/>
              </a:defRPr>
            </a:pPr>
            <a:r>
              <a:t>Future Directions</a:t>
            </a:r>
          </a:p>
        </p:txBody>
      </p:sp>
      <p:sp>
        <p:nvSpPr>
          <p:cNvPr id="25" name="Right Arrow 24"/>
          <p:cNvSpPr/>
          <p:nvPr/>
        </p:nvSpPr>
        <p:spPr>
          <a:xfrm>
            <a:off x="6400800" y="2057400"/>
            <a:ext cx="320040" cy="228600"/>
          </a:xfrm>
          <a:prstGeom prst="right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1965960"/>
            <a:ext cx="4846320" cy="274320"/>
          </a:xfrm>
          <a:prstGeom prst="rect">
            <a:avLst/>
          </a:prstGeom>
          <a:noFill/>
        </p:spPr>
        <p:txBody>
          <a:bodyPr wrap="square">
            <a:spAutoFit/>
          </a:bodyPr>
          <a:lstStyle/>
          <a:p>
            <a:pPr algn="l">
              <a:defRPr sz="1200" b="1">
                <a:solidFill>
                  <a:srgbClr val="43A047"/>
                </a:solidFill>
                <a:latin typeface="Calibri"/>
              </a:defRPr>
            </a:pPr>
            <a:r>
              <a:t>Expand Inc Group Training</a:t>
            </a:r>
          </a:p>
        </p:txBody>
      </p:sp>
      <p:sp>
        <p:nvSpPr>
          <p:cNvPr id="27" name="TextBox 26"/>
          <p:cNvSpPr txBox="1"/>
          <p:nvPr/>
        </p:nvSpPr>
        <p:spPr>
          <a:xfrm>
            <a:off x="6858000" y="2240280"/>
            <a:ext cx="4846320" cy="457200"/>
          </a:xfrm>
          <a:prstGeom prst="rect">
            <a:avLst/>
          </a:prstGeom>
          <a:noFill/>
        </p:spPr>
        <p:txBody>
          <a:bodyPr wrap="square">
            <a:spAutoFit/>
          </a:bodyPr>
          <a:lstStyle/>
          <a:p>
            <a:pPr algn="l">
              <a:defRPr sz="900" b="0">
                <a:solidFill>
                  <a:srgbClr val="333333"/>
                </a:solidFill>
                <a:latin typeface="Calibri"/>
              </a:defRPr>
            </a:pPr>
            <a:r>
              <a:t>Add IncA/C, IncI, IncL/M, IncP, IncQ, ColE, and non-typeable plasmids. Target: 15+ Inc groups, 20,000+ training sequences.</a:t>
            </a:r>
          </a:p>
        </p:txBody>
      </p:sp>
      <p:sp>
        <p:nvSpPr>
          <p:cNvPr id="28" name="Right Arrow 27"/>
          <p:cNvSpPr/>
          <p:nvPr/>
        </p:nvSpPr>
        <p:spPr>
          <a:xfrm>
            <a:off x="6400800" y="2807208"/>
            <a:ext cx="320040" cy="22860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715768"/>
            <a:ext cx="4846320" cy="274320"/>
          </a:xfrm>
          <a:prstGeom prst="rect">
            <a:avLst/>
          </a:prstGeom>
          <a:noFill/>
        </p:spPr>
        <p:txBody>
          <a:bodyPr wrap="square">
            <a:spAutoFit/>
          </a:bodyPr>
          <a:lstStyle/>
          <a:p>
            <a:pPr algn="l">
              <a:defRPr sz="1200" b="1">
                <a:solidFill>
                  <a:srgbClr val="1E88E5"/>
                </a:solidFill>
                <a:latin typeface="Calibri"/>
              </a:defRPr>
            </a:pPr>
            <a:r>
              <a:t>Hybrid Features</a:t>
            </a:r>
          </a:p>
        </p:txBody>
      </p:sp>
      <p:sp>
        <p:nvSpPr>
          <p:cNvPr id="30" name="TextBox 29"/>
          <p:cNvSpPr txBox="1"/>
          <p:nvPr/>
        </p:nvSpPr>
        <p:spPr>
          <a:xfrm>
            <a:off x="6858000" y="2990088"/>
            <a:ext cx="4846320" cy="457200"/>
          </a:xfrm>
          <a:prstGeom prst="rect">
            <a:avLst/>
          </a:prstGeom>
          <a:noFill/>
        </p:spPr>
        <p:txBody>
          <a:bodyPr wrap="square">
            <a:spAutoFit/>
          </a:bodyPr>
          <a:lstStyle/>
          <a:p>
            <a:pPr algn="l">
              <a:defRPr sz="900" b="0">
                <a:solidFill>
                  <a:srgbClr val="333333"/>
                </a:solidFill>
                <a:latin typeface="Calibri"/>
              </a:defRPr>
            </a:pPr>
            <a:r>
              <a:t>Combine k-mer composition with gene presence/absence and synteny features for higher-resolution classification at fine levels (E, F).</a:t>
            </a:r>
          </a:p>
        </p:txBody>
      </p:sp>
      <p:sp>
        <p:nvSpPr>
          <p:cNvPr id="31" name="Right Arrow 30"/>
          <p:cNvSpPr/>
          <p:nvPr/>
        </p:nvSpPr>
        <p:spPr>
          <a:xfrm>
            <a:off x="6400800" y="3557016"/>
            <a:ext cx="320040" cy="228600"/>
          </a:xfrm>
          <a:prstGeom prst="right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465576"/>
            <a:ext cx="4846320" cy="274320"/>
          </a:xfrm>
          <a:prstGeom prst="rect">
            <a:avLst/>
          </a:prstGeom>
          <a:noFill/>
        </p:spPr>
        <p:txBody>
          <a:bodyPr wrap="square">
            <a:spAutoFit/>
          </a:bodyPr>
          <a:lstStyle/>
          <a:p>
            <a:pPr algn="l">
              <a:defRPr sz="1200" b="1">
                <a:solidFill>
                  <a:srgbClr val="FB8C00"/>
                </a:solidFill>
                <a:latin typeface="Calibri"/>
              </a:defRPr>
            </a:pPr>
            <a:r>
              <a:t>Threshold Cross-Validation</a:t>
            </a:r>
          </a:p>
        </p:txBody>
      </p:sp>
      <p:sp>
        <p:nvSpPr>
          <p:cNvPr id="33" name="TextBox 32"/>
          <p:cNvSpPr txBox="1"/>
          <p:nvPr/>
        </p:nvSpPr>
        <p:spPr>
          <a:xfrm>
            <a:off x="6858000" y="3739896"/>
            <a:ext cx="4846320" cy="457200"/>
          </a:xfrm>
          <a:prstGeom prst="rect">
            <a:avLst/>
          </a:prstGeom>
          <a:noFill/>
        </p:spPr>
        <p:txBody>
          <a:bodyPr wrap="square">
            <a:spAutoFit/>
          </a:bodyPr>
          <a:lstStyle/>
          <a:p>
            <a:pPr algn="l">
              <a:defRPr sz="900" b="0">
                <a:solidFill>
                  <a:srgbClr val="333333"/>
                </a:solidFill>
                <a:latin typeface="Calibri"/>
              </a:defRPr>
            </a:pPr>
            <a:r>
              <a:t>Systematically validate adaptive thresholds across Inc groups. Benchmark linkage methods against known plasmid phylogenies.</a:t>
            </a:r>
          </a:p>
        </p:txBody>
      </p:sp>
      <p:sp>
        <p:nvSpPr>
          <p:cNvPr id="34" name="Right Arrow 33"/>
          <p:cNvSpPr/>
          <p:nvPr/>
        </p:nvSpPr>
        <p:spPr>
          <a:xfrm>
            <a:off x="6400800" y="4306823"/>
            <a:ext cx="320040" cy="228600"/>
          </a:xfrm>
          <a:prstGeom prst="rightArrow">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215383"/>
            <a:ext cx="4846320" cy="274320"/>
          </a:xfrm>
          <a:prstGeom prst="rect">
            <a:avLst/>
          </a:prstGeom>
          <a:noFill/>
        </p:spPr>
        <p:txBody>
          <a:bodyPr wrap="square">
            <a:spAutoFit/>
          </a:bodyPr>
          <a:lstStyle/>
          <a:p>
            <a:pPr algn="l">
              <a:defRPr sz="1200" b="1">
                <a:solidFill>
                  <a:srgbClr val="8E24AA"/>
                </a:solidFill>
                <a:latin typeface="Calibri"/>
              </a:defRPr>
            </a:pPr>
            <a:r>
              <a:t>Metagenomic Support</a:t>
            </a:r>
          </a:p>
        </p:txBody>
      </p:sp>
      <p:sp>
        <p:nvSpPr>
          <p:cNvPr id="36" name="TextBox 35"/>
          <p:cNvSpPr txBox="1"/>
          <p:nvPr/>
        </p:nvSpPr>
        <p:spPr>
          <a:xfrm>
            <a:off x="6858000" y="4489703"/>
            <a:ext cx="4846320" cy="457200"/>
          </a:xfrm>
          <a:prstGeom prst="rect">
            <a:avLst/>
          </a:prstGeom>
          <a:noFill/>
        </p:spPr>
        <p:txBody>
          <a:bodyPr wrap="square">
            <a:spAutoFit/>
          </a:bodyPr>
          <a:lstStyle/>
          <a:p>
            <a:pPr algn="l">
              <a:defRPr sz="900" b="0">
                <a:solidFill>
                  <a:srgbClr val="333333"/>
                </a:solidFill>
                <a:latin typeface="Calibri"/>
              </a:defRPr>
            </a:pPr>
            <a:r>
              <a:t>Handle multi-contig plasmid bins from metagenomic assemblies. Integrate with plasmid prediction tools (PlasFlow, MOB-recon).</a:t>
            </a:r>
          </a:p>
        </p:txBody>
      </p:sp>
      <p:sp>
        <p:nvSpPr>
          <p:cNvPr id="37" name="Right Arrow 36"/>
          <p:cNvSpPr/>
          <p:nvPr/>
        </p:nvSpPr>
        <p:spPr>
          <a:xfrm>
            <a:off x="6400800" y="5056632"/>
            <a:ext cx="320040" cy="228600"/>
          </a:xfrm>
          <a:prstGeom prst="rightArrow">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965192"/>
            <a:ext cx="4846320" cy="274320"/>
          </a:xfrm>
          <a:prstGeom prst="rect">
            <a:avLst/>
          </a:prstGeom>
          <a:noFill/>
        </p:spPr>
        <p:txBody>
          <a:bodyPr wrap="square">
            <a:spAutoFit/>
          </a:bodyPr>
          <a:lstStyle/>
          <a:p>
            <a:pPr algn="l">
              <a:defRPr sz="1200" b="1">
                <a:solidFill>
                  <a:srgbClr val="009688"/>
                </a:solidFill>
                <a:latin typeface="Calibri"/>
              </a:defRPr>
            </a:pPr>
            <a:r>
              <a:t>Online Database &amp; API</a:t>
            </a:r>
          </a:p>
        </p:txBody>
      </p:sp>
      <p:sp>
        <p:nvSpPr>
          <p:cNvPr id="39" name="TextBox 38"/>
          <p:cNvSpPr txBox="1"/>
          <p:nvPr/>
        </p:nvSpPr>
        <p:spPr>
          <a:xfrm>
            <a:off x="6858000" y="5239512"/>
            <a:ext cx="4846320" cy="457200"/>
          </a:xfrm>
          <a:prstGeom prst="rect">
            <a:avLst/>
          </a:prstGeom>
          <a:noFill/>
        </p:spPr>
        <p:txBody>
          <a:bodyPr wrap="square">
            <a:spAutoFit/>
          </a:bodyPr>
          <a:lstStyle/>
          <a:p>
            <a:pPr algn="l">
              <a:defRPr sz="900" b="0">
                <a:solidFill>
                  <a:srgbClr val="333333"/>
                </a:solidFill>
                <a:latin typeface="Calibri"/>
              </a:defRPr>
            </a:pPr>
            <a:r>
              <a:t>Web database for pLIN code lookups and new sequence submission. REST API for programmatic access and LIMS integration.</a:t>
            </a:r>
          </a:p>
        </p:txBody>
      </p:sp>
      <p:sp>
        <p:nvSpPr>
          <p:cNvPr id="40" name="Right Arrow 39"/>
          <p:cNvSpPr/>
          <p:nvPr/>
        </p:nvSpPr>
        <p:spPr>
          <a:xfrm>
            <a:off x="6400800" y="5806440"/>
            <a:ext cx="320040" cy="228600"/>
          </a:xfrm>
          <a:prstGeom prst="rightArrow">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0" y="5715000"/>
            <a:ext cx="4846320" cy="274320"/>
          </a:xfrm>
          <a:prstGeom prst="rect">
            <a:avLst/>
          </a:prstGeom>
          <a:noFill/>
        </p:spPr>
        <p:txBody>
          <a:bodyPr wrap="square">
            <a:spAutoFit/>
          </a:bodyPr>
          <a:lstStyle/>
          <a:p>
            <a:pPr algn="l">
              <a:defRPr sz="1200" b="1">
                <a:solidFill>
                  <a:srgbClr val="E53935"/>
                </a:solidFill>
                <a:latin typeface="Calibri"/>
              </a:defRPr>
            </a:pPr>
            <a:r>
              <a:t>Multi-Hospital Outbreak Tracking</a:t>
            </a:r>
          </a:p>
        </p:txBody>
      </p:sp>
      <p:sp>
        <p:nvSpPr>
          <p:cNvPr id="42" name="TextBox 41"/>
          <p:cNvSpPr txBox="1"/>
          <p:nvPr/>
        </p:nvSpPr>
        <p:spPr>
          <a:xfrm>
            <a:off x="6858000" y="5989320"/>
            <a:ext cx="4846320" cy="457200"/>
          </a:xfrm>
          <a:prstGeom prst="rect">
            <a:avLst/>
          </a:prstGeom>
          <a:noFill/>
        </p:spPr>
        <p:txBody>
          <a:bodyPr wrap="square">
            <a:spAutoFit/>
          </a:bodyPr>
          <a:lstStyle/>
          <a:p>
            <a:pPr algn="l">
              <a:defRPr sz="900" b="0">
                <a:solidFill>
                  <a:srgbClr val="333333"/>
                </a:solidFill>
                <a:latin typeface="Calibri"/>
              </a:defRPr>
            </a:pPr>
            <a:r>
              <a:t>Extend outbreak detection to cross-institutional datasets. Integrate with epidemiological metadata for spatial-temporal tracking.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