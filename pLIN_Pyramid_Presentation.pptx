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3F2FD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900000">
            <a:off x="274320" y="2286000"/>
            <a:ext cx="9144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411479" y="2560320"/>
            <a:ext cx="91440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00000">
            <a:off x="548640" y="2286000"/>
            <a:ext cx="9144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900000">
            <a:off x="685800" y="2560320"/>
            <a:ext cx="91440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900000">
            <a:off x="822959" y="2286000"/>
            <a:ext cx="9144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0">
            <a:off x="960120" y="2560320"/>
            <a:ext cx="91440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">
            <a:off x="1097280" y="2286000"/>
            <a:ext cx="9144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900000">
            <a:off x="1234440" y="2560320"/>
            <a:ext cx="91440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 i="0">
                <a:solidFill>
                  <a:srgbClr val="0D47A1"/>
                </a:solidFill>
                <a:latin typeface="Calibri"/>
              </a:defRPr>
            </a:pPr>
            <a:r>
              <a:t>pLIN: Plasmid Life Identification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757575"/>
                </a:solidFill>
                <a:latin typeface="Calibri"/>
              </a:defRPr>
            </a:pPr>
            <a:r>
              <a:t>A Hierarchical, Permanent Classification System for</a:t>
            </a:r>
            <a:br/>
            <a:r>
              <a:t>Bacterial Plasmids and AMR Surveillance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424242"/>
                </a:solidFill>
                <a:latin typeface="Calibri"/>
              </a:defRPr>
            </a:pPr>
            <a:r>
              <a:t>Basil Xavier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The Pyramid Principle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88152" cy="109728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508760"/>
            <a:ext cx="542239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pLIN provides a permanent, hierarchical classification</a:t>
            </a:r>
            <a:br/>
            <a:r>
              <a:t>system that solves plasmid tracking for AMR surveillance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474720" cy="16459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C62828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424242"/>
                </a:solidFill>
                <a:latin typeface="Calibri"/>
              </a:defRPr>
            </a:pPr>
            <a:r>
              <a:t>AMR is a global crisis;</a:t>
            </a:r>
            <a:br/>
            <a:r>
              <a:t>plasmids drive 80% of</a:t>
            </a:r>
            <a:br/>
            <a:r>
              <a:t>resistance spread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26080"/>
            <a:ext cx="3474720" cy="16459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063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E65100"/>
                </a:solidFill>
                <a:latin typeface="Calibri"/>
              </a:defRPr>
            </a:pPr>
            <a:r>
              <a:t>COMPLICATION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290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424242"/>
                </a:solidFill>
                <a:latin typeface="Calibri"/>
              </a:defRPr>
            </a:pPr>
            <a:r>
              <a:t>Current methods lack</a:t>
            </a:r>
            <a:br/>
            <a:r>
              <a:t>permanent IDs and</a:t>
            </a:r>
            <a:br/>
            <a:r>
              <a:t>miss 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926080"/>
            <a:ext cx="3474720" cy="16459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063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2E7D32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290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424242"/>
                </a:solidFill>
                <a:latin typeface="Calibri"/>
              </a:defRPr>
            </a:pPr>
            <a:r>
              <a:t>pLIN: 6-level hierarchy</a:t>
            </a:r>
            <a:br/>
            <a:r>
              <a:t>with ML-powered</a:t>
            </a:r>
            <a:br/>
            <a: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Permanent 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Codes never change</a:t>
            </a:r>
            <a:br/>
            <a:r>
              <a:t>as database grows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5212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53492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92%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6692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KNN classifier (20 Inc groups)</a:t>
            </a:r>
            <a:br/>
            <a:r>
              <a:t>auto Inc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212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492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Outbreak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692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Strain-level clustering</a:t>
            </a:r>
            <a:br/>
            <a:r>
              <a:t>finds transmission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5212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534924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AMR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6692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Links plasmids to</a:t>
            </a:r>
            <a:br/>
            <a:r>
              <a:t>resistance genes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SITUATION: The AMR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Antimicrobial resistance threatens modern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The Scale of 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1.27M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Deaths directly caused</a:t>
            </a:r>
            <a:br/>
            <a:r>
              <a:t>by AMR in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4.95M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Deaths associated</a:t>
            </a:r>
            <a:br/>
            <a:r>
              <a:t>with AMR in 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$100B+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Annual global</a:t>
            </a:r>
            <a:br/>
            <a:r>
              <a:t>economic burden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65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10M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060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Projected annual deaths</a:t>
            </a:r>
            <a:br/>
            <a:r>
              <a:t>by 2050 if unchecked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Why Plasmids Matter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Plasmids carry 60-80% of clinically relevant resistance genes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Horizontal gene transfer spreads resistance across species barriers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A single plasmid can carry multiple resistance genes (MDR)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Conjugative plasmids spread resistance without selective pressure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Plasmids persist in environments long after antibiotic use stops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Plasmid-Mediated AMR Spread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4389120"/>
            <a:ext cx="1097280" cy="731520"/>
          </a:xfrm>
          <a:prstGeom prst="ellipse">
            <a:avLst/>
          </a:prstGeom>
          <a:solidFill>
            <a:srgbClr val="2E7D3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1280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Donor</a:t>
            </a:r>
            <a:br/>
            <a:r>
              <a:t>Bacterium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0" y="4389120"/>
            <a:ext cx="1097280" cy="731520"/>
          </a:xfrm>
          <a:prstGeom prst="ellipse">
            <a:avLst/>
          </a:prstGeom>
          <a:solidFill>
            <a:srgbClr val="75757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4526280"/>
            <a:ext cx="1280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Recipient</a:t>
            </a:r>
            <a:br/>
            <a:r>
              <a:t>Bacterium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0" y="5486400"/>
            <a:ext cx="1097280" cy="731520"/>
          </a:xfrm>
          <a:prstGeom prst="ellipse">
            <a:avLst/>
          </a:prstGeom>
          <a:solidFill>
            <a:srgbClr val="C6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5623560"/>
            <a:ext cx="1280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Now</a:t>
            </a:r>
            <a:br/>
            <a:r>
              <a:t>Resistant!</a:t>
            </a:r>
          </a:p>
        </p:txBody>
      </p:sp>
      <p:sp>
        <p:nvSpPr>
          <p:cNvPr id="27" name="Oval 26"/>
          <p:cNvSpPr/>
          <p:nvPr/>
        </p:nvSpPr>
        <p:spPr>
          <a:xfrm>
            <a:off x="7680960" y="4572000"/>
            <a:ext cx="365760" cy="365760"/>
          </a:xfrm>
          <a:prstGeom prst="ellipse">
            <a:avLst/>
          </a:prstGeom>
          <a:solidFill>
            <a:srgbClr val="C6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 i="0">
                <a:solidFill>
                  <a:srgbClr val="0D47A1"/>
                </a:solidFill>
                <a:latin typeface="Calibri"/>
              </a:defRPr>
            </a:pPr>
            <a:r>
              <a:t>→ Conjugation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1206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C62828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SITUATION: Plasmid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Understanding the vectors of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What Are Plasmids?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Extrachromosomal circular DNA molecules (1 kb - 2 Mb)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Self-replicating genetic elements in bacteria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Carry accessory genes: resistance, virulence, metabolism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Can transfer between bacteria via conjugation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Multiple plasmids can coexist if compatible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Incompatibility (Inc)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Plasmids with same replication machinery cannot coexist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Inc group = classification by replication incompatibility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20+ Inc groups classified in pLIN (Enterobacteriaceae)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Clinical importance: IncF, IncN, IncI, IncA/C, IncX, IncHI</a:t>
            </a:r>
          </a:p>
          <a:p>
            <a:pPr>
              <a:spcAft>
                <a:spcPts val="600"/>
              </a:spcAft>
              <a:defRPr sz="1400">
                <a:solidFill>
                  <a:srgbClr val="424242"/>
                </a:solidFill>
                <a:latin typeface="Calibri"/>
              </a:defRPr>
            </a:pPr>
            <a:r>
              <a:t>• Same Inc group often indicates related plasmid lineages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Clinically Important Plasmid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Inc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828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Key Resistance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828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Mobility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402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2286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50-200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ESBLs, Carbapenemases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2286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974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27432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40-60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432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ESBLs (CTX-M)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7432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1546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IncA/C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32004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100-200 kb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004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MDR, Carbapenemases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32004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6118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19" y="36576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30-50 kb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6576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Carbapenemases (NDM)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6576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0690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114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4114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200-300 kb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Colistin (mcr)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4114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52628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572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19" y="4572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80-100 kb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572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ESBLs, AmpC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45720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2064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Plasmid-Borne Resistance Genes of Concern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864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blaCTX-M: ESBL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4864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blaKPC: Carbapenemase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4864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blaNDM: Carbapenemase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9436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mcr-1: Colistin resistance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9436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qnr: Quinolone resistance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COMPLICATION: Current Methods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Existing plasmid classification approaches have critical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Existing Plasmid Classification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743200" cy="43891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Inc Typing</a:t>
            </a:r>
            <a:br/>
            <a:r>
              <a:t>(PCR-based)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✓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Well-established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Targets replicon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Widely used clinically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62828"/>
                </a:solidFill>
                <a:latin typeface="Calibri"/>
              </a:defRPr>
            </a:pPr>
            <a:r>
              <a:t>✗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Only detects known replicons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7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Misses mosaic plasmids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No resolution within Inc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5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Cannot track evolution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28800"/>
            <a:ext cx="2743200" cy="43891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202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pMLST</a:t>
            </a:r>
            <a:br/>
            <a:r>
              <a:t>(Plasmid MLST)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146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✓ 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Sequence-based typing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063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Higher resolution than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8328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Standardized schemes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4903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62828"/>
                </a:solidFill>
                <a:latin typeface="Calibri"/>
              </a:defRPr>
            </a:pPr>
            <a:r>
              <a:t>✗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97763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Only available for few Inc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9767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Requires known alleles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617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No universal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93775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Cannot compare across Inc groups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28800"/>
            <a:ext cx="2743200" cy="438912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9202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6A1B9A"/>
                </a:solidFill>
                <a:latin typeface="Calibri"/>
              </a:defRPr>
            </a:pPr>
            <a:r>
              <a:t>MOB Typing</a:t>
            </a:r>
            <a:br/>
            <a:r>
              <a:t>(Mobility genes)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5146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✓ Strengths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Classifies by transfer genes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63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Predicts conjugation 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38328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Useful for HGT studies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3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62828"/>
                </a:solidFill>
                <a:latin typeface="Calibri"/>
              </a:defRPr>
            </a:pPr>
            <a:r>
              <a:t>✗ Limitations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97763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Only for mobile plasmids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29767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Ignores non-conjugative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17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Does not capture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3775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Limited evolutionary signal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1828800"/>
            <a:ext cx="2743200" cy="43891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92024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E65100"/>
                </a:solidFill>
                <a:latin typeface="Calibri"/>
              </a:defRPr>
            </a:pPr>
            <a:r>
              <a:t>Whole Plasmid</a:t>
            </a:r>
            <a:br/>
            <a:r>
              <a:t>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5146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✓ Strengths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Uses complete sequence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063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Captures all variation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38328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Gold standard accuracy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749039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62828"/>
                </a:solidFill>
                <a:latin typeface="Calibri"/>
              </a:defRPr>
            </a:pPr>
            <a:r>
              <a:t>✗ Limitations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97763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Computationally expensive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29767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Sensitive to rearrangements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617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No standardized IDs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937759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• Hard to compare distantly related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COMPLICATION: Three Core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Why we need a new approach to plasmid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C62828"/>
                </a:solidFill>
                <a:latin typeface="Calibri"/>
              </a:defRPr>
            </a:pPr>
            <a:r>
              <a:t>No Permanent Identifiers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Plasmid 'names' change between studies. The same plasmid may be called pKP-123, pCTX-M-15_NYC, or Plasmid_A depending on who sequences it. This makes cross-study comparison and outbreak tracking nearly impossible.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GenBank accessions are sample-specific, not plasmid-type-specific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No universal naming convention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Literature searches for 'the same plasmid' are unreliable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Epidemiological links are missed due to naming inconsistency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65100"/>
                </a:solidFill>
                <a:latin typeface="Calibri"/>
              </a:defRPr>
            </a:pPr>
            <a:r>
              <a:t>Limited Hierarchical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Inc groups are too coarse for epidemiology. Thousands of distinct plasmids share the same Inc type. We cannot distinguish outbreak clones from unrelated plasmids within an Inc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IncF contains &gt;50% of Enterobacteriaceae plasmids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pMLST only exists for ~10 Inc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No way to relate plasmids across Inc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Evolutionary relationships are invisible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292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6A1B9A"/>
                </a:solidFill>
                <a:latin typeface="Calibri"/>
              </a:defRPr>
            </a:pPr>
            <a:r>
              <a:t>No AMR-Integrated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Plasmid classification and AMR gene detection are separate workflows. We know a patient has blaNDM, but not which plasmid carries it or how that plasmid relates to regional or global outbreaks.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AMRFinderPlus gives genes, not plasmid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864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ResFinder doesn't cluster related plasmids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8521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No tool links plasmid lineage to AMR cargo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2179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• Transmission risk assessment is ad hoc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QUESTION: What Do We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Defining the requirements for effective plasmid surveillance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85313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816559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How can we create a universal, permanent, hierarchical classification</a:t>
            </a:r>
            <a:br/>
            <a:r>
              <a:t>system that enables global plasmid tracking and AMR surveillance?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Essential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Permanent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Codes must never change</a:t>
            </a:r>
            <a:br/>
            <a:r>
              <a:t>when database expands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9184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429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Hierarchical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Multi-level resolution from</a:t>
            </a:r>
            <a:br/>
            <a:r>
              <a:t>family to strain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29184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429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4747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Universal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84048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Works for ALL plasmids,</a:t>
            </a:r>
            <a:br/>
            <a:r>
              <a:t>not just known Inc 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4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Minimal manual curation,</a:t>
            </a:r>
            <a:br/>
            <a:r>
              <a:t>scalable to millions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93776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50749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2064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Integrated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8640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Links classification to</a:t>
            </a:r>
            <a:br/>
            <a:r>
              <a:t>AMR and mobility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93776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50749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12064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486400"/>
            <a:ext cx="2834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Free, reproducible,</a:t>
            </a:r>
            <a:br/>
            <a:r>
              <a:t>community-driven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ANSWER: Introducing pLIN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Plasmid Life Identification Number — A permanent, hierarchical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The pLIN Code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663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0D47A1"/>
                </a:solidFill>
                <a:latin typeface="Calibri"/>
              </a:defRPr>
            </a:pPr>
            <a:r>
              <a:t>1 . 3 . 7 . 12 . 45 . 128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Subfamily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Clade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Subclade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Lineage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834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108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375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 i="0">
                <a:solidFill>
                  <a:srgbClr val="757575"/>
                </a:solidFill>
                <a:latin typeface="Calibri"/>
              </a:defRPr>
            </a:pPr>
            <a:r>
              <a:t>d ≤ 0.01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How pLIN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Compute tetranucleotide (4-mer) frequency vector for each plasmid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Calculate pairwise cosine distances between all plasmids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Perform hierarchical clustering (single-linkage by default)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Cut dendrogram at 6 thresholds to assign hierarchical codes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Codes are permanent: new plasmids get new numbers, never reassign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Key Innovations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78308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2E7D32"/>
                </a:solidFill>
                <a:latin typeface="Calibri"/>
              </a:defRPr>
            </a:pPr>
            <a:r>
              <a:t>Alignment-Free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240280"/>
            <a:ext cx="50292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4-mer composition captures plasmid 'signature'</a:t>
            </a:r>
            <a:br/>
            <a:r>
              <a:t>without computationally expensive alignment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1752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1976D2"/>
                </a:solidFill>
                <a:latin typeface="Calibri"/>
              </a:defRPr>
            </a:pPr>
            <a:r>
              <a:t>Permanent Codes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474720"/>
            <a:ext cx="50292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Hierarchical clustering ensures codes never change</a:t>
            </a:r>
            <a:br/>
            <a:r>
              <a:t>when new plasmids are added to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5196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389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6A1B9A"/>
                </a:solidFill>
                <a:latin typeface="Calibri"/>
              </a:defRPr>
            </a:pPr>
            <a:r>
              <a:t>Inc-Aware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09160"/>
            <a:ext cx="50292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KNN classifier auto-detects Inc group (92% accuracy, 20 groups)</a:t>
            </a:r>
            <a:br/>
            <a:r>
              <a:t>before pLIN assignment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4864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6235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65100"/>
                </a:solidFill>
                <a:latin typeface="Calibri"/>
              </a:defRPr>
            </a:pPr>
            <a:r>
              <a:t>AMR-Integrated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943600"/>
            <a:ext cx="50292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Links plasmid lineage to AMRFinderPlus results</a:t>
            </a:r>
            <a:br/>
            <a:r>
              <a:t>for comprehensive resistance profiling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ANSWER: The pLIN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From FASTA upload to epidemiological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1.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FASTA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2E7D32"/>
                </a:solidFill>
                <a:latin typeface="Calibri"/>
              </a:defRPr>
            </a:pPr>
            <a:r>
              <a:t>2. 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Inc group (KNN)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6A1B9A"/>
                </a:solidFill>
                <a:latin typeface="Calibri"/>
              </a:defRPr>
            </a:pPr>
            <a:r>
              <a:t>3. Vectorize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4-mer frequencies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E65100"/>
                </a:solidFill>
                <a:latin typeface="Calibri"/>
              </a:defRPr>
            </a:pPr>
            <a:r>
              <a:t>4.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5. Assign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pLIN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C62828"/>
                </a:solidFill>
                <a:latin typeface="Calibri"/>
              </a:defRPr>
            </a:pPr>
            <a:r>
              <a:t>6. Annotate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AMR + Mobility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182880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4242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1463040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9880" y="155448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 i="0">
                <a:solidFill>
                  <a:srgbClr val="00695C"/>
                </a:solidFill>
                <a:latin typeface="Calibri"/>
              </a:defRPr>
            </a:pPr>
            <a:r>
              <a:t>7. 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463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Outbreaks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Integrated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38328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4747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Inc Group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404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KNN classifier trained on 6,998 plasmids</a:t>
            </a:r>
            <a:br/>
            <a:r>
              <a:t>92.2% accuracy across 20 Inc groups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38328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4747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MOBsuite Typing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8404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3-tier mobility cascade</a:t>
            </a:r>
            <a:br/>
            <a:r>
              <a:t>Relaxase families + MPF 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38328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4747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CRISPR Host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8404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Spacer-based plasmid-host matching</a:t>
            </a:r>
            <a:br/>
            <a:r>
              <a:t>Softmax probability ranking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9377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AMR Gene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3035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AMRFinderPlus integration</a:t>
            </a:r>
            <a:br/>
            <a:r>
              <a:t>Links resistance to plasmid lineages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846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9377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Outbreak Detection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3035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Strain-level clustering (F threshold)</a:t>
            </a:r>
            <a:br/>
            <a:r>
              <a:t>Identifies transmission events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4846320"/>
            <a:ext cx="3657600" cy="12801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493776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0D47A1"/>
                </a:solidFill>
                <a:latin typeface="Calibri"/>
              </a:defRPr>
            </a:pPr>
            <a:r>
              <a:t>DRAGNOME Buddy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3035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Local LLM-powered chatbot</a:t>
            </a:r>
            <a:br/>
            <a:r>
              <a:t>Context-aware Q&amp;A about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Mathematics: Cosine Pairwise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How pLIN measures plasmid similarity using k-mer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What is Cosine Distance?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Cosine distance measures the angle between two vectors in high-dimensional space. It captures how similar two plasmids are based on their k-mer composition, regardless of sequence length.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029200" cy="128016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0D47A1"/>
                </a:solidFill>
                <a:latin typeface="Calibri"/>
              </a:defRPr>
            </a:pPr>
            <a:r>
              <a:t>Cosine Similarity: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cos(θ) = (A · B) / (||A|| × ||B||)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Cosine Distance = 1 - cos(θ)    [Range: 0 to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d = 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Identical k-mer profiles → Same plasmid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d ≤ 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19472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Nearly identical → Same strain (F level)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66944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1976D2"/>
                </a:solidFill>
                <a:latin typeface="Calibri"/>
              </a:defRPr>
            </a:pPr>
            <a:r>
              <a:t>d ≤ 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66944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Very similar → Same subclade (D level)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14416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6A1B9A"/>
                </a:solidFill>
                <a:latin typeface="Calibri"/>
              </a:defRPr>
            </a:pPr>
            <a:r>
              <a:t>d ≤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614416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Similar → Same clade (C level)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E65100"/>
                </a:solidFill>
                <a:latin typeface="Calibri"/>
              </a:defRPr>
            </a:pPr>
            <a:r>
              <a:t>d ≤ 0.30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9618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Related → Same family (A level)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62828"/>
                </a:solidFill>
                <a:latin typeface="Calibri"/>
              </a:defRPr>
            </a:pPr>
            <a:r>
              <a:t>d &gt; 0.30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30936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Distant → Different plasmid families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Step-by-Step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83080"/>
            <a:ext cx="5303520" cy="11887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874519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2E7D32"/>
                </a:solidFill>
                <a:latin typeface="Calibri"/>
              </a:defRPr>
            </a:pPr>
            <a:r>
              <a:t>1. Convert Sequences to 4-mer Vectors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19456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Each plasmid → 256-dimensional vector (4⁴ possible 4-mers)</a:t>
            </a:r>
            <a:br/>
            <a:r>
              <a:t>Vector[i] = frequency of k-mer i in the sequence</a:t>
            </a:r>
            <a:br/>
            <a:r>
              <a:t>Example: ACGT appears 1,234 times → normalize by sequence length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08960"/>
            <a:ext cx="5303520" cy="118872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200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6A1B9A"/>
                </a:solidFill>
                <a:latin typeface="Calibri"/>
              </a:defRPr>
            </a:pPr>
            <a:r>
              <a:t>2. Calculate Pairwise Distances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52044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Compare every plasmid to every other plasmid</a:t>
            </a:r>
            <a:br/>
            <a:r>
              <a:t>N plasmids → N×(N-1)/2 pairwise comparisons</a:t>
            </a:r>
            <a:br/>
            <a:r>
              <a:t>Result: Distance matrix (condensed form for clustering)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434840"/>
            <a:ext cx="5303520" cy="11887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526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E65100"/>
                </a:solidFill>
                <a:latin typeface="Calibri"/>
              </a:defRPr>
            </a:pPr>
            <a:r>
              <a:t>3. Hierarchical Clustering (Single-Linkage)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4632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Build dendrogram from distance matrix</a:t>
            </a:r>
            <a:br/>
            <a:r>
              <a:t>Single-linkage: cluster distance = minimum pairwise distance</a:t>
            </a:r>
            <a:br/>
            <a:r>
              <a:t>Cut at 6 thresholds → 6-level pLIN code (A.B.C.D.E.F)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760720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852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Why Cosine Distance?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61264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✓ Length-independent  ✓ Fast computation  ✓ Captures composition, not 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Supporting Argument 1: Permanent Hierarchical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Codes never change — enabling reproducible, cross-study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C62828"/>
                </a:solidFill>
                <a:latin typeface="Calibri"/>
              </a:defRPr>
            </a:pPr>
            <a:r>
              <a:t>Before pLIN: Naming Chaos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Same plasmid, different names across studies: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   - pKPC-NYC-2023, pKPC_outbreak_3, Plasmid_A, unnamed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No way to know if they're related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Literature review is a nightmare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Outbreaks are missed or duplicated in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After pLIN: Permanent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Every plasmid gets a permanent pLIN: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   - 1.3.7.12.45.128 (always this code, everywhere)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Hierarchy reveals relationships instantly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Cross-study comparison is trivial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• Global surveillance becomes 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Interpreting pLIN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1.3.7.12.45.128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148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1.3.7.12.45.129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Same lineage (E), different strains — likely recent divergence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1.3.7.12.45.128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7548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7548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1.3.7.12.46.200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75488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Same subclade (D), different lineages — common ancestor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1.3.7.12.45.128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394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3949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1.3.8.15.50.130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39496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Same subfamily (B), different clades — distant relatives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1.3.7.12.45.128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0350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60350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1976D2"/>
                </a:solidFill>
                <a:latin typeface="Calibri"/>
              </a:defRPr>
            </a:pPr>
            <a:r>
              <a:t>2.5.10.20.60.150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03504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Different families — unrelated plasmids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Supporting Argument 2: ML-Powered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92% accurate Inc group detection across 20 groups with confidence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KNN Classifier for Inc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Trained on 6,998 characterized plasmids across 20 Inc groups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Uses 4-mer frequency vectors (256 features)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k=5 neighbors with distance-weighted voting (cosine metric)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Achieves 92.2% stratified cross-validated accuracy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Provides confidence scores for each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Unknown/Novel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Confidence threshold: 40%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Low-confidence predictions flagged as 'Unknown/Novel'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Shows top 5 candidate Inc groups with probabilities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Prevents forced misclassification of novel plasmids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Researchers can investigate further with full candidate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Example: Confidence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029200" cy="16459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High Confidence (&gt;40%)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754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Predicted: IncFII (78%)</a:t>
            </a:r>
            <a:br/>
            <a:r>
              <a:t>Top 5: IncFII (78%), IncFIA (12%), IncFIB (5%), IncN (3%), IncI (2%)</a:t>
            </a:r>
            <a:br/>
            <a:br/>
            <a:r>
              <a:t>→ Confident classification as IncFII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5029200" cy="16459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65100"/>
                </a:solidFill>
                <a:latin typeface="Calibri"/>
              </a:defRPr>
            </a:pPr>
            <a:r>
              <a:t>Low Confidence (&lt;40%)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754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Predicted: Unknown/Novel (32%)</a:t>
            </a:r>
            <a:br/>
            <a:r>
              <a:t>Top 5: IncX3 (32%), IncX4 (25%), IncL (18%), IncN (15%), IncP (10%)</a:t>
            </a:r>
            <a:br/>
            <a:br/>
            <a:r>
              <a:t>→ Flagged for manual review, likely novel plasmid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6A1B9A"/>
                </a:solidFill>
                <a:latin typeface="Calibri"/>
              </a:defRPr>
            </a:pPr>
            <a:r>
              <a:t>Optional: Nucleotide Transformer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1500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Deep learning embeddings for enhanced prediction.</a:t>
            </a:r>
            <a:br/>
            <a:r>
              <a:t>Captures long-range sequence patterns beyond k-mers.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Supporting Argument 3: AMR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Linking plasmid lineages to resistance gene 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C62828"/>
                </a:solidFill>
                <a:latin typeface="Calibri"/>
              </a:defRPr>
            </a:pPr>
            <a:r>
              <a:t>The Missing Link in AMR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Traditional AMR analysis tells us WHAT genes are present, but not:</a:t>
            </a:r>
            <a:br/>
            <a:r>
              <a:t>• Which plasmid carries them</a:t>
            </a:r>
            <a:br/>
            <a:r>
              <a:t>• How that plasmid relates to others</a:t>
            </a:r>
            <a:br/>
            <a:r>
              <a:t>• Whether the same plasmid is spreading regionally/globally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2E7D32"/>
                </a:solidFill>
                <a:latin typeface="Calibri"/>
              </a:defRPr>
            </a:pPr>
            <a:r>
              <a:t>pLIN Closes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AMRFinderPlus integration detects resistance genes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Prodigal annotation identifies all ORFs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pLIN codes link AMR cargo to plasmid lineage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Epidemiology tab identifies high-risk plasmids</a:t>
            </a:r>
          </a:p>
          <a:p>
            <a:pPr>
              <a:spcAft>
                <a:spcPts val="600"/>
              </a:spcAft>
              <a:defRPr sz="1300">
                <a:solidFill>
                  <a:srgbClr val="424242"/>
                </a:solidFill>
                <a:latin typeface="Calibri"/>
              </a:defRPr>
            </a:pPr>
            <a:r>
              <a:t>• Mobility prediction assesses transmission potential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Integrated Analysis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303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828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AMR Genes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828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Mobility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18288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1.3.7.12.45.128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24028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IncFII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402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blaNDM-1, aac(6')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2402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22402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1.3.7.12.45.129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5176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IncFII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6517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blaNDM-1, aac(6')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65176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26517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6324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2.5.10.20.60.150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0632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0632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blaCTX-M-15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06324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Conjugative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306324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47472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3.8.15.30.90.300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47472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IncX4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474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mcr-1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347472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Mobilizable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4747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2424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20624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297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61772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Plasmids 1.3.7.12.45.128 and 1.3.7.12.45.129 share the same lineage (E)</a:t>
            </a:r>
            <a:br/>
            <a:r>
              <a:t>and carry identical AMR genes → Likely outbreak transmission!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Epidemiological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2356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424242"/>
                </a:solidFill>
                <a:latin typeface="Calibri"/>
              </a:defRPr>
            </a:pPr>
            <a:r>
              <a:t>pLIN enables plasmid-centric surveillance: track specific resistance-carrying plasmid lineages across institutions, regions, and countries. Identify emerging threats before they become widespread outbreaks.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Implementation: Easy-to-Use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No command line required — web-based interface for all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8-Tab Streamlit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📋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pLIN hierarchy explanation and method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📊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7627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Interactive table with filtering, sorting,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🌳 Cladogram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15184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Hierarchical tree visualization with 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💊 AMR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54096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Resistance gene details and heatmaps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🔬 Epidemiology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930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Outbreak detection and risk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🧫 CRISPR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319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Spacer-based plasmid-host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1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🧬 DRAGNOME Buddy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70831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AI chatbot for Q&amp;A about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9744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 i="0">
                <a:solidFill>
                  <a:srgbClr val="1976D2"/>
                </a:solidFill>
                <a:latin typeface="Calibri"/>
              </a:defRPr>
            </a:pPr>
            <a:r>
              <a:t>📥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09744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Download TSV, PNG, PDF, ZIP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8308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4028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pip install + streamlit run</a:t>
            </a:r>
            <a:br/>
            <a:r>
              <a:t>Runs on your 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63239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200399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20439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docker-compose up</a:t>
            </a:r>
            <a:br/>
            <a:r>
              <a:t>Containerized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43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4805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6A1B9A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80060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Streamlit Cloud (free)</a:t>
            </a:r>
            <a:br/>
            <a:r>
              <a:t>One-click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Quick Start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2356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CAF50"/>
                </a:solidFill>
                <a:latin typeface="Calibri"/>
              </a:defRPr>
            </a:pPr>
            <a:r>
              <a:t>git clone https://github.com/your-repo/pLIN.git &amp;&amp; cd pLIN</a:t>
            </a:r>
            <a:br/>
            <a:r>
              <a:t>pip install -r requirements.txt</a:t>
            </a:r>
            <a:br/>
            <a:r>
              <a:t>streamlit run plin_app.py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New Capabilities: Host Inference &amp; Enhanced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Transforming pLIN from classification tool to comprehensive plasmid epidemiology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0695C"/>
                </a:solidFill>
                <a:latin typeface="Calibri"/>
              </a:defRPr>
            </a:pPr>
            <a:r>
              <a:t>CRISPR Spacer-Based Host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MinCED extracts CRISPR spacers from host bacterial genomes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BLASTN-short matches spacers against plasmid sequences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Stringent filtering: ≥95% identity, ≥25bp, ≤1 mismatch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Softmax probability ranking per host-plasmid pair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Confidence categories: High (≥0.7), Medium (≥0.4), Low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Two source modes: uploaded plasmids or reference DB (72,556)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Heatmap, pie chart, and bar chart visualizations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Full export: predictions, spacers, and summary TSVs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65100"/>
                </a:solidFill>
                <a:latin typeface="Calibri"/>
              </a:defRPr>
            </a:pPr>
            <a:r>
              <a:t>MOBsuite 3-Tier Mobility 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Priority 1: MOBsuite mob_typer (when available)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  → Relaxase families: MOBF, MOBH, MOBP, MOBQ, MOBC, MOBV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  → MPF types: Type T, F, I, G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Priority 2: AMRFinderPlus gene scan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  → Conjugative: tra/trb + virB1-11, trwA-N, pilX, taxC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  → Mobilizable: mob, nikC-E, MOBF-V, oriT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Priority 3: Non-mobilizable (default)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Risk stratification integrated into Epidemiology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943600"/>
            <a:ext cx="11430000" cy="6400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D47A1"/>
                </a:solidFill>
                <a:latin typeface="Calibri"/>
              </a:defRPr>
            </a:pPr>
            <a:r>
              <a:t>Together, these additions enable researchers to answer: Which host carries this plasmid? Can this plasmid transfer? What resistance does it carry? — All in a single analysis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Conclusion: A New Era in Plasmid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pLIN enables global, standardized plasmid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029200" cy="2743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D47A1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3566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AMR is a global crisis; plasmids are the</a:t>
            </a:r>
            <a:br/>
            <a:r>
              <a:t>primary vectors of resistance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D47A1"/>
                </a:solidFill>
                <a:latin typeface="Calibri"/>
              </a:defRPr>
            </a:pPr>
            <a:r>
              <a:t>COMPLICATION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3566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Current methods lack permanent IDs,</a:t>
            </a:r>
            <a:br/>
            <a:r>
              <a:t>hierarchical resolution, and AMR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0D47A1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3566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pLIN provides permanent, hierarchical codes</a:t>
            </a:r>
            <a:br/>
            <a:r>
              <a:t>with ML classification and AMR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Permanent, universal plasmid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92% accurate Inc group classification (20 groups)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Integrated AMR and MOBsuite-enhanced mobility analysis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CRISPR-based plasmid-host inference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Outbreak detection at strain level</a:t>
            </a:r>
          </a:p>
          <a:p>
            <a:pPr>
              <a:spcAft>
                <a:spcPts val="6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t>• Easy-to-use 8-tab GUI, no bioinformatics expertise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D47A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Try pLIN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Upload your plasmid sequences today</a:t>
            </a:r>
            <a:br/>
            <a:r>
              <a:t>https://github.com/your-repo/pLIN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2608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1976D2"/>
                </a:solidFill>
                <a:latin typeface="Calibri"/>
              </a:defRPr>
            </a:pPr>
            <a:r>
              <a:t>Contribute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Report issues, suggest features,</a:t>
            </a:r>
            <a:br/>
            <a:r>
              <a:t>submit training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06908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05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6A1B9A"/>
                </a:solidFill>
                <a:latin typeface="Calibri"/>
              </a:defRPr>
            </a:pPr>
            <a:r>
              <a:t>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If you use pLIN, please cite our work</a:t>
            </a:r>
            <a:br/>
            <a:r>
              <a:t>(see documentation)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212080"/>
            <a:ext cx="5029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30352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65100"/>
                </a:solidFill>
                <a:latin typeface="Calibri"/>
              </a:defRPr>
            </a:pPr>
            <a:r>
              <a:t>Collaborate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623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Contact us for integration into</a:t>
            </a:r>
            <a:br/>
            <a:r>
              <a:t>your surveillance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757575"/>
                </a:solidFill>
                <a:latin typeface="Calibri"/>
              </a:defRPr>
            </a:pPr>
            <a:r>
              <a:t>Contact: basil.xavier@example.com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Key literature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D47A1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1. Murray CJ et al. (2022). Global burden of bacterial antimicrobial resistance in 2019: a systematic analysis. Lancet.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2. Carattoli A et al. (2014). In silico detection and typing of plasmids using PlasmidFinder. Antimicrob Agents Chemother.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3. Jolley KA &amp; Maiden MC (2010). BIGSdb: Scalable analysis of bacterial genome variation. BMC Bioinformatics.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4. Robertson J &amp; Nash JHE (2018). MOB-suite: software tools for clustering, reconstruction and typing of plasmids. Microb Genom.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5. Feldgarden M et al. (2021). AMRFinderPlus and the Reference Gene Catalog. Sci Rep.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6. Dalla-Costa LM et al. (2023). LIN codes for genomic epidemiology of bacterial pathogens. Nat Microbiol.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424242"/>
                </a:solidFill>
                <a:latin typeface="Calibri"/>
              </a:defRPr>
            </a:pPr>
            <a:r>
              <a:t>7. Hyatt D et al. (2010). Prodigal: prokaryotic gene recognition and translation initiation site identification. BMC Bioinformatics.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0D47A1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Streamlit: Web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4864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scikit-learn: KNN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4864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SciPy: Hierarchical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AMRFinderPlus: AMR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9436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Prodigal: Gene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9436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424242"/>
                </a:solidFill>
                <a:latin typeface="Calibri"/>
              </a:defRPr>
            </a:pPr>
            <a:r>
              <a:t>• Ollama: Local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